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39"/>
  </p:notesMasterIdLst>
  <p:sldIdLst>
    <p:sldId id="257" r:id="rId2"/>
    <p:sldId id="350" r:id="rId3"/>
    <p:sldId id="351" r:id="rId4"/>
    <p:sldId id="388" r:id="rId5"/>
    <p:sldId id="357" r:id="rId6"/>
    <p:sldId id="359" r:id="rId7"/>
    <p:sldId id="361" r:id="rId8"/>
    <p:sldId id="362" r:id="rId9"/>
    <p:sldId id="363" r:id="rId10"/>
    <p:sldId id="364" r:id="rId11"/>
    <p:sldId id="365" r:id="rId12"/>
    <p:sldId id="367" r:id="rId13"/>
    <p:sldId id="366" r:id="rId14"/>
    <p:sldId id="368" r:id="rId15"/>
    <p:sldId id="389" r:id="rId16"/>
    <p:sldId id="369" r:id="rId17"/>
    <p:sldId id="370" r:id="rId18"/>
    <p:sldId id="371" r:id="rId19"/>
    <p:sldId id="372" r:id="rId20"/>
    <p:sldId id="385" r:id="rId21"/>
    <p:sldId id="375" r:id="rId22"/>
    <p:sldId id="376" r:id="rId23"/>
    <p:sldId id="344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6" r:id="rId33"/>
    <p:sldId id="387" r:id="rId34"/>
    <p:sldId id="345" r:id="rId35"/>
    <p:sldId id="347" r:id="rId36"/>
    <p:sldId id="373" r:id="rId37"/>
    <p:sldId id="352" r:id="rId38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24827F"/>
    <a:srgbClr val="0046FF"/>
    <a:srgbClr val="30B3AF"/>
    <a:srgbClr val="2EACA8"/>
    <a:srgbClr val="FF40FF"/>
    <a:srgbClr val="D66DD6"/>
    <a:srgbClr val="0134FF"/>
    <a:srgbClr val="0432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53"/>
    <p:restoredTop sz="91705" autoAdjust="0"/>
  </p:normalViewPr>
  <p:slideViewPr>
    <p:cSldViewPr snapToGrid="0" snapToObjects="1">
      <p:cViewPr varScale="1">
        <p:scale>
          <a:sx n="137" d="100"/>
          <a:sy n="137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2BC75-4B5D-4948-9268-493F3D747B48}" type="datetimeFigureOut">
              <a:rPr lang="aa-ET" smtClean="0"/>
              <a:t>10/20/26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4377B-F740-DC40-998F-335BCC9005E7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7062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447141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3A30-87B0-F6AC-B621-90C6DC24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F8DFA-8044-9D6F-95FF-E58C72461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1082B-1BCB-DB78-9AC5-BB6D0B514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0FAAB-B773-787D-9299-AFBB2000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91261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52113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EEE8-08F8-AE62-30CA-F173EE6ED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E06DC-F036-BEC9-7F1D-5C79891DC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1CB71-AC20-9F50-D3E3-716FF909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1358-69C9-8FB4-85C2-BE220B69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21E9-4FC1-9479-DA18-EA8EEE0C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48CB-19E8-7299-DBA5-A884C991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EB54-E916-3A42-F0D2-164D89ED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99D3-55DB-46C6-E78D-CFA94F88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FD75-B31E-1715-E5DB-16ADF8F2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F0D95-38A3-3769-1EFF-61E0DD06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F53B-235B-3F7A-A360-646DE3E4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46737-A72D-7C47-9523-AF3C7F2D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7697-3269-230B-F84E-C7F6BADA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BED6-AF99-741A-673D-02F1DE82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EAB2A-F655-CD4E-FD28-70407A98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0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8C9C-D368-CE2E-74D5-E03F908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9942-1407-2EB6-20C2-C75BE9878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9BCB7-E609-65EC-11A0-CAC81E973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EF6CF-3327-1C4C-9E72-C7803600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DA0C7-2E21-F43D-77DF-DC4E51C1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1FACE-0BC7-D708-AC3A-09D58C71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5E6A-AC22-29AC-D170-C5864956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9418F-CC69-1C1D-7012-31EB764D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2A12B-89BD-8DEC-2D27-F9A26E7D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53E0E-8AF2-96DD-24A5-3123FE56C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6F5CF-F50E-5842-7EFA-1D87C7DAC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0EC987-128B-26D9-7DDF-E66F585E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FEAFC-31E4-529D-4373-404B4844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FA1A5-8B6E-47E2-4329-4408FEAC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8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6CD2-1D8A-BD1D-FE02-12E5919C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43FA1-7387-A8E5-D3D5-A246603F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292D1-990A-4F6B-91B3-A4651800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373C3-4EE3-74C7-509A-24F3B27C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8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4A7C6-67DE-1E8D-3EC9-F01BAD78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181CE-A73A-015A-5D9D-29D37E74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3BA3-8076-8FA2-7007-FFC815E0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C619-5EBC-45A4-DAE3-CF1F5D32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1CBDA-4B4B-02B3-E952-87D48E3FF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7B383-873C-BE13-FCF2-17F1040BB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69996-1F58-72FB-ED69-4BF2BA67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ACDC-C849-9958-4564-A27157ED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AFBE-8ADC-DDB1-0790-D5C91F9A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9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C3E7-2627-AFC2-9A50-96A8EE4A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83EE8-A42A-F5C5-7987-C553E04D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5E680-C5F3-2D94-E9C3-51BD2D1C9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1AF7-B321-F2C2-AFEE-375C880D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341BA-9959-B596-BA4D-BA0FBD1A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1BA2-AD93-335E-0E02-B420B025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1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0A11-496D-A531-BCDE-660481A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6218A-F1FE-FEBD-A179-479C4A311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EBFF-21D8-9D87-2F1A-84FB640A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ECAFB-51E8-2E2D-1128-0E38E214B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2CC04-A19A-0CEF-CE57-2A78CB35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1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609F6-E105-9C23-C1BE-DE677ACF5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776A1-6181-5A9F-543A-1DFC5AFF6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006F-581C-FBB7-E634-4324810D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E152F-D057-1135-738F-08D61CC6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06ADB-65F2-B3A6-2BF7-AA0CE200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4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8FFD3-A75D-26D9-A97C-2812D02C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F3F8-3CF4-7964-144F-81B86F863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D563A-8EF9-5BF2-A14F-12919E7E5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BDC4-E2CA-5D1B-B388-F844B48DC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6140-2AFE-2FF5-8497-52C2B2BEF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sv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E42-5FC7-026A-D5A3-8F35ED6C2D0D}"/>
              </a:ext>
            </a:extLst>
          </p:cNvPr>
          <p:cNvSpPr txBox="1">
            <a:spLocks/>
          </p:cNvSpPr>
          <p:nvPr/>
        </p:nvSpPr>
        <p:spPr>
          <a:xfrm>
            <a:off x="143727" y="188316"/>
            <a:ext cx="6311346" cy="708862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</a:rPr>
              <a:t>Thesis Presentation: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797A8-C822-2389-ACF1-17F85DC7803B}"/>
              </a:ext>
            </a:extLst>
          </p:cNvPr>
          <p:cNvSpPr txBox="1">
            <a:spLocks/>
          </p:cNvSpPr>
          <p:nvPr/>
        </p:nvSpPr>
        <p:spPr>
          <a:xfrm>
            <a:off x="253762" y="4845562"/>
            <a:ext cx="5704543" cy="145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Branesh Prakash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EBS Honours/Masters Presentation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23 October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7A5DF-F078-65DC-A423-825369275982}"/>
              </a:ext>
            </a:extLst>
          </p:cNvPr>
          <p:cNvSpPr txBox="1"/>
          <p:nvPr/>
        </p:nvSpPr>
        <p:spPr>
          <a:xfrm>
            <a:off x="2277498" y="1953417"/>
            <a:ext cx="7863055" cy="166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600" b="1" i="1" dirty="0">
                <a:solidFill>
                  <a:srgbClr val="0046FF"/>
                </a:solidFill>
                <a:effectLst/>
                <a:latin typeface="Constantia" panose="02030602050306030303" pitchFamily="18" charset="0"/>
              </a:rPr>
              <a:t>Forecasting with Linear Augmented Information Combination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F84DD-AC9E-A3F5-9193-86E81DBE5DC5}"/>
              </a:ext>
            </a:extLst>
          </p:cNvPr>
          <p:cNvSpPr txBox="1"/>
          <p:nvPr/>
        </p:nvSpPr>
        <p:spPr>
          <a:xfrm>
            <a:off x="7848103" y="5132035"/>
            <a:ext cx="4083460" cy="121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Supervisors:</a:t>
            </a:r>
          </a:p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Dr. Shanika L </a:t>
            </a: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Wickramasuriya</a:t>
            </a: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 &amp;</a:t>
            </a:r>
          </a:p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Prof. George </a:t>
            </a: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Athanasopoulos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78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B72BF-4823-912C-9BE1-C5CB922D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70E338-7301-7CB5-8B6C-86314B5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53" y="171002"/>
            <a:ext cx="11386868" cy="726145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 dirty="0">
                <a:solidFill>
                  <a:srgbClr val="0046FF"/>
                </a:solidFill>
                <a:latin typeface="Constantia" panose="02030602050306030303" pitchFamily="18" charset="0"/>
              </a:rPr>
              <a:t>Outline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1F23E-7D0D-6A98-FE4C-87004584D5A7}"/>
              </a:ext>
            </a:extLst>
          </p:cNvPr>
          <p:cNvSpPr txBox="1"/>
          <p:nvPr/>
        </p:nvSpPr>
        <p:spPr>
          <a:xfrm>
            <a:off x="474453" y="1106816"/>
            <a:ext cx="10830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134FF"/>
                </a:solidFill>
                <a:effectLst/>
                <a:latin typeface="Constantia" panose="02030602050306030303" pitchFamily="18" charset="0"/>
              </a:rPr>
              <a:t>Part 1.</a:t>
            </a:r>
            <a:r>
              <a:rPr lang="en-GB" sz="2200" dirty="0">
                <a:effectLst/>
                <a:latin typeface="Constantia" panose="02030602050306030303" pitchFamily="18" charset="0"/>
              </a:rPr>
              <a:t> 		</a:t>
            </a:r>
            <a:r>
              <a:rPr lang="en-GB" sz="2200" i="1" dirty="0">
                <a:effectLst/>
                <a:latin typeface="Constantia" panose="02030602050306030303" pitchFamily="18" charset="0"/>
              </a:rPr>
              <a:t>Research Question and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FA04A-2229-0AFC-9E1E-8A045CB5EB8E}"/>
              </a:ext>
            </a:extLst>
          </p:cNvPr>
          <p:cNvSpPr txBox="1"/>
          <p:nvPr/>
        </p:nvSpPr>
        <p:spPr>
          <a:xfrm>
            <a:off x="474453" y="5404795"/>
            <a:ext cx="10830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134FF"/>
                </a:solidFill>
                <a:effectLst/>
                <a:latin typeface="Constantia" panose="02030602050306030303" pitchFamily="18" charset="0"/>
              </a:rPr>
              <a:t>Part 2.</a:t>
            </a:r>
            <a:r>
              <a:rPr lang="en-GB" sz="2200" dirty="0">
                <a:effectLst/>
                <a:latin typeface="Constantia" panose="02030602050306030303" pitchFamily="18" charset="0"/>
              </a:rPr>
              <a:t> 		</a:t>
            </a:r>
            <a:r>
              <a:rPr lang="en-GB" sz="2200" i="1" dirty="0">
                <a:effectLst/>
                <a:latin typeface="Constantia" panose="02030602050306030303" pitchFamily="18" charset="0"/>
              </a:rPr>
              <a:t>Empirical </a:t>
            </a:r>
            <a:r>
              <a:rPr lang="en-GB" sz="2200" i="1" dirty="0">
                <a:latin typeface="Constantia" panose="02030602050306030303" pitchFamily="18" charset="0"/>
              </a:rPr>
              <a:t>Investigation</a:t>
            </a:r>
            <a:endParaRPr lang="en-GB" sz="2200" i="1" dirty="0">
              <a:effectLst/>
              <a:latin typeface="Constantia" panose="0203060205030603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BFEE8A-0519-97D2-BA74-776022890A3F}"/>
              </a:ext>
            </a:extLst>
          </p:cNvPr>
          <p:cNvSpPr txBox="1">
            <a:spLocks/>
          </p:cNvSpPr>
          <p:nvPr/>
        </p:nvSpPr>
        <p:spPr>
          <a:xfrm>
            <a:off x="474453" y="2692803"/>
            <a:ext cx="11386868" cy="94636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F</a:t>
            </a:r>
            <a:r>
              <a:rPr lang="en-US" sz="2400" dirty="0">
                <a:solidFill>
                  <a:srgbClr val="FF2F92"/>
                </a:solidFill>
                <a:latin typeface="Constantia" panose="02030602050306030303" pitchFamily="18" charset="0"/>
              </a:rPr>
              <a:t>orecasting        </a:t>
            </a:r>
            <a:r>
              <a:rPr lang="en-US" sz="2400" dirty="0">
                <a:latin typeface="Constantia" panose="02030602050306030303" pitchFamily="18" charset="0"/>
              </a:rPr>
              <a:t>with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   L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inear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A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ugmented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   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nformation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C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ombination</a:t>
            </a:r>
            <a:endParaRPr lang="en-US" sz="5400" dirty="0">
              <a:solidFill>
                <a:srgbClr val="FF2F92"/>
              </a:solidFill>
              <a:latin typeface="Constantia" panose="02030602050306030303" pitchFamily="18" charset="0"/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114BD10-04D2-D570-E4B6-D1F57F061769}"/>
              </a:ext>
            </a:extLst>
          </p:cNvPr>
          <p:cNvCxnSpPr/>
          <p:nvPr/>
        </p:nvCxnSpPr>
        <p:spPr>
          <a:xfrm rot="16200000" flipH="1">
            <a:off x="1305614" y="2426074"/>
            <a:ext cx="857839" cy="37707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2EC4EE-9A07-8D75-751D-D758FE0AE748}"/>
              </a:ext>
            </a:extLst>
          </p:cNvPr>
          <p:cNvSpPr txBox="1"/>
          <p:nvPr/>
        </p:nvSpPr>
        <p:spPr>
          <a:xfrm>
            <a:off x="952107" y="1812031"/>
            <a:ext cx="328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</a:rPr>
              <a:t>1.1</a:t>
            </a:r>
            <a:r>
              <a:rPr lang="en-US" dirty="0"/>
              <a:t>   Forecast reconciliation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E3146-00A1-F14E-80E4-ECA8196A7B53}"/>
              </a:ext>
            </a:extLst>
          </p:cNvPr>
          <p:cNvSpPr txBox="1"/>
          <p:nvPr/>
        </p:nvSpPr>
        <p:spPr>
          <a:xfrm>
            <a:off x="7797166" y="1640883"/>
            <a:ext cx="3280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</a:rPr>
              <a:t>1.2</a:t>
            </a:r>
            <a:r>
              <a:rPr lang="en-US" dirty="0"/>
              <a:t>  Multivariate regression framework with flexible predictor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1E742-6C23-D88D-1A73-39373101F6D8}"/>
              </a:ext>
            </a:extLst>
          </p:cNvPr>
          <p:cNvSpPr txBox="1"/>
          <p:nvPr/>
        </p:nvSpPr>
        <p:spPr>
          <a:xfrm>
            <a:off x="4062652" y="4306538"/>
            <a:ext cx="365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</a:rPr>
              <a:t>1.3</a:t>
            </a:r>
            <a:r>
              <a:rPr lang="en-US" dirty="0"/>
              <a:t>  Linear components (FLAP idea) augmented in predictor set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E033D2C5-9111-CE26-B216-1AF67F4AB6FB}"/>
              </a:ext>
            </a:extLst>
          </p:cNvPr>
          <p:cNvCxnSpPr/>
          <p:nvPr/>
        </p:nvCxnSpPr>
        <p:spPr>
          <a:xfrm rot="16200000" flipH="1">
            <a:off x="10130675" y="2453871"/>
            <a:ext cx="857839" cy="37707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C070FC7-EC78-DBFE-92B6-F0CBD2EC30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88097" y="3663135"/>
            <a:ext cx="780898" cy="50590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46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7D5B-771F-B2F1-1A7C-15D3D099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>
            <a:extLst>
              <a:ext uri="{FF2B5EF4-FFF2-40B4-BE49-F238E27FC236}">
                <a16:creationId xmlns:a16="http://schemas.microsoft.com/office/drawing/2014/main" id="{BA163D3A-F341-1105-EAD5-B4C425F3CBD1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1.1 What is </a:t>
            </a:r>
            <a:r>
              <a:rPr lang="en-US" sz="2800" dirty="0">
                <a:solidFill>
                  <a:srgbClr val="FF2F92"/>
                </a:solidFill>
                <a:latin typeface="Constantia" panose="02030602050306030303" pitchFamily="18" charset="0"/>
              </a:rPr>
              <a:t>forecast reconciliation</a:t>
            </a:r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 problem?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C18E12-FB62-9241-8F21-C07517E72BF1}"/>
                  </a:ext>
                </a:extLst>
              </p:cNvPr>
              <p:cNvSpPr txBox="1"/>
              <p:nvPr/>
            </p:nvSpPr>
            <p:spPr>
              <a:xfrm>
                <a:off x="7723303" y="3476005"/>
                <a:ext cx="4046843" cy="2113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latin typeface="Constantia" panose="02030602050306030303" pitchFamily="18" charset="0"/>
                  </a:rPr>
                  <a:t>Forecasting problem:</a:t>
                </a:r>
              </a:p>
              <a:p>
                <a:endParaRPr lang="en-US" dirty="0">
                  <a:latin typeface="Constantia" panose="02030602050306030303" pitchFamily="18" charset="0"/>
                </a:endParaRPr>
              </a:p>
              <a:p>
                <a:r>
                  <a:rPr lang="en-US" dirty="0">
                    <a:latin typeface="Constantia" panose="02030602050306030303" pitchFamily="18" charset="0"/>
                  </a:rPr>
                  <a:t>Base forecasts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-step ahead) using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onstantia" panose="02030602050306030303" pitchFamily="18" charset="0"/>
                </a:endParaRPr>
              </a:p>
              <a:p>
                <a:endParaRPr lang="en-US" i="1" dirty="0">
                  <a:latin typeface="Constantia" panose="02030602050306030303" pitchFamily="18" charset="0"/>
                </a:endParaRPr>
              </a:p>
              <a:p>
                <a:r>
                  <a:rPr lang="en-US" dirty="0">
                    <a:latin typeface="Constantia" panose="02030602050306030303" pitchFamily="18" charset="0"/>
                  </a:rPr>
                  <a:t>are </a:t>
                </a:r>
                <a:r>
                  <a:rPr lang="en-US" i="1" dirty="0">
                    <a:latin typeface="Constantia" panose="02030602050306030303" pitchFamily="18" charset="0"/>
                  </a:rPr>
                  <a:t>incoherent</a:t>
                </a:r>
                <a:endParaRPr lang="en-US" sz="1200" i="1" dirty="0">
                  <a:latin typeface="Constantia" panose="02030602050306030303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𝐒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C18E12-FB62-9241-8F21-C07517E72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303" y="3476005"/>
                <a:ext cx="4046843" cy="2113592"/>
              </a:xfrm>
              <a:prstGeom prst="rect">
                <a:avLst/>
              </a:prstGeom>
              <a:blipFill>
                <a:blip r:embed="rId2"/>
                <a:stretch>
                  <a:fillRect l="-1254" t="-1190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4BE995D-A946-EBD8-4CE9-177121DC0EB8}"/>
              </a:ext>
            </a:extLst>
          </p:cNvPr>
          <p:cNvGrpSpPr/>
          <p:nvPr/>
        </p:nvGrpSpPr>
        <p:grpSpPr>
          <a:xfrm>
            <a:off x="867241" y="1546373"/>
            <a:ext cx="6466870" cy="3548922"/>
            <a:chOff x="121959" y="1132593"/>
            <a:chExt cx="6466870" cy="354892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09FB5DD-DB18-B000-BD39-C6BF771E3923}"/>
                </a:ext>
              </a:extLst>
            </p:cNvPr>
            <p:cNvGrpSpPr/>
            <p:nvPr/>
          </p:nvGrpSpPr>
          <p:grpSpPr>
            <a:xfrm>
              <a:off x="121959" y="1132593"/>
              <a:ext cx="6466870" cy="3548922"/>
              <a:chOff x="-109418" y="1038637"/>
              <a:chExt cx="6466870" cy="3548922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F6A1017-4BDB-B9FF-EB35-9AA2055ABD29}"/>
                  </a:ext>
                </a:extLst>
              </p:cNvPr>
              <p:cNvSpPr txBox="1"/>
              <p:nvPr/>
            </p:nvSpPr>
            <p:spPr>
              <a:xfrm>
                <a:off x="5707940" y="4187449"/>
                <a:ext cx="649512" cy="400110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7938" algn="ctr"/>
                <a:r>
                  <a:rPr lang="en-US" sz="1000" dirty="0">
                    <a:latin typeface="Constantia" panose="02030602050306030303" pitchFamily="18" charset="0"/>
                  </a:rPr>
                  <a:t>Alice Springs</a:t>
                </a:r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7E1879E5-4D0D-7521-8892-2CA27BB850D2}"/>
                  </a:ext>
                </a:extLst>
              </p:cNvPr>
              <p:cNvGrpSpPr/>
              <p:nvPr/>
            </p:nvGrpSpPr>
            <p:grpSpPr>
              <a:xfrm>
                <a:off x="-109418" y="1038637"/>
                <a:ext cx="6293291" cy="3425591"/>
                <a:chOff x="-109418" y="1038637"/>
                <a:chExt cx="6293291" cy="3425591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CF7EBE4-2E98-929F-E1CB-E6243C740F36}"/>
                    </a:ext>
                  </a:extLst>
                </p:cNvPr>
                <p:cNvGrpSpPr/>
                <p:nvPr/>
              </p:nvGrpSpPr>
              <p:grpSpPr>
                <a:xfrm>
                  <a:off x="287517" y="1038637"/>
                  <a:ext cx="5382706" cy="1352038"/>
                  <a:chOff x="287517" y="1038637"/>
                  <a:chExt cx="5382706" cy="1352038"/>
                </a:xfrm>
              </p:grpSpPr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616A232-F8E0-585E-4C15-B457F2E3BF73}"/>
                      </a:ext>
                    </a:extLst>
                  </p:cNvPr>
                  <p:cNvSpPr txBox="1"/>
                  <p:nvPr/>
                </p:nvSpPr>
                <p:spPr>
                  <a:xfrm>
                    <a:off x="2503711" y="1038637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AUS</a:t>
                    </a:r>
                  </a:p>
                </p:txBody>
              </p: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6C1CC44-BF9E-C661-A4B1-0F5B92E1590D}"/>
                      </a:ext>
                    </a:extLst>
                  </p:cNvPr>
                  <p:cNvCxnSpPr>
                    <a:stCxn id="4" idx="2"/>
                  </p:cNvCxnSpPr>
                  <p:nvPr/>
                </p:nvCxnSpPr>
                <p:spPr>
                  <a:xfrm flipH="1">
                    <a:off x="2856322" y="1346414"/>
                    <a:ext cx="0" cy="385555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6075A59-8313-D427-50F4-7637E29FE0A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5044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C60DAAC8-D5B3-DA07-2E5C-6700AE742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449" y="1731969"/>
                    <a:ext cx="4656842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6B407379-510C-BF6F-DC06-41F03E27D8A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415591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A9E3B7E7-CE32-0329-800A-03BFC19C078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10531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2D958ADE-8A51-2E85-6AF3-1249FE41881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856322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5888CC9B-AF41-4EFA-C576-917A63C6810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579043" y="1734487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5BDB3E03-B744-6362-F189-4A238AB7B7F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419600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E067740-98E6-B730-D68F-36654C292F0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307291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E9264F41-F143-DD3E-46DC-648BCF7DEE40}"/>
                      </a:ext>
                    </a:extLst>
                  </p:cNvPr>
                  <p:cNvSpPr txBox="1"/>
                  <p:nvPr/>
                </p:nvSpPr>
                <p:spPr>
                  <a:xfrm>
                    <a:off x="287517" y="2082898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VIC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510278A-206C-8E6B-D367-075E9C760229}"/>
                      </a:ext>
                    </a:extLst>
                  </p:cNvPr>
                  <p:cNvSpPr txBox="1"/>
                  <p:nvPr/>
                </p:nvSpPr>
                <p:spPr>
                  <a:xfrm>
                    <a:off x="4944359" y="2082898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NT</a:t>
                    </a: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47200999-FD04-CF48-F78C-081E3B0876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37989" y="2079666"/>
                        <a:ext cx="3400826" cy="307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1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</a:t>
                        </a:r>
                        <a:r>
                          <a:rPr lang="en-US" sz="1400" dirty="0">
                            <a:solidFill>
                              <a:prstClr val="black"/>
                            </a:solidFill>
                            <a:latin typeface="Constantia" panose="02030602050306030303" pitchFamily="18" charset="0"/>
                          </a:rPr>
                          <a:t> </a:t>
                        </a:r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           </a:t>
                        </a:r>
                        <a14:m>
                          <m:oMath xmlns:m="http://schemas.openxmlformats.org/officeDocument/2006/math">
                            <m:r>
                              <a:rPr lang="en-US" sz="14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              </a:t>
                        </a:r>
                        <a14:m>
                          <m:oMath xmlns:m="http://schemas.openxmlformats.org/officeDocument/2006/math">
                            <m:r>
                              <a:rPr lang="en-US" sz="1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 </m:t>
                            </m:r>
                          </m:oMath>
                        </a14:m>
                        <a:endParaRPr lang="en-US" sz="1400" dirty="0">
                          <a:latin typeface="Constantia" panose="02030602050306030303" pitchFamily="18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47200999-FD04-CF48-F78C-081E3B0876D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7989" y="2079666"/>
                        <a:ext cx="3400826" cy="30777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7692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794C5648-DE58-F6BF-D730-BA7F41F48F0C}"/>
                    </a:ext>
                  </a:extLst>
                </p:cNvPr>
                <p:cNvGrpSpPr/>
                <p:nvPr/>
              </p:nvGrpSpPr>
              <p:grpSpPr>
                <a:xfrm>
                  <a:off x="-109418" y="2381032"/>
                  <a:ext cx="6293291" cy="2083196"/>
                  <a:chOff x="-109418" y="2381032"/>
                  <a:chExt cx="6293291" cy="2083196"/>
                </a:xfrm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23ECCAD6-D81A-1172-AD3F-B0C95BC03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93865" y="3873771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49E8F39D-8972-E0B9-A6D5-7303729ECFDF}"/>
                      </a:ext>
                    </a:extLst>
                  </p:cNvPr>
                  <p:cNvGrpSpPr/>
                  <p:nvPr/>
                </p:nvGrpSpPr>
                <p:grpSpPr>
                  <a:xfrm>
                    <a:off x="-109418" y="2381032"/>
                    <a:ext cx="6293291" cy="2083196"/>
                    <a:chOff x="-109418" y="2381032"/>
                    <a:chExt cx="6293291" cy="2083196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3DE34A03-3147-F6F2-82AF-BA3573DA06D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44918" y="2778014"/>
                          <a:ext cx="338098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sz="1400" dirty="0">
                              <a:latin typeface="Constantia" panose="02030602050306030303" pitchFamily="18" charset="0"/>
                            </a:rPr>
                            <a:t> </a:t>
                          </a:r>
                        </a:p>
                      </p:txBody>
                    </p:sp>
                  </mc:Choice>
                  <mc:Fallback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3DE34A03-3147-F6F2-82AF-BA3573DA06D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44918" y="2778014"/>
                          <a:ext cx="338098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92" name="Group 91">
                      <a:extLst>
                        <a:ext uri="{FF2B5EF4-FFF2-40B4-BE49-F238E27FC236}">
                          <a16:creationId xmlns:a16="http://schemas.microsoft.com/office/drawing/2014/main" id="{5AD23248-B843-02B2-BAB8-B2FF955FF5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09418" y="2381032"/>
                      <a:ext cx="6293291" cy="2083196"/>
                      <a:chOff x="-109418" y="2381032"/>
                      <a:chExt cx="6293291" cy="2083196"/>
                    </a:xfrm>
                  </p:grpSpPr>
                  <p:cxnSp>
                    <p:nvCxnSpPr>
                      <p:cNvPr id="51" name="Straight Connector 50">
                        <a:extLst>
                          <a:ext uri="{FF2B5EF4-FFF2-40B4-BE49-F238E27FC236}">
                            <a16:creationId xmlns:a16="http://schemas.microsoft.com/office/drawing/2014/main" id="{8D172335-9F87-302B-BB31-308439533DA3}"/>
                          </a:ext>
                        </a:extLst>
                      </p:cNvPr>
                      <p:cNvCxnSpPr>
                        <a:cxnSpLocks/>
                        <a:stCxn id="48" idx="2"/>
                      </p:cNvCxnSpPr>
                      <p:nvPr/>
                    </p:nvCxnSpPr>
                    <p:spPr>
                      <a:xfrm>
                        <a:off x="650449" y="2390675"/>
                        <a:ext cx="0" cy="387889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3B1BDCF7-FDF8-699C-7DA2-8156DBA66C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7517" y="277856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4EBB42C4-C06E-C892-3D03-6B4B664C56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019" y="3109557"/>
                        <a:ext cx="581430" cy="40011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Metro</a:t>
                        </a:r>
                      </a:p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VIC</a:t>
                        </a:r>
                      </a:p>
                    </p:txBody>
                  </p: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7C24A8B5-4447-B7E7-1BA8-75F2FB6FB0F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287517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675FF363-4468-66B0-C399-116397A6DB1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1112363" y="278555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9DC14650-68B2-1BED-58C5-75BE0663F07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67860" y="2562011"/>
                            <a:ext cx="3400826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</a:t>
                            </a:r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9DC14650-68B2-1BED-58C5-75BE0663F07F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167860" y="2562011"/>
                            <a:ext cx="3400826" cy="307777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 b="-1200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2BD62009-8175-E447-C4D1-162168B37AC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80581" y="2381032"/>
                        <a:ext cx="0" cy="396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64B757F6-FA6D-E3DF-EA6E-93B124B2B23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17649" y="2771021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8912CA33-FC18-5FDD-C65F-EE45774CA67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4917649" y="2770471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B633FC15-D6C3-AFB3-D95C-AB2FDDED87C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5742495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C44AA7A8-B118-64FA-0AC1-8D699B2F1F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63399" y="2789730"/>
                        <a:ext cx="0" cy="285481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TextBox 71">
                        <a:extLst>
                          <a:ext uri="{FF2B5EF4-FFF2-40B4-BE49-F238E27FC236}">
                            <a16:creationId xmlns:a16="http://schemas.microsoft.com/office/drawing/2014/main" id="{3210C899-51E6-DCB6-A135-5A351542C7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51779" y="3102014"/>
                        <a:ext cx="599055" cy="40011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Central</a:t>
                        </a:r>
                      </a:p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NT</a:t>
                        </a:r>
                      </a:p>
                    </p:txBody>
                  </p: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25EA667C-B6BE-D8E7-F2E9-8E93A1BF703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10581" y="3157316"/>
                            <a:ext cx="4624035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25EA667C-B6BE-D8E7-F2E9-8E93A1BF7037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10581" y="3157316"/>
                            <a:ext cx="4624035" cy="307777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FD7DBB78-DFF9-3E5D-078C-04D6475033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07941" y="3545502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Straight Connector 77">
                        <a:extLst>
                          <a:ext uri="{FF2B5EF4-FFF2-40B4-BE49-F238E27FC236}">
                            <a16:creationId xmlns:a16="http://schemas.microsoft.com/office/drawing/2014/main" id="{B9DC59F3-F785-B64D-EC02-684E1C9165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9019" y="386444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E3E1E780-8B82-069F-C241-6DB6C8A8643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9019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TextBox 79">
                        <a:extLst>
                          <a:ext uri="{FF2B5EF4-FFF2-40B4-BE49-F238E27FC236}">
                            <a16:creationId xmlns:a16="http://schemas.microsoft.com/office/drawing/2014/main" id="{02EB143A-E376-6181-E754-60A8AFB4A4B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09418" y="4197771"/>
                        <a:ext cx="449455" cy="246221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7938"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Mel</a:t>
                        </a:r>
                      </a:p>
                    </p:txBody>
                  </p:sp>
                  <p:cxnSp>
                    <p:nvCxnSpPr>
                      <p:cNvPr id="81" name="Straight Connector 80">
                        <a:extLst>
                          <a:ext uri="{FF2B5EF4-FFF2-40B4-BE49-F238E27FC236}">
                            <a16:creationId xmlns:a16="http://schemas.microsoft.com/office/drawing/2014/main" id="{07D78C67-D30A-EA92-DEB4-067785B944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4193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FA45238D-77DD-1F08-7EFD-A8A585CFDB6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22340" y="3631940"/>
                            <a:ext cx="4624035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                </a:t>
                            </a:r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FA45238D-77DD-1F08-7EFD-A8A585CFDB6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22340" y="3631940"/>
                            <a:ext cx="4624035" cy="307777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84" name="Straight Connector 83">
                        <a:extLst>
                          <a:ext uri="{FF2B5EF4-FFF2-40B4-BE49-F238E27FC236}">
                            <a16:creationId xmlns:a16="http://schemas.microsoft.com/office/drawing/2014/main" id="{B67AAE97-6D9B-E582-2CAC-585DA319785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40923" y="3526648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35B3CE28-8DA3-FFDE-A13B-94DBB74341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359027" y="3855117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5DF6C20E-62D1-FC7A-B225-68826F03F68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359027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56ABB504-04F4-60D7-071C-AAE048DBE8F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618326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70CEBE79-6C2C-FE45-45B6-0DC386681D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18387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6883EAD6-D766-A35F-9384-7D8C683D026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4798" y="4156451"/>
                            <a:ext cx="5511844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6883EAD6-D766-A35F-9384-7D8C683D026B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4798" y="4156451"/>
                            <a:ext cx="5511844" cy="307777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</p:grp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21BF745-1880-8E17-6C26-337F9450C943}"/>
                    </a:ext>
                  </a:extLst>
                </p:cNvPr>
                <p:cNvSpPr txBox="1"/>
                <p:nvPr/>
              </p:nvSpPr>
              <p:spPr>
                <a:xfrm>
                  <a:off x="780226" y="3986910"/>
                  <a:ext cx="33809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21BF745-1880-8E17-6C26-337F9450C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26" y="3986910"/>
                  <a:ext cx="33809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35F0E1B2-EAAF-1450-EECF-DF4564FEDF49}"/>
                    </a:ext>
                  </a:extLst>
                </p:cNvPr>
                <p:cNvSpPr txBox="1"/>
                <p:nvPr/>
              </p:nvSpPr>
              <p:spPr>
                <a:xfrm>
                  <a:off x="5533251" y="3931228"/>
                  <a:ext cx="33809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35F0E1B2-EAAF-1450-EECF-DF4564FED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251" y="3931228"/>
                  <a:ext cx="33809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5E6B1320-2DDC-E9E7-1829-2831688CE215}"/>
              </a:ext>
            </a:extLst>
          </p:cNvPr>
          <p:cNvSpPr txBox="1"/>
          <p:nvPr/>
        </p:nvSpPr>
        <p:spPr>
          <a:xfrm>
            <a:off x="1824246" y="956274"/>
            <a:ext cx="4914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onstantia" panose="02030602050306030303" pitchFamily="18" charset="0"/>
              </a:rPr>
              <a:t>Domestic tourism hierarchy  </a:t>
            </a:r>
            <a:r>
              <a:rPr lang="en-US" sz="1400" i="1" dirty="0">
                <a:latin typeface="Constantia" panose="02030602050306030303" pitchFamily="18" charset="0"/>
              </a:rPr>
              <a:t>(n=112 series)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CB188C-9A8F-3913-931B-124FD0EAC5F3}"/>
              </a:ext>
            </a:extLst>
          </p:cNvPr>
          <p:cNvSpPr txBox="1"/>
          <p:nvPr/>
        </p:nvSpPr>
        <p:spPr>
          <a:xfrm>
            <a:off x="-861" y="903542"/>
            <a:ext cx="880377" cy="42780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latin typeface="Constantia" panose="02030602050306030303" pitchFamily="18" charset="0"/>
              </a:rPr>
              <a:t>Levels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1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Total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2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States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3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Zones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4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regions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E0C9D25-3457-75D6-9F7E-58EDB4EFDFBD}"/>
                  </a:ext>
                </a:extLst>
              </p:cNvPr>
              <p:cNvSpPr txBox="1"/>
              <p:nvPr/>
            </p:nvSpPr>
            <p:spPr>
              <a:xfrm>
                <a:off x="1542265" y="6014702"/>
                <a:ext cx="8081977" cy="4276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Base forecasts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</a:t>
                </a:r>
                <a:r>
                  <a:rPr lang="en-US" dirty="0">
                    <a:solidFill>
                      <a:srgbClr val="FF2F92"/>
                    </a:solidFill>
                    <a:latin typeface="Constantia" panose="02030602050306030303" pitchFamily="18" charset="0"/>
                  </a:rPr>
                  <a:t>Reconciliation</a:t>
                </a:r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  Coherent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black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E0C9D25-3457-75D6-9F7E-58EDB4EFD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265" y="6014702"/>
                <a:ext cx="8081977" cy="427618"/>
              </a:xfrm>
              <a:prstGeom prst="rect">
                <a:avLst/>
              </a:prstGeom>
              <a:blipFill>
                <a:blip r:embed="rId11"/>
                <a:stretch>
                  <a:fillRect t="-5556" b="-1111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A0F32B-A632-EF31-6C08-B99A0E0BF965}"/>
              </a:ext>
            </a:extLst>
          </p:cNvPr>
          <p:cNvGrpSpPr/>
          <p:nvPr/>
        </p:nvGrpSpPr>
        <p:grpSpPr>
          <a:xfrm>
            <a:off x="7762384" y="872019"/>
            <a:ext cx="4125724" cy="2204834"/>
            <a:chOff x="7993342" y="944510"/>
            <a:chExt cx="4125724" cy="220483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0D009EC-4B03-3105-AB27-B86A11CF5565}"/>
                    </a:ext>
                  </a:extLst>
                </p:cNvPr>
                <p:cNvSpPr txBox="1"/>
                <p:nvPr/>
              </p:nvSpPr>
              <p:spPr>
                <a:xfrm>
                  <a:off x="7993342" y="944510"/>
                  <a:ext cx="2930943" cy="22048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u="sng" dirty="0">
                      <a:latin typeface="Constantia" panose="02030602050306030303" pitchFamily="18" charset="0"/>
                    </a:rPr>
                    <a:t>Hierarchical structure of data</a:t>
                  </a:r>
                </a:p>
                <a:p>
                  <a:endParaRPr lang="en-US" dirty="0">
                    <a:latin typeface="Constantia" panose="02030602050306030303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</a:endParaRPr>
                </a:p>
                <a:p>
                  <a:endParaRPr lang="en-US" i="1" dirty="0"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dirty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1" i="0" dirty="0" smtClean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0D009EC-4B03-3105-AB27-B86A11CF5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3342" y="944510"/>
                  <a:ext cx="2930943" cy="2204834"/>
                </a:xfrm>
                <a:prstGeom prst="rect">
                  <a:avLst/>
                </a:prstGeom>
                <a:blipFill>
                  <a:blip r:embed="rId12"/>
                  <a:stretch>
                    <a:fillRect l="-4762" t="-3429" r="-3896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FDA0523-46E4-604A-CD57-242D9744D789}"/>
                </a:ext>
              </a:extLst>
            </p:cNvPr>
            <p:cNvCxnSpPr/>
            <p:nvPr/>
          </p:nvCxnSpPr>
          <p:spPr>
            <a:xfrm flipV="1">
              <a:off x="9743425" y="1778142"/>
              <a:ext cx="872492" cy="216000"/>
            </a:xfrm>
            <a:prstGeom prst="straightConnector1">
              <a:avLst/>
            </a:prstGeom>
            <a:ln w="28575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CE5F556-60C1-51AC-522D-001786D0E37A}"/>
                    </a:ext>
                  </a:extLst>
                </p:cNvPr>
                <p:cNvSpPr txBox="1"/>
                <p:nvPr/>
              </p:nvSpPr>
              <p:spPr>
                <a:xfrm>
                  <a:off x="10559005" y="1409367"/>
                  <a:ext cx="1560061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𝐀𝐠𝐠𝐫𝐞𝐠𝐚𝐭𝐢𝐨𝐧</m:t>
                        </m:r>
                      </m:oMath>
                    </m:oMathPara>
                  </a14:m>
                  <a:endParaRPr lang="en-US" sz="1600" b="1" dirty="0"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𝐂𝐨𝐧𝐬𝐭𝐫𝐚𝐢𝐧𝐭𝐬</m:t>
                        </m:r>
                      </m:oMath>
                    </m:oMathPara>
                  </a14:m>
                  <a:endParaRPr lang="en-US" sz="1600" b="1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CE5F556-60C1-51AC-522D-001786D0E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9005" y="1409367"/>
                  <a:ext cx="1560061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CB257A5-3A2C-1935-7BFD-36407F9F1001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3/21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41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B8B7-00E6-6E89-36B9-1C93DBC3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B8C553-58DA-71AA-7704-E8BB589EFD32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1.2 How has the literature approached reconciliation?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C91509-473C-C815-DA43-6454F66123E9}"/>
                  </a:ext>
                </a:extLst>
              </p:cNvPr>
              <p:cNvSpPr txBox="1"/>
              <p:nvPr/>
            </p:nvSpPr>
            <p:spPr>
              <a:xfrm>
                <a:off x="127564" y="1684107"/>
                <a:ext cx="5445660" cy="449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𝔗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𝔗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C91509-473C-C815-DA43-6454F6612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64" y="1684107"/>
                <a:ext cx="5445660" cy="449739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54EC067-5862-5708-48BF-1A63C9D09476}"/>
              </a:ext>
            </a:extLst>
          </p:cNvPr>
          <p:cNvSpPr txBox="1"/>
          <p:nvPr/>
        </p:nvSpPr>
        <p:spPr>
          <a:xfrm>
            <a:off x="837716" y="1000649"/>
            <a:ext cx="4993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tantia" panose="02030602050306030303" pitchFamily="18" charset="0"/>
              </a:rPr>
              <a:t>Unbiasedness of base forecasts assumption: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B3AB5D-C826-5894-CE8E-245C10F24308}"/>
              </a:ext>
            </a:extLst>
          </p:cNvPr>
          <p:cNvCxnSpPr>
            <a:cxnSpLocks/>
          </p:cNvCxnSpPr>
          <p:nvPr/>
        </p:nvCxnSpPr>
        <p:spPr>
          <a:xfrm flipV="1">
            <a:off x="4601775" y="1539485"/>
            <a:ext cx="1357947" cy="368338"/>
          </a:xfrm>
          <a:prstGeom prst="straightConnector1">
            <a:avLst/>
          </a:prstGeom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344DF-88B5-AC1A-B825-17A470419447}"/>
                  </a:ext>
                </a:extLst>
              </p:cNvPr>
              <p:cNvSpPr txBox="1"/>
              <p:nvPr/>
            </p:nvSpPr>
            <p:spPr>
              <a:xfrm>
                <a:off x="6096000" y="723310"/>
                <a:ext cx="5781773" cy="2231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Strong requirement </a:t>
                </a:r>
                <a:r>
                  <a:rPr lang="en-GB" sz="12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(Nguyen et al. 2025)</a:t>
                </a: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𝔗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𝛜</m:t>
                    </m:r>
                  </m:oMath>
                </a14:m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𝔗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i="1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Drawback:</a:t>
                </a: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assumes base forecasts embody </a:t>
                </a:r>
                <a:r>
                  <a:rPr lang="en-GB" b="1" i="1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all</a:t>
                </a: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useful information in history of the hierarchy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344DF-88B5-AC1A-B825-17A47041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23310"/>
                <a:ext cx="5781773" cy="2231124"/>
              </a:xfrm>
              <a:prstGeom prst="rect">
                <a:avLst/>
              </a:prstGeom>
              <a:blipFill>
                <a:blip r:embed="rId3"/>
                <a:stretch>
                  <a:fillRect l="-877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59296A0-1C84-A237-1FFD-0DF645E8056B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4/21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86BD6D-F0AE-DD4D-00D4-20BFD77D0BF0}"/>
                  </a:ext>
                </a:extLst>
              </p:cNvPr>
              <p:cNvSpPr txBox="1"/>
              <p:nvPr/>
            </p:nvSpPr>
            <p:spPr>
              <a:xfrm>
                <a:off x="464365" y="2671688"/>
                <a:ext cx="5062194" cy="2690993"/>
              </a:xfrm>
              <a:prstGeom prst="rect">
                <a:avLst/>
              </a:prstGeom>
              <a:noFill/>
              <a:ln w="19050">
                <a:solidFill>
                  <a:srgbClr val="24827F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134FF"/>
                  </a:buClr>
                </a:pPr>
                <a:r>
                  <a:rPr lang="en-US" sz="1600" b="1" dirty="0">
                    <a:latin typeface="Constantia" panose="02030602050306030303" pitchFamily="18" charset="0"/>
                  </a:rPr>
                  <a:t>Minimum Trace (</a:t>
                </a:r>
                <a:r>
                  <a:rPr lang="en-US" sz="1600" b="1" dirty="0" err="1">
                    <a:latin typeface="Constantia" panose="02030602050306030303" pitchFamily="18" charset="0"/>
                  </a:rPr>
                  <a:t>MinT</a:t>
                </a:r>
                <a:r>
                  <a:rPr lang="en-US" sz="1600" b="1" dirty="0">
                    <a:latin typeface="Constantia" panose="02030602050306030303" pitchFamily="18" charset="0"/>
                  </a:rPr>
                  <a:t>)</a:t>
                </a:r>
                <a:r>
                  <a:rPr lang="en-US" sz="1600" dirty="0">
                    <a:latin typeface="Constantia" panose="02030602050306030303" pitchFamily="18" charset="0"/>
                  </a:rPr>
                  <a:t>  (Wickramasuriya et al., 2019)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Unbiasedness assumption +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Optimisation</a:t>
                </a: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Find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for: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Solution is: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MinT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Constantia" panose="02030602050306030303" pitchFamily="18" charset="0"/>
                  </a:rPr>
                  <a:t>     where: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86BD6D-F0AE-DD4D-00D4-20BFD77D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65" y="2671688"/>
                <a:ext cx="5062194" cy="2690993"/>
              </a:xfrm>
              <a:prstGeom prst="rect">
                <a:avLst/>
              </a:prstGeom>
              <a:blipFill>
                <a:blip r:embed="rId4"/>
                <a:stretch>
                  <a:fillRect l="-499" t="-465" b="-465"/>
                </a:stretch>
              </a:blipFill>
              <a:ln w="19050">
                <a:solidFill>
                  <a:srgbClr val="24827F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059CAD-4BD1-9C92-4109-6F6F37DDDF26}"/>
                  </a:ext>
                </a:extLst>
              </p:cNvPr>
              <p:cNvSpPr txBox="1"/>
              <p:nvPr/>
            </p:nvSpPr>
            <p:spPr>
              <a:xfrm>
                <a:off x="5959722" y="3070349"/>
                <a:ext cx="5700606" cy="3573863"/>
              </a:xfrm>
              <a:prstGeom prst="rect">
                <a:avLst/>
              </a:prstGeom>
              <a:noFill/>
              <a:ln w="19050">
                <a:solidFill>
                  <a:srgbClr val="FF2F92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b="1" dirty="0">
                    <a:latin typeface="Constantia" panose="02030602050306030303" pitchFamily="18" charset="0"/>
                  </a:rPr>
                  <a:t>Information Combination (IComb)</a:t>
                </a:r>
                <a:r>
                  <a:rPr lang="en-US" sz="1600" dirty="0">
                    <a:latin typeface="Constantia" panose="02030602050306030303" pitchFamily="18" charset="0"/>
                  </a:rPr>
                  <a:t>  </a:t>
                </a:r>
                <a:r>
                  <a:rPr lang="en-US" sz="1100" dirty="0">
                    <a:latin typeface="Constantia" panose="02030602050306030303" pitchFamily="18" charset="0"/>
                  </a:rPr>
                  <a:t>(Nguyen et al. 2025)</a:t>
                </a:r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Multivariate regression: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𝐘</m:t>
                    </m:r>
                    <m:r>
                      <m:rPr>
                        <m:nor/>
                      </m:rPr>
                      <a:rPr lang="en-US" sz="160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1600" dirty="0"/>
                      <m:t>=</m:t>
                    </m:r>
                    <m:r>
                      <m:rPr>
                        <m:nor/>
                      </m:rPr>
                      <a:rPr lang="en-US" sz="1600" dirty="0"/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</m:oMath>
                </a14:m>
                <a:endParaRPr lang="en-US" sz="1050" b="1" dirty="0">
                  <a:latin typeface="Cambria Math" panose="02040503050406030204" pitchFamily="18" charset="0"/>
                </a:endParaRPr>
              </a:p>
              <a:p>
                <a:pPr lvl="0" algn="just">
                  <a:lnSpc>
                    <a:spcPct val="150000"/>
                  </a:lnSpc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where:   </a:t>
                </a:r>
                <a:r>
                  <a:rPr lang="en-US" sz="160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: coherent </a:t>
                </a:r>
                <a:r>
                  <a:rPr lang="en-US" sz="1600" dirty="0" err="1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realised</a:t>
                </a: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hierarchy</a:t>
                </a:r>
              </a:p>
              <a:p>
                <a:pPr lvl="0" algn="just">
                  <a:lnSpc>
                    <a:spcPct val="150000"/>
                  </a:lnSpc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: </a:t>
                </a:r>
                <a:r>
                  <a:rPr lang="en-US" sz="1600" i="1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any </a:t>
                </a: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predictor set, hierarchy in-sample forecasts</a:t>
                </a:r>
                <a:endParaRPr lang="en-US" sz="1000" b="1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coherent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</m:t>
                        </m:r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𝐘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</m:d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600" b="1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b="1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Regularisation: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0046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IComb-S:           Ridge (shrinkage) </a:t>
                </a:r>
                <a:r>
                  <a:rPr lang="en-US" sz="1600" dirty="0">
                    <a:latin typeface="Constantia" panose="02030602050306030303" pitchFamily="18" charset="0"/>
                    <a:sym typeface="Wingdings" pitchFamily="2" charset="2"/>
                  </a:rPr>
                  <a:t></a:t>
                </a:r>
                <a:r>
                  <a:rPr lang="en-US" sz="1600" dirty="0">
                    <a:latin typeface="Constantia" panose="02030602050306030303" pitchFamily="18" charset="0"/>
                  </a:rPr>
                  <a:t> dense models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0046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IComb-L:           Multivariate lasso </a:t>
                </a:r>
                <a:r>
                  <a:rPr lang="en-US" sz="1600" dirty="0">
                    <a:latin typeface="Constantia" panose="02030602050306030303" pitchFamily="18" charset="0"/>
                    <a:sym typeface="Wingdings" pitchFamily="2" charset="2"/>
                  </a:rPr>
                  <a:t></a:t>
                </a:r>
                <a:r>
                  <a:rPr lang="en-US" sz="1600" dirty="0">
                    <a:latin typeface="Constantia" panose="02030602050306030303" pitchFamily="18" charset="0"/>
                  </a:rPr>
                  <a:t> sparse models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b="1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059CAD-4BD1-9C92-4109-6F6F37DDD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722" y="3070349"/>
                <a:ext cx="5700606" cy="3573863"/>
              </a:xfrm>
              <a:prstGeom prst="rect">
                <a:avLst/>
              </a:prstGeom>
              <a:blipFill>
                <a:blip r:embed="rId5"/>
                <a:stretch>
                  <a:fillRect l="-221" t="-352"/>
                </a:stretch>
              </a:blipFill>
              <a:ln w="19050">
                <a:solidFill>
                  <a:srgbClr val="FF2F92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47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02AE-0E63-39C5-CABE-18CB318B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9D0C243-04C2-BA9F-1671-726AAC65E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862" y="187445"/>
                <a:ext cx="11386868" cy="56015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1.3  Gap: how to expand the predictor set beyond forecasts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9D0C243-04C2-BA9F-1671-726AAC65E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2" y="187445"/>
                <a:ext cx="11386868" cy="560158"/>
              </a:xfrm>
              <a:prstGeom prst="rect">
                <a:avLst/>
              </a:prstGeom>
              <a:blipFill>
                <a:blip r:embed="rId2"/>
                <a:stretch>
                  <a:fillRect l="-1226" t="-2174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2B7A6B-3AC5-ECEC-2341-62F8A8EE1CC3}"/>
                  </a:ext>
                </a:extLst>
              </p:cNvPr>
              <p:cNvSpPr txBox="1"/>
              <p:nvPr/>
            </p:nvSpPr>
            <p:spPr>
              <a:xfrm>
                <a:off x="379758" y="958157"/>
                <a:ext cx="11550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Linear Augmented Projection (FLAP) </a:t>
                </a:r>
                <a:r>
                  <a:rPr lang="en-US" sz="1400" dirty="0">
                    <a:latin typeface="Constantia" panose="02030602050306030303" pitchFamily="18" charset="0"/>
                  </a:rPr>
                  <a:t>(Yang et al., 2024)</a:t>
                </a:r>
                <a:r>
                  <a:rPr lang="en-US" dirty="0">
                    <a:latin typeface="Constantia" panose="02030602050306030303" pitchFamily="18" charset="0"/>
                  </a:rPr>
                  <a:t> says you can improve forecast accuracy of a multivariate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by creating linear components from it and forecasting them too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2B7A6B-3AC5-ECEC-2341-62F8A8EE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58" y="958157"/>
                <a:ext cx="11550400" cy="646331"/>
              </a:xfrm>
              <a:prstGeom prst="rect">
                <a:avLst/>
              </a:prstGeom>
              <a:blipFill>
                <a:blip r:embed="rId3"/>
                <a:stretch>
                  <a:fillRect l="-329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6DF51BA-C769-784D-DBB5-F8D6153F20F3}"/>
              </a:ext>
            </a:extLst>
          </p:cNvPr>
          <p:cNvSpPr txBox="1"/>
          <p:nvPr/>
        </p:nvSpPr>
        <p:spPr>
          <a:xfrm>
            <a:off x="320800" y="5192073"/>
            <a:ext cx="1155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b="1" i="1" dirty="0">
                <a:solidFill>
                  <a:srgbClr val="0046FF"/>
                </a:solidFill>
                <a:latin typeface="Constantia" panose="02030602050306030303" pitchFamily="18" charset="0"/>
              </a:rPr>
              <a:t>Research Question</a:t>
            </a:r>
            <a:r>
              <a:rPr lang="en-US" dirty="0">
                <a:solidFill>
                  <a:srgbClr val="0046FF"/>
                </a:solidFill>
                <a:latin typeface="Constantia" panose="02030602050306030303" pitchFamily="18" charset="0"/>
              </a:rPr>
              <a:t>: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onstantia" panose="02030602050306030303" pitchFamily="18" charset="0"/>
              </a:rPr>
              <a:t>To what extent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can forecasts based on constructed linear components improve the accuracy of hierarchical forecasts when incorporated into the Information Combination framework?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F294B80-57A7-D94E-BDD0-1C06F8E27EBA}"/>
              </a:ext>
            </a:extLst>
          </p:cNvPr>
          <p:cNvGrpSpPr/>
          <p:nvPr/>
        </p:nvGrpSpPr>
        <p:grpSpPr>
          <a:xfrm>
            <a:off x="513046" y="1889664"/>
            <a:ext cx="11165907" cy="2436816"/>
            <a:chOff x="504477" y="1786753"/>
            <a:chExt cx="11165907" cy="24368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F95614-AF85-CA1E-D4DF-F39CCA202813}"/>
                    </a:ext>
                  </a:extLst>
                </p:cNvPr>
                <p:cNvSpPr txBox="1"/>
                <p:nvPr/>
              </p:nvSpPr>
              <p:spPr>
                <a:xfrm>
                  <a:off x="1036946" y="1937497"/>
                  <a:ext cx="2271861" cy="107721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1. Create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linear components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 </a:t>
                  </a:r>
                  <a:r>
                    <a:rPr lang="en-US" sz="1600" i="1" dirty="0">
                      <a:latin typeface="Constantia" panose="02030602050306030303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F95614-AF85-CA1E-D4DF-F39CCA202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46" y="1937497"/>
                  <a:ext cx="2271861" cy="1077218"/>
                </a:xfrm>
                <a:prstGeom prst="rect">
                  <a:avLst/>
                </a:prstGeom>
                <a:blipFill>
                  <a:blip r:embed="rId4"/>
                  <a:stretch>
                    <a:fillRect t="-1163" b="-465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D810D3-455A-A4E8-0854-F88D32BE7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5740" y="2945894"/>
              <a:ext cx="394765" cy="483106"/>
            </a:xfrm>
            <a:prstGeom prst="straightConnector1">
              <a:avLst/>
            </a:prstGeom>
            <a:ln w="19050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4C4E51-301A-3900-5DD9-FC29E55CC334}"/>
                    </a:ext>
                  </a:extLst>
                </p:cNvPr>
                <p:cNvSpPr txBox="1"/>
                <p:nvPr/>
              </p:nvSpPr>
              <p:spPr>
                <a:xfrm>
                  <a:off x="504477" y="3484905"/>
                  <a:ext cx="5420124" cy="7386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Constantia" panose="02030602050306030303" pitchFamily="18" charset="0"/>
                    </a:rPr>
                    <a:t>Component weights matrix </a:t>
                  </a:r>
                  <a:r>
                    <a:rPr lang="en-US" sz="1400" u="sng" dirty="0">
                      <a:latin typeface="Constantia" panose="02030602050306030303" pitchFamily="18" charset="0"/>
                    </a:rPr>
                    <a:t>chosen</a:t>
                  </a:r>
                  <a:r>
                    <a:rPr lang="en-US" sz="1400" dirty="0">
                      <a:latin typeface="Constantia" panose="02030602050306030303" pitchFamily="18" charset="0"/>
                    </a:rPr>
                    <a:t> by forecaster:</a:t>
                  </a:r>
                </a:p>
                <a:p>
                  <a:endParaRPr lang="en-US" sz="1400" dirty="0">
                    <a:latin typeface="Constantia" panose="02030602050306030303" pitchFamily="18" charset="0"/>
                  </a:endParaRPr>
                </a:p>
                <a:p>
                  <a:r>
                    <a:rPr lang="en-US" sz="1400" dirty="0">
                      <a:latin typeface="Constantia" panose="02030602050306030303" pitchFamily="18" charset="0"/>
                    </a:rPr>
                    <a:t>For example, do PCA on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and use the loadings in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</m:oMath>
                  </a14:m>
                  <a:endParaRPr lang="en-US" sz="14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4C4E51-301A-3900-5DD9-FC29E55CC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477" y="3484905"/>
                  <a:ext cx="5420124" cy="738664"/>
                </a:xfrm>
                <a:prstGeom prst="rect">
                  <a:avLst/>
                </a:prstGeom>
                <a:blipFill>
                  <a:blip r:embed="rId5"/>
                  <a:stretch>
                    <a:fillRect l="-233" t="-1667" b="-8333"/>
                  </a:stretch>
                </a:blipFill>
                <a:ln>
                  <a:solidFill>
                    <a:schemeClr val="tx1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833223-9ADB-DE17-3859-D562E5742DB5}"/>
                    </a:ext>
                  </a:extLst>
                </p:cNvPr>
                <p:cNvSpPr txBox="1"/>
                <p:nvPr/>
              </p:nvSpPr>
              <p:spPr>
                <a:xfrm>
                  <a:off x="4092803" y="1786753"/>
                  <a:ext cx="3186260" cy="140589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2. Forecast components to get component-augmented forecasts 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>
                                            <a:latin typeface="Cambria Math" panose="02040503050406030204" pitchFamily="18" charset="0"/>
                                          </a:rPr>
                                          <m:t>𝐜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 i="0" smtClean="0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sz="1600" dirty="0">
                            <a:latin typeface="Constantia" panose="02030602050306030303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833223-9ADB-DE17-3859-D562E5742D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2803" y="1786753"/>
                  <a:ext cx="3186260" cy="1405898"/>
                </a:xfrm>
                <a:prstGeom prst="rect">
                  <a:avLst/>
                </a:prstGeom>
                <a:blipFill>
                  <a:blip r:embed="rId6"/>
                  <a:stretch>
                    <a:fillRect t="-885" r="-3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3C62F-CC2C-ABDF-DA14-FD8617D056E9}"/>
                    </a:ext>
                  </a:extLst>
                </p:cNvPr>
                <p:cNvSpPr txBox="1"/>
                <p:nvPr/>
              </p:nvSpPr>
              <p:spPr>
                <a:xfrm>
                  <a:off x="8063059" y="1791574"/>
                  <a:ext cx="3607325" cy="14361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3. Project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onto space where constructed constraints apply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 i="0" smtClean="0">
                                            <a:latin typeface="Cambria Math" panose="02040503050406030204" pitchFamily="18" charset="0"/>
                                          </a:rPr>
                                          <m:t>𝐜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3C62F-CC2C-ABDF-DA14-FD8617D05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3059" y="1791574"/>
                  <a:ext cx="3607325" cy="1436162"/>
                </a:xfrm>
                <a:prstGeom prst="rect">
                  <a:avLst/>
                </a:prstGeom>
                <a:blipFill>
                  <a:blip r:embed="rId7"/>
                  <a:stretch>
                    <a:fillRect t="-87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F72548-37A3-C2C6-527D-EE987C5C493F}"/>
                </a:ext>
              </a:extLst>
            </p:cNvPr>
            <p:cNvCxnSpPr>
              <a:cxnSpLocks/>
              <a:stCxn id="9" idx="3"/>
              <a:endCxn id="19" idx="1"/>
            </p:cNvCxnSpPr>
            <p:nvPr/>
          </p:nvCxnSpPr>
          <p:spPr>
            <a:xfrm>
              <a:off x="3308807" y="2476106"/>
              <a:ext cx="7839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C2C67B5-7048-6DE8-F687-FBCCCC419DE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063" y="2477679"/>
              <a:ext cx="7839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4317AB-F2B6-388C-3B6C-2000AC27A8C8}"/>
                  </a:ext>
                </a:extLst>
              </p:cNvPr>
              <p:cNvSpPr txBox="1"/>
              <p:nvPr/>
            </p:nvSpPr>
            <p:spPr>
              <a:xfrm>
                <a:off x="7107809" y="3765752"/>
                <a:ext cx="4571144" cy="1045864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Constantia" panose="02030602050306030303" pitchFamily="18" charset="0"/>
                  </a:rPr>
                  <a:t>Why could this improve forecast accuracy?</a:t>
                </a:r>
              </a:p>
              <a:p>
                <a:endParaRPr lang="en-US" sz="1400" dirty="0">
                  <a:solidFill>
                    <a:schemeClr val="bg1"/>
                  </a:solidFill>
                  <a:latin typeface="Constantia" panose="02030602050306030303" pitchFamily="18" charset="0"/>
                </a:endParaRPr>
              </a:p>
              <a:p>
                <a:r>
                  <a:rPr lang="en-US" sz="1400" dirty="0">
                    <a:solidFill>
                      <a:schemeClr val="bg1"/>
                    </a:solidFill>
                    <a:latin typeface="Constantia" panose="02030602050306030303" pitchFamily="18" charset="0"/>
                  </a:rPr>
                  <a:t>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Constantia" panose="02030602050306030303" pitchFamily="18" charset="0"/>
                  </a:rPr>
                  <a:t> has no new underlying data, the forecasts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Constantia" panose="02030602050306030303" pitchFamily="18" charset="0"/>
                  </a:rPr>
                  <a:t> may capture information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bg1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4317AB-F2B6-388C-3B6C-2000AC27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809" y="3765752"/>
                <a:ext cx="4571144" cy="1045864"/>
              </a:xfrm>
              <a:prstGeom prst="rect">
                <a:avLst/>
              </a:prstGeom>
              <a:blipFill>
                <a:blip r:embed="rId8"/>
                <a:stretch>
                  <a:fillRect l="-276" t="-1190"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0DE60DC-B7C2-44A1-4939-C080A4DFF477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5/21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64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976D7-F827-BB62-197F-3FD45886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327B36C-7ED8-AC17-5D0E-83163C7775D8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Forecasting with Linear Augmented Information Combination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6DB9E3-3422-4BB7-9C96-90F76703D150}"/>
              </a:ext>
            </a:extLst>
          </p:cNvPr>
          <p:cNvGrpSpPr/>
          <p:nvPr/>
        </p:nvGrpSpPr>
        <p:grpSpPr>
          <a:xfrm>
            <a:off x="415915" y="1003189"/>
            <a:ext cx="11350499" cy="875974"/>
            <a:chOff x="451860" y="989384"/>
            <a:chExt cx="11350499" cy="8759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AE53B-6B04-DA68-F880-D4941281E8CA}"/>
                    </a:ext>
                  </a:extLst>
                </p:cNvPr>
                <p:cNvSpPr txBox="1"/>
                <p:nvPr/>
              </p:nvSpPr>
              <p:spPr>
                <a:xfrm>
                  <a:off x="451860" y="1012239"/>
                  <a:ext cx="2759329" cy="85311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1. Create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linear component series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using PCA and forecast them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AE53B-6B04-DA68-F880-D4941281E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860" y="1012239"/>
                  <a:ext cx="2759329" cy="853119"/>
                </a:xfrm>
                <a:prstGeom prst="rect">
                  <a:avLst/>
                </a:prstGeom>
                <a:blipFill>
                  <a:blip r:embed="rId2"/>
                  <a:stretch>
                    <a:fillRect t="-1449" r="-913" b="-434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98298A-259F-76CC-69CE-9937C6ADE023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837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tantia" panose="02030602050306030303" pitchFamily="18" charset="0"/>
                </a:rPr>
                <a:t>2. Apply IComb framework on set of augmented predictors, to get FLAIC coefficient matrix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F61735-E057-C79B-4CD6-BF6D884174AB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204A15-0F7B-AE6E-1714-A22219497B1E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4FFF93-6BCF-AD84-9D58-8721DB143070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tantia" panose="02030602050306030303" pitchFamily="18" charset="0"/>
                </a:rPr>
                <a:t>3. Use obtained coefficients to reconcile base forecast</a:t>
              </a:r>
            </a:p>
          </p:txBody>
        </p:sp>
      </p:grpSp>
      <p:sp>
        <p:nvSpPr>
          <p:cNvPr id="29" name="Freeform 28">
            <a:extLst>
              <a:ext uri="{FF2B5EF4-FFF2-40B4-BE49-F238E27FC236}">
                <a16:creationId xmlns:a16="http://schemas.microsoft.com/office/drawing/2014/main" id="{992D36CD-4688-AC86-0EE7-177900962065}"/>
              </a:ext>
            </a:extLst>
          </p:cNvPr>
          <p:cNvSpPr/>
          <p:nvPr/>
        </p:nvSpPr>
        <p:spPr>
          <a:xfrm>
            <a:off x="74779" y="1531863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8C49-DB49-26CA-8B54-B8FA6245904A}"/>
                  </a:ext>
                </a:extLst>
              </p:cNvPr>
              <p:cNvSpPr txBox="1"/>
              <p:nvPr/>
            </p:nvSpPr>
            <p:spPr>
              <a:xfrm>
                <a:off x="604398" y="2176853"/>
                <a:ext cx="10899130" cy="4251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We use all </a:t>
                </a:r>
                <a:r>
                  <a:rPr lang="en-US" i="1" dirty="0">
                    <a:latin typeface="Constantia" panose="02030602050306030303" pitchFamily="18" charset="0"/>
                  </a:rPr>
                  <a:t>four</a:t>
                </a:r>
                <a:r>
                  <a:rPr lang="en-US" dirty="0">
                    <a:latin typeface="Constantia" panose="02030602050306030303" pitchFamily="18" charset="0"/>
                  </a:rPr>
                  <a:t> PCA specifications.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binary indicators for </a:t>
                </a:r>
                <a:r>
                  <a:rPr lang="en-US" dirty="0" err="1">
                    <a:latin typeface="Constantia" panose="02030602050306030303" pitchFamily="18" charset="0"/>
                  </a:rPr>
                  <a:t>centring</a:t>
                </a:r>
                <a:r>
                  <a:rPr lang="en-US" dirty="0">
                    <a:latin typeface="Constantia" panose="02030602050306030303" pitchFamily="18" charset="0"/>
                  </a:rPr>
                  <a:t> and scaling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Define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dirty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dirty="0"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sub>
                        <m:sup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sup>
                      </m:sSub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    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is diagonal matrix of scaling factors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4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Apply PCA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e>
                        </m:d>
                      </m:sup>
                    </m:sSubSup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construct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components as: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b="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en-US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sup>
                          </m:sSub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9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components,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8C49-DB49-26CA-8B54-B8FA62459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8" y="2176853"/>
                <a:ext cx="10899130" cy="4251036"/>
              </a:xfrm>
              <a:prstGeom prst="rect">
                <a:avLst/>
              </a:prstGeom>
              <a:blipFill>
                <a:blip r:embed="rId3"/>
                <a:stretch>
                  <a:fillRect l="-349" t="-597" b="-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1717CE-5AEF-ED28-49EE-A3D65AD2466B}"/>
                  </a:ext>
                </a:extLst>
              </p:cNvPr>
              <p:cNvSpPr txBox="1"/>
              <p:nvPr/>
            </p:nvSpPr>
            <p:spPr>
              <a:xfrm>
                <a:off x="4003685" y="5577339"/>
                <a:ext cx="103022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𝑃𝐶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𝑠𝑐𝑜𝑟𝑒𝑠</m:t>
                      </m:r>
                    </m:oMath>
                  </m:oMathPara>
                </a14:m>
                <a:endParaRPr lang="en-US" sz="1200" dirty="0">
                  <a:solidFill>
                    <a:srgbClr val="24827F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1717CE-5AEF-ED28-49EE-A3D65AD24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685" y="5577339"/>
                <a:ext cx="1030228" cy="276999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68FC4B-A227-720D-A785-D65EDDE7AAEB}"/>
                  </a:ext>
                </a:extLst>
              </p:cNvPr>
              <p:cNvSpPr txBox="1"/>
              <p:nvPr/>
            </p:nvSpPr>
            <p:spPr>
              <a:xfrm>
                <a:off x="5072056" y="5577339"/>
                <a:ext cx="10302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𝐿𝑜𝑎𝑑𝑖𝑛𝑔𝑠</m:t>
                      </m:r>
                    </m:oMath>
                  </m:oMathPara>
                </a14:m>
                <a:endParaRPr lang="en-US" sz="1200" i="1" dirty="0">
                  <a:solidFill>
                    <a:srgbClr val="24827F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68FC4B-A227-720D-A785-D65EDDE7A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056" y="5577339"/>
                <a:ext cx="1030229" cy="276999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BA94BA-2716-B471-36D9-49D322B7DB70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6/21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1.4.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64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0F52-ABB7-4C8C-0408-40D62A22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29C5B5-A9B4-48E7-0847-405746029C3F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Forecasting with Linear Augmented Information Combination      …</a:t>
            </a:r>
            <a:r>
              <a:rPr lang="en-US" sz="1800" i="1" dirty="0">
                <a:solidFill>
                  <a:srgbClr val="0134FF"/>
                </a:solidFill>
                <a:latin typeface="Constantia" panose="02030602050306030303" pitchFamily="18" charset="0"/>
              </a:rPr>
              <a:t>(cont’d)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91ADFE-31D9-8C54-E916-D5EB8D6B167D}"/>
                  </a:ext>
                </a:extLst>
              </p:cNvPr>
              <p:cNvSpPr txBox="1"/>
              <p:nvPr/>
            </p:nvSpPr>
            <p:spPr>
              <a:xfrm>
                <a:off x="407158" y="899965"/>
                <a:ext cx="10899130" cy="5461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Create an augmented predictor set,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for responses,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200" dirty="0">
                  <a:latin typeface="Constantia" panose="02030602050306030303" pitchFamily="18" charset="0"/>
                </a:endParaRPr>
              </a:p>
              <a:p>
                <a:pPr algn="ctr">
                  <a:buClr>
                    <a:srgbClr val="0134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 </a:t>
                </a:r>
                <a:r>
                  <a:rPr lang="en-US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stacked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</m:acc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</m:acc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𝐳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     with    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	</a:t>
                </a:r>
              </a:p>
              <a:p>
                <a:pPr>
                  <a:buClr>
                    <a:srgbClr val="0134FF"/>
                  </a:buClr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Apply IComb framework, replacing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only:  	 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=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Reconciled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𝐹𝐿𝐴𝐼𝐶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FLAIC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is coherent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Challenges motivate </a:t>
                </a:r>
                <a:r>
                  <a:rPr lang="en-US" dirty="0" err="1">
                    <a:latin typeface="Constantia" panose="02030602050306030303" pitchFamily="18" charset="0"/>
                  </a:rPr>
                  <a:t>regularisation</a:t>
                </a:r>
                <a:endParaRPr lang="en-US" dirty="0">
                  <a:latin typeface="Constantia" panose="02030602050306030303" pitchFamily="18" charset="0"/>
                </a:endParaRPr>
              </a:p>
              <a:p>
                <a:pPr marL="800100" lvl="1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Additional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coefficients to be estimated in each of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regressions</a:t>
                </a:r>
              </a:p>
              <a:p>
                <a:pPr marL="800100" lvl="1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Multicollinearity: augmented predictor set may have highly correlated or redundant signals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onstantia" panose="02030602050306030303" pitchFamily="18" charset="0"/>
                  </a:rPr>
                  <a:t>FLAIC-S:          Ridge (shrinkage) </a:t>
                </a:r>
                <a:r>
                  <a:rPr lang="en-US" sz="1600" dirty="0">
                    <a:latin typeface="Constantia" panose="02030602050306030303" pitchFamily="18" charset="0"/>
                    <a:sym typeface="Wingdings" pitchFamily="2" charset="2"/>
                  </a:rPr>
                  <a:t></a:t>
                </a:r>
                <a:r>
                  <a:rPr lang="en-US" sz="1600" dirty="0">
                    <a:latin typeface="Constantia" panose="02030602050306030303" pitchFamily="18" charset="0"/>
                  </a:rPr>
                  <a:t> dense models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onstantia" panose="02030602050306030303" pitchFamily="18" charset="0"/>
                  </a:rPr>
                  <a:t>FLAIC-L:          Multivariate lasso </a:t>
                </a:r>
                <a:r>
                  <a:rPr lang="en-US" sz="1600" dirty="0">
                    <a:latin typeface="Constantia" panose="02030602050306030303" pitchFamily="18" charset="0"/>
                    <a:sym typeface="Wingdings" pitchFamily="2" charset="2"/>
                  </a:rPr>
                  <a:t></a:t>
                </a:r>
                <a:r>
                  <a:rPr lang="en-US" sz="1600" dirty="0">
                    <a:latin typeface="Constantia" panose="02030602050306030303" pitchFamily="18" charset="0"/>
                  </a:rPr>
                  <a:t> sparse models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19050" indent="-290513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Potential improvement in forecast accuracy:</a:t>
                </a:r>
              </a:p>
              <a:p>
                <a:pPr marL="671513" lvl="1" indent="-346075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600" dirty="0">
                    <a:latin typeface="Constantia" panose="02030602050306030303" pitchFamily="18" charset="0"/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he forecasts,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may capture information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solidFill>
                    <a:schemeClr val="tx1"/>
                  </a:solidFill>
                  <a:latin typeface="Constantia" panose="02030602050306030303" pitchFamily="18" charset="0"/>
                </a:endParaRPr>
              </a:p>
              <a:p>
                <a:pPr marL="671513" lvl="1" indent="-346075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exhibits more forecastable dynamics,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may provide complementary information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91ADFE-31D9-8C54-E916-D5EB8D6B1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8" y="899965"/>
                <a:ext cx="10899130" cy="5461880"/>
              </a:xfrm>
              <a:prstGeom prst="rect">
                <a:avLst/>
              </a:prstGeom>
              <a:blipFill>
                <a:blip r:embed="rId2"/>
                <a:stretch>
                  <a:fillRect l="-466" t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CB0AE41-A580-9A5D-7264-3907E7862BA9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7/21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1.4.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81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F498-EDC6-958C-0899-A59627B3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E0FFDF-F1B6-D4E2-5971-DFD1A42B94F5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2.0 Empirical Investigation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9ECB9-E796-0158-C9BF-0CD4B9E4ABA4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8/21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03164A-8A28-BCA0-4044-6F856FF30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806521"/>
              </p:ext>
            </p:extLst>
          </p:nvPr>
        </p:nvGraphicFramePr>
        <p:xfrm>
          <a:off x="4567810" y="300958"/>
          <a:ext cx="7511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2.1 Data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17C5B4-C336-B5D1-1F3A-EF902DABE949}"/>
                  </a:ext>
                </a:extLst>
              </p:cNvPr>
              <p:cNvSpPr txBox="1"/>
              <p:nvPr/>
            </p:nvSpPr>
            <p:spPr>
              <a:xfrm>
                <a:off x="6832856" y="1047363"/>
                <a:ext cx="5062194" cy="5263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Australian domestic tourism visitor nights </a:t>
                </a:r>
              </a:p>
              <a:p>
                <a:pPr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     (Tourism Research Australia, 2026)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levels: national, states &amp; territories, zones, regions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series,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=77</m:t>
                    </m:r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months: Jan 1998 – Dec 2019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Forecasting this data (and components):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onstantia" panose="02030602050306030303" pitchFamily="18" charset="0"/>
                  </a:rPr>
                  <a:t>120 month rolling windows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onstantia" panose="02030602050306030303" pitchFamily="18" charset="0"/>
                  </a:rPr>
                  <a:t>Error-Trend-Seasonality (ETS) models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0" dirty="0" smtClean="0">
                        <a:latin typeface="Cambria Math" panose="02040503050406030204" pitchFamily="18" charset="0"/>
                      </a:rPr>
                      <m:t>=1,2,…,12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month ahead out-of-sample</a:t>
                </a:r>
              </a:p>
              <a:p>
                <a:pPr lvl="1">
                  <a:lnSpc>
                    <a:spcPts val="2600"/>
                  </a:lnSpc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      </a:t>
                </a:r>
                <a:r>
                  <a:rPr lang="en-US" sz="1400" dirty="0">
                    <a:latin typeface="Constantia" panose="02030602050306030303" pitchFamily="18" charset="0"/>
                  </a:rPr>
                  <a:t>(short-term: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 &amp; long-term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)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144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0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available forecast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originsx</a:t>
                </a:r>
                <a:endParaRPr lang="en-US" sz="16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17C5B4-C336-B5D1-1F3A-EF902DABE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856" y="1047363"/>
                <a:ext cx="5062194" cy="5263942"/>
              </a:xfrm>
              <a:prstGeom prst="rect">
                <a:avLst/>
              </a:prstGeom>
              <a:blipFill>
                <a:blip r:embed="rId2"/>
                <a:stretch>
                  <a:fillRect l="-501" t="-241" b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F4DD052-53C9-550A-AB00-258EF36E308C}"/>
              </a:ext>
            </a:extLst>
          </p:cNvPr>
          <p:cNvSpPr txBox="1"/>
          <p:nvPr/>
        </p:nvSpPr>
        <p:spPr>
          <a:xfrm>
            <a:off x="5782556" y="5393281"/>
            <a:ext cx="9426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Figure.</a:t>
            </a:r>
            <a:r>
              <a:rPr lang="en-US" sz="1100" i="1" dirty="0">
                <a:latin typeface="Constantia" panose="02030602050306030303" pitchFamily="18" charset="0"/>
              </a:rPr>
              <a:t> Australian domestic tourism series and seasonal profiles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49FBE0-27EF-CEE3-6970-07A9DE87F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16" y="747602"/>
            <a:ext cx="5504692" cy="60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8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53880-0D81-2625-BE04-AC7FC896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2723DF7-CE98-2332-142F-5A25AF978A19}"/>
              </a:ext>
            </a:extLst>
          </p:cNvPr>
          <p:cNvSpPr txBox="1">
            <a:spLocks/>
          </p:cNvSpPr>
          <p:nvPr/>
        </p:nvSpPr>
        <p:spPr>
          <a:xfrm>
            <a:off x="47137" y="23763"/>
            <a:ext cx="11667350" cy="90142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Components created for all </a:t>
            </a:r>
          </a:p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four PCA (</a:t>
            </a:r>
            <a:r>
              <a:rPr lang="en-US" sz="28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centre</a:t>
            </a:r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, scale)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1EEDC-8BC4-280D-CD9F-F19BF6FD0BDA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9/21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95BD91-28BC-75FA-3031-6A4D1B03F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42637"/>
              </p:ext>
            </p:extLst>
          </p:nvPr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2.2 Components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6B651F84-999D-A4DD-1EF7-8E4C748FB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9187" y="1010208"/>
            <a:ext cx="5575300" cy="48895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4F2C6E5-8AE3-C670-AF96-8477661AB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512" y="984250"/>
            <a:ext cx="5575300" cy="4889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4B36BB-06D4-318F-AF9C-C8FB9EEB619D}"/>
              </a:ext>
            </a:extLst>
          </p:cNvPr>
          <p:cNvSpPr txBox="1"/>
          <p:nvPr/>
        </p:nvSpPr>
        <p:spPr>
          <a:xfrm>
            <a:off x="6390147" y="5899708"/>
            <a:ext cx="5417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Illustrative patterns from </a:t>
            </a:r>
            <a:r>
              <a:rPr lang="en-US" sz="1100" dirty="0" err="1">
                <a:latin typeface="Constantia" panose="02030602050306030303" pitchFamily="18" charset="0"/>
              </a:rPr>
              <a:t>centred</a:t>
            </a:r>
            <a:r>
              <a:rPr lang="en-US" sz="1100" dirty="0">
                <a:latin typeface="Constantia" panose="02030602050306030303" pitchFamily="18" charset="0"/>
              </a:rPr>
              <a:t>, unscaled PCA using the initial training window. Series are </a:t>
            </a:r>
            <a:r>
              <a:rPr lang="en-US" sz="1100" dirty="0" err="1">
                <a:latin typeface="Constantia" panose="02030602050306030303" pitchFamily="18" charset="0"/>
              </a:rPr>
              <a:t>standardised</a:t>
            </a:r>
            <a:r>
              <a:rPr lang="en-US" sz="1100" dirty="0">
                <a:latin typeface="Constantia" panose="02030602050306030303" pitchFamily="18" charset="0"/>
              </a:rPr>
              <a:t> for visual comparison.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40AD4-BC1A-264B-715C-EDDF55F3129E}"/>
                  </a:ext>
                </a:extLst>
              </p:cNvPr>
              <p:cNvSpPr txBox="1"/>
              <p:nvPr/>
            </p:nvSpPr>
            <p:spPr>
              <a:xfrm>
                <a:off x="305512" y="5899708"/>
                <a:ext cx="541738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Table:</a:t>
                </a:r>
                <a:r>
                  <a:rPr lang="en-US" sz="1100" i="1" dirty="0">
                    <a:latin typeface="Constantia" panose="02030602050306030303" pitchFamily="18" charset="0"/>
                  </a:rPr>
                  <a:t> </a:t>
                </a:r>
                <a:r>
                  <a:rPr lang="en-US" sz="1100" dirty="0">
                    <a:latin typeface="Constantia" panose="02030602050306030303" pitchFamily="18" charset="0"/>
                  </a:rPr>
                  <a:t>Median [2.5th, 97.5th percentiles] across rolling origins. Share denotes percentage of total sum of squares. Seasonal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is from month-of-year regressions.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40AD4-BC1A-264B-715C-EDDF55F31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12" y="5899708"/>
                <a:ext cx="5417382" cy="430887"/>
              </a:xfrm>
              <a:prstGeom prst="rect">
                <a:avLst/>
              </a:prstGeom>
              <a:blipFill>
                <a:blip r:embed="rId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803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70F7-4A6B-96DE-C218-3ABF66C2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71BA222-F8D0-09FF-23E3-BBE64E8AA368}"/>
              </a:ext>
            </a:extLst>
          </p:cNvPr>
          <p:cNvSpPr txBox="1">
            <a:spLocks/>
          </p:cNvSpPr>
          <p:nvPr/>
        </p:nvSpPr>
        <p:spPr>
          <a:xfrm>
            <a:off x="141401" y="48946"/>
            <a:ext cx="11736371" cy="774296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Each rolling training window: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B0B22-A819-419E-0E4C-0AE287C04D5B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10/21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FAB33F-618F-19D8-BDB4-1A34E0008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727539"/>
              </p:ext>
            </p:extLst>
          </p:nvPr>
        </p:nvGraphicFramePr>
        <p:xfrm>
          <a:off x="4633799" y="33368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97BCC-580E-F540-36BA-F5DEFBA8389F}"/>
                  </a:ext>
                </a:extLst>
              </p:cNvPr>
              <p:cNvSpPr txBox="1"/>
              <p:nvPr/>
            </p:nvSpPr>
            <p:spPr>
              <a:xfrm>
                <a:off x="407158" y="871684"/>
                <a:ext cx="10899130" cy="590161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Conventional method reconciliation: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𝐵𝑈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𝑂𝐿𝑆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𝑊𝐿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𝑊𝐿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𝑠h𝑟</m:t>
                        </m:r>
                      </m:sub>
                    </m:sSub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IComb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Ridge (IComb-S) and lasso (IComb-L) </a:t>
                </a:r>
                <a:r>
                  <a:rPr lang="en-US" dirty="0" err="1">
                    <a:latin typeface="Constantia" panose="02030602050306030303" pitchFamily="18" charset="0"/>
                  </a:rPr>
                  <a:t>regularisation</a:t>
                </a:r>
                <a:r>
                  <a:rPr lang="en-US" dirty="0">
                    <a:latin typeface="Constantia" panose="02030602050306030303" pitchFamily="18" charset="0"/>
                  </a:rPr>
                  <a:t> approaches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IComb variant</a:t>
                </a:r>
              </a:p>
              <a:p>
                <a:pPr marL="1200150" lvl="2" indent="-28575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Constantia" panose="02030602050306030303" pitchFamily="18" charset="0"/>
                  </a:rPr>
                  <a:t>X</a:t>
                </a:r>
                <a:r>
                  <a:rPr lang="en-US" sz="1600" dirty="0">
                    <a:latin typeface="Constantia" panose="02030602050306030303" pitchFamily="18" charset="0"/>
                  </a:rPr>
                  <a:t> and </a:t>
                </a:r>
                <a:r>
                  <a:rPr lang="en-US" sz="1600" b="1" dirty="0">
                    <a:latin typeface="Constantia" panose="02030602050306030303" pitchFamily="18" charset="0"/>
                  </a:rPr>
                  <a:t>Y</a:t>
                </a:r>
                <a:r>
                  <a:rPr lang="en-US" sz="1600" dirty="0">
                    <a:latin typeface="Constantia" panose="02030602050306030303" pitchFamily="18" charset="0"/>
                  </a:rPr>
                  <a:t> are standardized: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dirty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dirty="0" smtClean="0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1600" b="1" i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dirty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acc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dirty="0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bSup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Tuning parameter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 selected based on expanding window cross-validation</a:t>
                </a:r>
              </a:p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Grid size = 200</a:t>
                </a:r>
              </a:p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Inner window’s validation set size = 40</a:t>
                </a:r>
              </a:p>
              <a:p>
                <a:pPr marL="1257300" lvl="2" indent="-342900"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minimises</a:t>
                </a:r>
                <a:r>
                  <a:rPr lang="en-US" sz="1600" dirty="0">
                    <a:latin typeface="Constantia" panose="02030602050306030303" pitchFamily="18" charset="0"/>
                  </a:rPr>
                  <a:t> mean squared forecast error of validation set</a:t>
                </a:r>
              </a:p>
              <a:p>
                <a:pPr marL="742950" lvl="1" indent="-285750"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FLAIC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64 variants:</a:t>
                </a:r>
              </a:p>
              <a:p>
                <a:pPr lvl="1" algn="ctr">
                  <a:lnSpc>
                    <a:spcPts val="2600"/>
                  </a:lnSpc>
                  <a:buClr>
                    <a:srgbClr val="0134FF"/>
                  </a:buClr>
                </a:pP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PCA specifications   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1,2,3,5,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10,20,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40,77</m:t>
                        </m:r>
                      </m:e>
                    </m:d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 {FLAIC-S, FLAIC-L}</a:t>
                </a:r>
              </a:p>
              <a:p>
                <a:pPr lvl="1" algn="ctr">
                  <a:lnSpc>
                    <a:spcPts val="2600"/>
                  </a:lnSpc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Component augmented predictor set in IComb with:</a:t>
                </a:r>
              </a:p>
              <a:p>
                <a:pPr marL="1257300" lvl="2" indent="-342900">
                  <a:lnSpc>
                    <a:spcPts val="260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Constantia" panose="02030602050306030303" pitchFamily="18" charset="0"/>
                  </a:rPr>
                  <a:t>Z</a:t>
                </a:r>
                <a:r>
                  <a:rPr lang="en-US" sz="1600" dirty="0">
                    <a:latin typeface="Constantia" panose="02030602050306030303" pitchFamily="18" charset="0"/>
                  </a:rPr>
                  <a:t> and </a:t>
                </a:r>
                <a:r>
                  <a:rPr lang="en-US" sz="1600" b="1" dirty="0">
                    <a:latin typeface="Constantia" panose="02030602050306030303" pitchFamily="18" charset="0"/>
                  </a:rPr>
                  <a:t>Y</a:t>
                </a:r>
                <a:r>
                  <a:rPr lang="en-US" sz="1600" dirty="0">
                    <a:latin typeface="Constantia" panose="02030602050306030303" pitchFamily="18" charset="0"/>
                  </a:rPr>
                  <a:t> are standardized; intercept included and not regularized</a:t>
                </a:r>
              </a:p>
              <a:p>
                <a:pPr marL="1257300" lvl="2" indent="-342900"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Tuning parameter (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) selected based on expanding window cross-validation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97BCC-580E-F540-36BA-F5DEFBA83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8" y="871684"/>
                <a:ext cx="10899130" cy="5901616"/>
              </a:xfrm>
              <a:prstGeom prst="rect">
                <a:avLst/>
              </a:prstGeom>
              <a:blipFill>
                <a:blip r:embed="rId2"/>
                <a:stretch>
                  <a:fillRect l="-466" t="-42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99EB8-4D4D-7FE5-2858-341CB74077CE}"/>
              </a:ext>
            </a:extLst>
          </p:cNvPr>
          <p:cNvGrpSpPr/>
          <p:nvPr/>
        </p:nvGrpSpPr>
        <p:grpSpPr>
          <a:xfrm>
            <a:off x="5006957" y="5384273"/>
            <a:ext cx="2364804" cy="427828"/>
            <a:chOff x="5006957" y="5384273"/>
            <a:chExt cx="2364804" cy="427828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43D7AAB7-659E-EEDB-AA1D-BB17F39C8853}"/>
                </a:ext>
              </a:extLst>
            </p:cNvPr>
            <p:cNvSpPr/>
            <p:nvPr/>
          </p:nvSpPr>
          <p:spPr>
            <a:xfrm rot="16200000">
              <a:off x="5427803" y="5198881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097743B4-2743-139F-9C0A-A2671CB4699A}"/>
                </a:ext>
              </a:extLst>
            </p:cNvPr>
            <p:cNvSpPr/>
            <p:nvPr/>
          </p:nvSpPr>
          <p:spPr>
            <a:xfrm rot="16200000">
              <a:off x="6164667" y="5191024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CA557F8C-2222-C489-47F0-46480A23F4DB}"/>
                </a:ext>
              </a:extLst>
            </p:cNvPr>
            <p:cNvSpPr/>
            <p:nvPr/>
          </p:nvSpPr>
          <p:spPr>
            <a:xfrm rot="16200000">
              <a:off x="6892102" y="5192596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82D0556-C352-63DF-5C4C-B43D687F08EC}"/>
                    </a:ext>
                  </a:extLst>
                </p:cNvPr>
                <p:cNvSpPr txBox="1"/>
                <p:nvPr/>
              </p:nvSpPr>
              <p:spPr>
                <a:xfrm>
                  <a:off x="5006957" y="5535102"/>
                  <a:ext cx="236480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:r>
                    <a:rPr lang="en-US" sz="1200" b="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low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moderate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high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82D0556-C352-63DF-5C4C-B43D687F0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957" y="5535102"/>
                  <a:ext cx="2364804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761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FD04-0C33-4E04-F3E2-B146AFAE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6CCEF8-E405-8326-A73F-F9677F0CEB74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61093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2.4.1   PRIAL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6ABDC-3ED0-AB16-7079-C0CBAE646CC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11/21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638CF4-916E-3F6F-36CD-0543A2F0D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41912"/>
              </p:ext>
            </p:extLst>
          </p:nvPr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DBD6F-904F-DC86-DA71-AF17E5B57348}"/>
                  </a:ext>
                </a:extLst>
              </p:cNvPr>
              <p:cNvSpPr txBox="1"/>
              <p:nvPr/>
            </p:nvSpPr>
            <p:spPr>
              <a:xfrm>
                <a:off x="444865" y="701052"/>
                <a:ext cx="10899130" cy="473200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performance measure: percentage relative improvement in average loss (PRIAL) </a:t>
                </a:r>
                <a:r>
                  <a:rPr lang="en-US" sz="1400" dirty="0">
                    <a:latin typeface="Constantia" panose="02030602050306030303" pitchFamily="18" charset="0"/>
                  </a:rPr>
                  <a:t>(Nguyen et al., 2025)</a:t>
                </a:r>
                <a:r>
                  <a:rPr lang="en-US" dirty="0">
                    <a:latin typeface="Constantia" panose="02030602050306030303" pitchFamily="18" charset="0"/>
                  </a:rPr>
                  <a:t>: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index method. MSFE computed over all series (Average) and rolling forecast origins.</a:t>
                </a:r>
                <a:endParaRPr lang="en-US" sz="12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400" dirty="0">
                  <a:latin typeface="Constantia" panose="02030602050306030303" pitchFamily="18" charset="0"/>
                </a:endParaRPr>
              </a:p>
              <a:p>
                <a:pPr>
                  <a:lnSpc>
                    <a:spcPts val="266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RIAL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Key findings: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Best </a:t>
                </a:r>
                <a:r>
                  <a:rPr lang="en-US" i="1" dirty="0">
                    <a:latin typeface="Constantia" panose="02030602050306030303" pitchFamily="18" charset="0"/>
                  </a:rPr>
                  <a:t>overall</a:t>
                </a:r>
                <a:r>
                  <a:rPr lang="en-US" dirty="0">
                    <a:latin typeface="Constantia" panose="02030602050306030303" pitchFamily="18" charset="0"/>
                  </a:rPr>
                  <a:t>: FLAIC-L</a:t>
                </a:r>
              </a:p>
              <a:p>
                <a:pPr marL="1200150" lvl="2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Earlier horizons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 </a:t>
                </a:r>
                <a:r>
                  <a:rPr lang="en-US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dirty="0">
                    <a:latin typeface="Constantia" panose="02030602050306030303" pitchFamily="18" charset="0"/>
                  </a:rPr>
                  <a:t>, unscaled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</a:t>
                </a:r>
              </a:p>
              <a:p>
                <a:pPr marL="1200150" lvl="2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Later horizons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 </a:t>
                </a:r>
                <a:r>
                  <a:rPr lang="en-US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dirty="0">
                    <a:latin typeface="Constantia" panose="02030602050306030303" pitchFamily="18" charset="0"/>
                  </a:rPr>
                  <a:t>, scaled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Best FLAIC-S has similar PCA specification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as FLAIC-L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Does not necessarily indicate component augmentation more effective under lasso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lnSpc>
                    <a:spcPts val="2600"/>
                  </a:lnSpc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PRIAL for long-term period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DBD6F-904F-DC86-DA71-AF17E5B57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65" y="701052"/>
                <a:ext cx="10899130" cy="4732001"/>
              </a:xfrm>
              <a:prstGeom prst="rect">
                <a:avLst/>
              </a:prstGeom>
              <a:blipFill>
                <a:blip r:embed="rId2"/>
                <a:stretch>
                  <a:fillRect l="-466" t="-536" b="-134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3DF883-3676-DFB8-6AFE-8DCE28B68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08121"/>
              </p:ext>
            </p:extLst>
          </p:nvPr>
        </p:nvGraphicFramePr>
        <p:xfrm>
          <a:off x="4633799" y="4945000"/>
          <a:ext cx="6480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305092787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78827463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70448095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47782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latin typeface="Constantia" panose="02030602050306030303" pitchFamily="18" charset="0"/>
                        </a:rPr>
                        <a:t>Regularisation/Method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IComb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FLAIC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66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-4.65%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-5.82%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1.17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28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Lasso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-6.25%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-6.67%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0.42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8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1.6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0.85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3622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56127DF-8D5D-25C2-29B8-D8D4C8058676}"/>
              </a:ext>
            </a:extLst>
          </p:cNvPr>
          <p:cNvSpPr txBox="1"/>
          <p:nvPr/>
        </p:nvSpPr>
        <p:spPr>
          <a:xfrm>
            <a:off x="763569" y="5512258"/>
            <a:ext cx="341250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Constantia" panose="02030602050306030303" pitchFamily="18" charset="0"/>
              </a:rPr>
              <a:t>* Best</a:t>
            </a:r>
            <a:r>
              <a:rPr lang="en-US" sz="1400" b="1" i="1" dirty="0">
                <a:latin typeface="Constantia" panose="02030602050306030303" pitchFamily="18" charset="0"/>
              </a:rPr>
              <a:t> </a:t>
            </a:r>
            <a:r>
              <a:rPr lang="en-US" sz="1400" i="1" dirty="0">
                <a:latin typeface="Constantia" panose="02030602050306030303" pitchFamily="18" charset="0"/>
              </a:rPr>
              <a:t>FLAIC-L:</a:t>
            </a:r>
            <a:r>
              <a:rPr lang="en-US" sz="1400" dirty="0">
                <a:latin typeface="Constantia" panose="02030602050306030303" pitchFamily="18" charset="0"/>
              </a:rPr>
              <a:t> </a:t>
            </a:r>
            <a:r>
              <a:rPr lang="en-US" sz="1400" dirty="0" err="1">
                <a:latin typeface="Constantia" panose="02030602050306030303" pitchFamily="18" charset="0"/>
              </a:rPr>
              <a:t>centred</a:t>
            </a:r>
            <a:r>
              <a:rPr lang="en-US" sz="1400" dirty="0">
                <a:latin typeface="Constantia" panose="02030602050306030303" pitchFamily="18" charset="0"/>
              </a:rPr>
              <a:t>, unscaled, p=5</a:t>
            </a:r>
            <a:r>
              <a:rPr lang="en-US" sz="1400" i="1" dirty="0">
                <a:latin typeface="Constantia" panose="02030602050306030303" pitchFamily="18" charset="0"/>
              </a:rPr>
              <a:t> </a:t>
            </a:r>
          </a:p>
          <a:p>
            <a:r>
              <a:rPr lang="en-US" sz="1400" i="1" dirty="0">
                <a:latin typeface="Constantia" panose="02030602050306030303" pitchFamily="18" charset="0"/>
              </a:rPr>
              <a:t>* Best FLAIC-S: </a:t>
            </a:r>
            <a:r>
              <a:rPr lang="en-US" sz="1400" dirty="0" err="1">
                <a:latin typeface="Constantia" panose="02030602050306030303" pitchFamily="18" charset="0"/>
              </a:rPr>
              <a:t>centred</a:t>
            </a:r>
            <a:r>
              <a:rPr lang="en-US" sz="1400" dirty="0">
                <a:latin typeface="Constantia" panose="02030602050306030303" pitchFamily="18" charset="0"/>
              </a:rPr>
              <a:t>, scaled, p=10</a:t>
            </a:r>
            <a:endParaRPr lang="en-US" sz="1400" i="1" dirty="0">
              <a:latin typeface="Constantia" panose="02030602050306030303" pitchFamily="18" charset="0"/>
            </a:endParaRPr>
          </a:p>
          <a:p>
            <a:endParaRPr lang="en-US" sz="1100" i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7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2CD6D-618A-CE9D-96D1-C81AA691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4623203-A310-048A-81CD-F3DFE4A3F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6109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2.4.2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4623203-A310-048A-81CD-F3DFE4A3F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610930"/>
              </a:xfrm>
              <a:prstGeom prst="rect">
                <a:avLst/>
              </a:prstGeom>
              <a:blipFill>
                <a:blip r:embed="rId2"/>
                <a:stretch>
                  <a:fillRect l="-1197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97008E-5C9A-EFD8-3314-3B9EA99E5438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12/21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3A7009-2C89-A8CA-E614-154745487328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41308-5CA8-F789-6EC8-F9881CBEEBE2}"/>
                  </a:ext>
                </a:extLst>
              </p:cNvPr>
              <p:cNvSpPr txBox="1"/>
              <p:nvPr/>
            </p:nvSpPr>
            <p:spPr>
              <a:xfrm>
                <a:off x="8201323" y="879969"/>
                <a:ext cx="3783286" cy="48289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When does component augmentation improve upon IComb?</a:t>
                </a:r>
              </a:p>
              <a:p>
                <a:pPr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IComb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FLAIC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400" b="0" i="0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IComb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FLAIC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0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m:rPr>
                        <m:sty m:val="p"/>
                      </m:rP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FLAIC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better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Findings: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Effects of component augmentation depends 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400" dirty="0">
                  <a:latin typeface="Constantia" panose="02030602050306030303" pitchFamily="18" charset="0"/>
                </a:endParaRP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Component augmentation generally more effective for ridge than lasso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Direction of relative performance often maintained across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14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41308-5CA8-F789-6EC8-F9881CBEE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879969"/>
                <a:ext cx="3783286" cy="4828951"/>
              </a:xfrm>
              <a:prstGeom prst="rect">
                <a:avLst/>
              </a:prstGeom>
              <a:blipFill>
                <a:blip r:embed="rId3"/>
                <a:stretch>
                  <a:fillRect l="-669" t="-525" r="-2007" b="-52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91C4BE75-FBD9-D36F-5F1F-D473299E1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2" y="839050"/>
            <a:ext cx="7956223" cy="51798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D19063-791F-AFA4-A5D3-E7EFBF2F516B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82587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IComb: Average across 112 hierarchy series. FLAIC-S and FLAIC-L are compared against matching IComb-S and IComb-L.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D19063-791F-AFA4-A5D3-E7EFBF2F5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825875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37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FAB6-510D-AD1D-59DC-7320001A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2987D1E-A571-E04C-8C44-1F568F1EA9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733" y="215330"/>
                <a:ext cx="11667350" cy="6109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</a:t>
                </a:r>
                <a:r>
                  <a:rPr lang="en-US" sz="20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(decomposed)</a:t>
                </a:r>
                <a:endParaRPr lang="en-US" sz="2800" i="1" dirty="0">
                  <a:solidFill>
                    <a:srgbClr val="0134FF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2987D1E-A571-E04C-8C44-1F568F1E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33" y="215330"/>
                <a:ext cx="11667350" cy="610930"/>
              </a:xfrm>
              <a:prstGeom prst="rect">
                <a:avLst/>
              </a:prstGeom>
              <a:blipFill>
                <a:blip r:embed="rId3"/>
                <a:stretch>
                  <a:fillRect l="-1197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8DF3EA-B290-4838-5D75-FD9DD5295C08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13/21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2F108-08E4-90AD-8FB1-C0CD6C6842F5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A383B8-E88B-027C-57A4-B9C69DABD854}"/>
                  </a:ext>
                </a:extLst>
              </p:cNvPr>
              <p:cNvSpPr txBox="1"/>
              <p:nvPr/>
            </p:nvSpPr>
            <p:spPr>
              <a:xfrm>
                <a:off x="444865" y="719714"/>
                <a:ext cx="10899130" cy="535608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PRIAL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depends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MSFE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.</a:t>
                </a: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˜"/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Therefore, </a:t>
                </a:r>
                <a:r>
                  <a:rPr lang="en-US" i="1" dirty="0">
                    <a:latin typeface="Constantia" panose="02030602050306030303" pitchFamily="18" charset="0"/>
                  </a:rPr>
                  <a:t>after averaging across series</a:t>
                </a:r>
                <a:r>
                  <a:rPr lang="en-US" dirty="0">
                    <a:latin typeface="Constantia" panose="02030602050306030303" pitchFamily="18" charset="0"/>
                  </a:rPr>
                  <a:t>:</a:t>
                </a:r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IComb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FLAIC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dirty="0">
                          <a:latin typeface="Cambria Math" panose="02040503050406030204" pitchFamily="18" charset="0"/>
                        </a:rPr>
                        <m:t> × 100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                    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IComb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FLAIC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We can also first average squared errors across rolling window origins, then compare for series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Natural series grouping by levels </a:t>
                </a:r>
                <a:r>
                  <a:rPr lang="en-US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(2.4.5)</a:t>
                </a:r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A383B8-E88B-027C-57A4-B9C69DABD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65" y="719714"/>
                <a:ext cx="10899130" cy="5356082"/>
              </a:xfrm>
              <a:prstGeom prst="rect">
                <a:avLst/>
              </a:prstGeom>
              <a:blipFill>
                <a:blip r:embed="rId4"/>
                <a:stretch>
                  <a:fillRect l="-349" t="-10638" b="-94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324B74C-7CCF-28C7-1D07-4B9CFBEE7568}"/>
              </a:ext>
            </a:extLst>
          </p:cNvPr>
          <p:cNvGrpSpPr/>
          <p:nvPr/>
        </p:nvGrpSpPr>
        <p:grpSpPr>
          <a:xfrm>
            <a:off x="864877" y="3175328"/>
            <a:ext cx="11173152" cy="1674949"/>
            <a:chOff x="848005" y="2614248"/>
            <a:chExt cx="11173152" cy="16749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E9A925-114A-444D-12F6-6729844D4918}"/>
                </a:ext>
              </a:extLst>
            </p:cNvPr>
            <p:cNvSpPr/>
            <p:nvPr/>
          </p:nvSpPr>
          <p:spPr>
            <a:xfrm>
              <a:off x="5799260" y="3142476"/>
              <a:ext cx="2557600" cy="86443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5672B84-6246-4300-5E5E-D115A56897F7}"/>
                </a:ext>
              </a:extLst>
            </p:cNvPr>
            <p:cNvSpPr/>
            <p:nvPr/>
          </p:nvSpPr>
          <p:spPr>
            <a:xfrm>
              <a:off x="3648173" y="3817857"/>
              <a:ext cx="2083324" cy="471340"/>
            </a:xfrm>
            <a:custGeom>
              <a:avLst/>
              <a:gdLst>
                <a:gd name="csX0" fmla="*/ 1630837 w 1630837"/>
                <a:gd name="csY0" fmla="*/ 226243 h 785673"/>
                <a:gd name="csX1" fmla="*/ 1140643 w 1630837"/>
                <a:gd name="csY1" fmla="*/ 782424 h 785673"/>
                <a:gd name="csX2" fmla="*/ 0 w 1630837"/>
                <a:gd name="csY2" fmla="*/ 0 h 785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30837" h="785673">
                  <a:moveTo>
                    <a:pt x="1630837" y="226243"/>
                  </a:moveTo>
                  <a:cubicBezTo>
                    <a:pt x="1521643" y="523187"/>
                    <a:pt x="1412449" y="820131"/>
                    <a:pt x="1140643" y="782424"/>
                  </a:cubicBezTo>
                  <a:cubicBezTo>
                    <a:pt x="868837" y="744717"/>
                    <a:pt x="434418" y="372358"/>
                    <a:pt x="0" y="0"/>
                  </a:cubicBezTo>
                </a:path>
              </a:pathLst>
            </a:custGeom>
            <a:noFill/>
            <a:ln w="28575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24896F-61A0-C943-51E2-46BE95E2A705}"/>
                    </a:ext>
                  </a:extLst>
                </p:cNvPr>
                <p:cNvSpPr txBox="1"/>
                <p:nvPr/>
              </p:nvSpPr>
              <p:spPr>
                <a:xfrm>
                  <a:off x="848005" y="3276917"/>
                  <a:ext cx="3091990" cy="8725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/>
                    <a:t> </a:t>
                  </a:r>
                  <a:r>
                    <a:rPr lang="en-US" sz="1600" dirty="0">
                      <a:latin typeface="Constantia" panose="02030602050306030303" pitchFamily="18" charset="0"/>
                    </a:rPr>
                    <a:t>origin-level contributions to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dirty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dirty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a14:m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/>
                  <a:r>
                    <a:rPr lang="en-US" sz="1500" dirty="0">
                      <a:latin typeface="Constantia" panose="02030602050306030303" pitchFamily="18" charset="0"/>
                    </a:rPr>
                    <a:t>(magnitudes across origins)</a:t>
                  </a:r>
                  <a:r>
                    <a:rPr lang="en-US" sz="1600" dirty="0">
                      <a:latin typeface="Constantia" panose="02030602050306030303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724896F-61A0-C943-51E2-46BE95E2A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005" y="3276917"/>
                  <a:ext cx="3091990" cy="872547"/>
                </a:xfrm>
                <a:prstGeom prst="rect">
                  <a:avLst/>
                </a:prstGeom>
                <a:blipFill>
                  <a:blip r:embed="rId5"/>
                  <a:stretch>
                    <a:fillRect l="-1230" t="-2857" b="-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18A3219-0F0B-539F-B85A-7572D3789324}"/>
                    </a:ext>
                  </a:extLst>
                </p:cNvPr>
                <p:cNvSpPr txBox="1"/>
                <p:nvPr/>
              </p:nvSpPr>
              <p:spPr>
                <a:xfrm>
                  <a:off x="8882032" y="2614248"/>
                  <a:ext cx="3139125" cy="12926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:r>
                    <a:rPr lang="en-US" sz="1600" dirty="0">
                      <a:latin typeface="Constantia" panose="02030602050306030303" pitchFamily="18" charset="0"/>
                    </a:rPr>
                    <a:t>Origin-level loss difference </a:t>
                  </a:r>
                  <a14:m>
                    <m:oMath xmlns:m="http://schemas.openxmlformats.org/officeDocument/2006/math">
                      <m:r>
                        <a:rPr lang="en-US" sz="1600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/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FLAIC better for that origin</a:t>
                  </a:r>
                </a:p>
                <a:p>
                  <a:pPr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/>
                  <a:r>
                    <a:rPr lang="en-US" sz="1500" i="1" dirty="0">
                      <a:latin typeface="Constantia" panose="02030602050306030303" pitchFamily="18" charset="0"/>
                    </a:rPr>
                    <a:t>Statistic:</a:t>
                  </a:r>
                  <a:r>
                    <a:rPr lang="en-US" sz="1500" dirty="0">
                      <a:latin typeface="Constantia" panose="02030602050306030303" pitchFamily="18" charset="0"/>
                    </a:rPr>
                    <a:t> % origins FLAIC better</a:t>
                  </a:r>
                </a:p>
                <a:p>
                  <a:pPr/>
                  <a:r>
                    <a:rPr lang="en-US" sz="1500" dirty="0">
                      <a:latin typeface="Constantia" panose="02030602050306030303" pitchFamily="18" charset="0"/>
                    </a:rPr>
                    <a:t>&gt;50% </a:t>
                  </a:r>
                  <a14:m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US" sz="1500" dirty="0">
                      <a:latin typeface="Constantia" panose="02030602050306030303" pitchFamily="18" charset="0"/>
                    </a:rPr>
                    <a:t> FLAIC better more origins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18A3219-0F0B-539F-B85A-7572D3789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2032" y="2614248"/>
                  <a:ext cx="3139125" cy="1292662"/>
                </a:xfrm>
                <a:prstGeom prst="rect">
                  <a:avLst/>
                </a:prstGeom>
                <a:blipFill>
                  <a:blip r:embed="rId6"/>
                  <a:stretch>
                    <a:fillRect l="-803" t="-1961" b="-490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D8998E4-ED65-557B-3154-7DF1C93C4283}"/>
                </a:ext>
              </a:extLst>
            </p:cNvPr>
            <p:cNvSpPr/>
            <p:nvPr/>
          </p:nvSpPr>
          <p:spPr>
            <a:xfrm rot="9794420">
              <a:off x="7280556" y="2886410"/>
              <a:ext cx="1664736" cy="243103"/>
            </a:xfrm>
            <a:custGeom>
              <a:avLst/>
              <a:gdLst>
                <a:gd name="csX0" fmla="*/ 1630837 w 1630837"/>
                <a:gd name="csY0" fmla="*/ 226243 h 785673"/>
                <a:gd name="csX1" fmla="*/ 1140643 w 1630837"/>
                <a:gd name="csY1" fmla="*/ 782424 h 785673"/>
                <a:gd name="csX2" fmla="*/ 0 w 1630837"/>
                <a:gd name="csY2" fmla="*/ 0 h 785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30837" h="785673">
                  <a:moveTo>
                    <a:pt x="1630837" y="226243"/>
                  </a:moveTo>
                  <a:cubicBezTo>
                    <a:pt x="1521643" y="523187"/>
                    <a:pt x="1412449" y="820131"/>
                    <a:pt x="1140643" y="782424"/>
                  </a:cubicBezTo>
                  <a:cubicBezTo>
                    <a:pt x="868837" y="744717"/>
                    <a:pt x="434418" y="372358"/>
                    <a:pt x="0" y="0"/>
                  </a:cubicBezTo>
                </a:path>
              </a:pathLst>
            </a:custGeom>
            <a:noFill/>
            <a:ln w="28575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CFA99F4-2CCD-9AD1-2AB1-B3DF5BCADF5D}"/>
              </a:ext>
            </a:extLst>
          </p:cNvPr>
          <p:cNvSpPr txBox="1"/>
          <p:nvPr/>
        </p:nvSpPr>
        <p:spPr>
          <a:xfrm>
            <a:off x="8584180" y="2888343"/>
            <a:ext cx="861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134FF"/>
                </a:solidFill>
                <a:latin typeface="Constantia" panose="02030602050306030303" pitchFamily="18" charset="0"/>
              </a:rPr>
              <a:t>(2.4.3)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2055B2-9EE4-1C16-A973-ABC4EC7295C0}"/>
              </a:ext>
            </a:extLst>
          </p:cNvPr>
          <p:cNvSpPr txBox="1"/>
          <p:nvPr/>
        </p:nvSpPr>
        <p:spPr>
          <a:xfrm>
            <a:off x="453319" y="3593493"/>
            <a:ext cx="907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134FF"/>
                </a:solidFill>
                <a:latin typeface="Constantia" panose="02030602050306030303" pitchFamily="18" charset="0"/>
              </a:rPr>
              <a:t>(2.4.4)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340F-1C50-8173-13BB-13ED2DDC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DBCCE8C-2A5A-CBAD-45CA-7A040DB64F6C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2.4.3  Rolling forecast origin</a:t>
            </a:r>
          </a:p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          wins (FLAIC v IComb)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18FFF-3DA4-124F-02E6-A555F7AFB2A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14/21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9F91C4-E7A2-0584-A367-2EFB881F50BB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4F8A7D-0514-99E5-D3EE-9886E76D34B4}"/>
                  </a:ext>
                </a:extLst>
              </p:cNvPr>
              <p:cNvSpPr txBox="1"/>
              <p:nvPr/>
            </p:nvSpPr>
            <p:spPr>
              <a:xfrm>
                <a:off x="8201322" y="879969"/>
                <a:ext cx="3877551" cy="506933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Agrees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</a:rPr>
                          <m:t>PRIAL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findings</a:t>
                </a:r>
              </a:p>
              <a:p>
                <a:pPr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0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Comparison by cell for both heatmaps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ΔPRIAL</m:t>
                    </m:r>
                  </m:oMath>
                </a14:m>
                <a:r>
                  <a:rPr lang="en-US" sz="1500" dirty="0">
                    <a:latin typeface="Constantia" panose="02030602050306030303" pitchFamily="18" charset="0"/>
                  </a:rPr>
                  <a:t> and FLAIC wins match 74.2% (FLAIC-S) and 66.9% (FLAIC-L)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500" dirty="0">
                    <a:latin typeface="Constantia" panose="02030602050306030303" pitchFamily="18" charset="0"/>
                  </a:rPr>
                  <a:t>Most differences arise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500" dirty="0">
                    <a:latin typeface="Constantia" panose="02030602050306030303" pitchFamily="18" charset="0"/>
                  </a:rPr>
                  <a:t>, but FLAIC wins &gt; 50%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We consider magnitudes by origin for two cases under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: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b="1" dirty="0">
                    <a:latin typeface="Constantia" panose="02030602050306030303" pitchFamily="18" charset="0"/>
                  </a:rPr>
                  <a:t>A:</a:t>
                </a:r>
                <a:r>
                  <a:rPr lang="en-US" sz="1400" dirty="0">
                    <a:latin typeface="Constantia" panose="02030602050306030303" pitchFamily="18" charset="0"/>
                  </a:rPr>
                  <a:t> FLAIC-S, </a:t>
                </a:r>
                <a:r>
                  <a:rPr lang="en-US" sz="14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400" dirty="0">
                    <a:latin typeface="Constantia" panose="02030602050306030303" pitchFamily="18" charset="0"/>
                  </a:rPr>
                  <a:t>, unscaled,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=1.2</m:t>
                    </m:r>
                    <m:r>
                      <m:rPr>
                        <m:sty m:val="p"/>
                      </m:rPr>
                      <a:rPr lang="en-US" sz="1400" b="0" i="0" dirty="0" smtClean="0">
                        <a:latin typeface="Cambria Math" panose="02040503050406030204" pitchFamily="18" charset="0"/>
                      </a:rPr>
                      <m:t>pp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FLAIC wins = 58%)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b="1" dirty="0">
                    <a:latin typeface="Constantia" panose="02030602050306030303" pitchFamily="18" charset="0"/>
                  </a:rPr>
                  <a:t>B:</a:t>
                </a:r>
                <a:r>
                  <a:rPr lang="en-US" sz="1400" dirty="0">
                    <a:latin typeface="Constantia" panose="02030602050306030303" pitchFamily="18" charset="0"/>
                  </a:rPr>
                  <a:t> FLAIC-L, centred, scaled,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1400" b="0" dirty="0">
                  <a:latin typeface="Constantia" panose="02030602050306030303" pitchFamily="18" charset="0"/>
                </a:endParaRPr>
              </a:p>
              <a:p>
                <a:pPr marL="269875" lvl="1">
                  <a:lnSpc>
                    <a:spcPts val="2660"/>
                  </a:lnSpc>
                  <a:buClr>
                    <a:srgbClr val="0134FF"/>
                  </a:buClr>
                </a:pPr>
                <a:r>
                  <a:rPr lang="en-US" sz="1400" dirty="0">
                    <a:latin typeface="Constantia" panose="02030602050306030303" pitchFamily="18" charset="0"/>
                  </a:rPr>
                  <a:t> 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</a:rPr>
                      <m:t>pp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FLAIC wins = 53%)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4F8A7D-0514-99E5-D3EE-9886E76D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2" y="879969"/>
                <a:ext cx="3877551" cy="5069336"/>
              </a:xfrm>
              <a:prstGeom prst="rect">
                <a:avLst/>
              </a:prstGeom>
              <a:blipFill>
                <a:blip r:embed="rId2"/>
                <a:stretch>
                  <a:fillRect l="-654" t="-500" b="-25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948FC4-CB25-3764-E3E2-7A250A146479}"/>
              </a:ext>
            </a:extLst>
          </p:cNvPr>
          <p:cNvSpPr txBox="1"/>
          <p:nvPr/>
        </p:nvSpPr>
        <p:spPr>
          <a:xfrm>
            <a:off x="218330" y="6018949"/>
            <a:ext cx="78258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Percentage of rolling forecast origins at which FLAIC has a lower average squared-error loss than matched IComb, averaged across the 112 hierarchy series. FLAIC-S and FLAIC-L are compared with IComb-S and IComb-L, respectively. Percentages are rounded to integers.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2EC9B2D-B7DF-CDC7-12DB-6E0C050A1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50" y="736052"/>
            <a:ext cx="8114426" cy="52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5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AE39-BCEF-B43F-E582-389E6FB9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CE42E2B-D489-CE55-4370-F34864BCE7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325" y="525698"/>
                <a:ext cx="11667350" cy="4686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Origin–level contributions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CE42E2B-D489-CE55-4370-F34864BC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25" y="525698"/>
                <a:ext cx="11667350" cy="468630"/>
              </a:xfrm>
              <a:prstGeom prst="rect">
                <a:avLst/>
              </a:prstGeom>
              <a:blipFill>
                <a:blip r:embed="rId2"/>
                <a:stretch>
                  <a:fillRect l="-1087" t="-23684" b="-3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1BC496-F1D9-A79F-C2B4-A837B89FD6C0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15/21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2.4.4.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532789-2C1E-82BF-4A88-0E2E6F91554D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DE5300-8893-26FF-4F23-F76D605568F6}"/>
                  </a:ext>
                </a:extLst>
              </p:cNvPr>
              <p:cNvSpPr txBox="1"/>
              <p:nvPr/>
            </p:nvSpPr>
            <p:spPr>
              <a:xfrm>
                <a:off x="9326786" y="2184862"/>
                <a:ext cx="2116345" cy="3600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200" dirty="0">
                    <a:latin typeface="Constantia" panose="02030602050306030303" pitchFamily="18" charset="0"/>
                  </a:rPr>
                  <a:t> Distributions of origin-level contributions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PRIAL </a:t>
                </a:r>
                <a:r>
                  <a:rPr lang="en-US" sz="1200" dirty="0">
                    <a:latin typeface="Constantia" panose="02030602050306030303" pitchFamily="18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200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00" dirty="0">
                    <a:latin typeface="Constantia" panose="02030602050306030303" pitchFamily="18" charset="0"/>
                  </a:rPr>
                  <a:t>, averaged across the 112 hierarchy series. Positive values </a:t>
                </a:r>
                <a:r>
                  <a:rPr lang="en-US" sz="12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200" dirty="0">
                    <a:latin typeface="Constantia" panose="02030602050306030303" pitchFamily="18" charset="0"/>
                  </a:rPr>
                  <a:t> FLAIC.</a:t>
                </a:r>
              </a:p>
              <a:p>
                <a:endParaRPr lang="en-US" sz="1200" dirty="0">
                  <a:latin typeface="Constantia" panose="02030602050306030303" pitchFamily="18" charset="0"/>
                </a:endParaRPr>
              </a:p>
              <a:p>
                <a:r>
                  <a:rPr lang="en-US" sz="1200" b="1" dirty="0">
                    <a:latin typeface="Constantia" panose="02030602050306030303" pitchFamily="18" charset="0"/>
                  </a:rPr>
                  <a:t>Panel A.</a:t>
                </a:r>
                <a:r>
                  <a:rPr lang="en-US" sz="1200" dirty="0">
                    <a:latin typeface="Constantia" panose="02030602050306030303" pitchFamily="18" charset="0"/>
                  </a:rPr>
                  <a:t> FLAIC performs better over greater number of origins and distribution of mean squared loss is relatively even</a:t>
                </a:r>
              </a:p>
              <a:p>
                <a:endParaRPr lang="en-US" sz="1200" dirty="0">
                  <a:latin typeface="Constantia" panose="02030602050306030303" pitchFamily="18" charset="0"/>
                </a:endParaRPr>
              </a:p>
              <a:p>
                <a:r>
                  <a:rPr lang="en-US" sz="1200" b="1" dirty="0">
                    <a:latin typeface="Constantia" panose="02030602050306030303" pitchFamily="18" charset="0"/>
                  </a:rPr>
                  <a:t>Panel B.</a:t>
                </a:r>
                <a:r>
                  <a:rPr lang="en-US" sz="1200" dirty="0">
                    <a:latin typeface="Constantia" panose="02030602050306030303" pitchFamily="18" charset="0"/>
                  </a:rPr>
                  <a:t> High magnitude of severely poor performance of FLAIC relative to IComb outweighs many origins where FLAIC performs relatively better than IComb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DE5300-8893-26FF-4F23-F76D60556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786" y="2184862"/>
                <a:ext cx="2116345" cy="3600986"/>
              </a:xfrm>
              <a:prstGeom prst="rect">
                <a:avLst/>
              </a:prstGeom>
              <a:blipFill>
                <a:blip r:embed="rId3"/>
                <a:stretch>
                  <a:fillRect r="-1198" b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2D0E5748-D0FB-40E3-EE25-4342176EC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325" y="1268615"/>
            <a:ext cx="8956904" cy="498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2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7911-EE17-2EE2-9A53-E8AE1739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78266CFF-663B-1BCD-53E8-B05F1D2AC5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2.4.5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78266CFF-663B-1BCD-53E8-B05F1D2AC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0FCD0B-182A-865B-DC23-D8A29FDBB65D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16/22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2.4.5.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88428B-EE54-EBAE-2D92-E15C37EC91EF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2AC2A-080B-04B7-F39F-C4FA05B70C28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2AC2A-080B-04B7-F39F-C4FA05B7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>
            <a:extLst>
              <a:ext uri="{FF2B5EF4-FFF2-40B4-BE49-F238E27FC236}">
                <a16:creationId xmlns:a16="http://schemas.microsoft.com/office/drawing/2014/main" id="{5405A0A2-69CD-2620-D62D-2EBA6A769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78" y="879969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5EBA6-A5E1-9410-CEDC-922320E93228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(using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unscaled PCA),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5EBA6-A5E1-9410-CEDC-922320E93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79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C552-8BD6-8A7B-6ED0-B895C0A3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65E22B-754D-4E59-1002-871B2027BD1E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2.4.6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EA337-9FAA-2461-E125-691E675CD98A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17/22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2.4.6.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F5ACBB-E2C8-D6C0-CE01-DD49BB8EBEB1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73AA48F-FE75-6800-0685-D50D24B9BEB0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generally has low component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is typically statistically significantly worse (especially ridge)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7316759-0652-926B-1DB6-DDCD53A63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402" y="898888"/>
            <a:ext cx="8007001" cy="52129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E59C62-643E-0C34-32EA-D22FF74E8486}"/>
                  </a:ext>
                </a:extLst>
              </p:cNvPr>
              <p:cNvSpPr txBox="1"/>
              <p:nvPr/>
            </p:nvSpPr>
            <p:spPr>
              <a:xfrm>
                <a:off x="273378" y="6171684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unscaled PCA specification.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E59C62-643E-0C34-32EA-D22FF74E8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8" y="6171684"/>
                <a:ext cx="7362334" cy="430887"/>
              </a:xfrm>
              <a:prstGeom prst="rect">
                <a:avLst/>
              </a:prstGeom>
              <a:blipFill>
                <a:blip r:embed="rId3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C7CDEB-9871-7CC8-D4E4-342BD0EB9618}"/>
                  </a:ext>
                </a:extLst>
              </p:cNvPr>
              <p:cNvSpPr txBox="1"/>
              <p:nvPr/>
            </p:nvSpPr>
            <p:spPr>
              <a:xfrm>
                <a:off x="8148403" y="64332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C7CDEB-9871-7CC8-D4E4-342BD0EB9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03" y="643321"/>
                <a:ext cx="3660349" cy="799642"/>
              </a:xfrm>
              <a:prstGeom prst="rect">
                <a:avLst/>
              </a:prstGeom>
              <a:blipFill>
                <a:blip r:embed="rId4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2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0AF4-02F2-F914-58D4-B142A77B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815B757-36B8-293E-E618-FC59B6F8463E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65068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2.4.7  Lasso 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183E-812F-5D59-416E-AB8A1C3294E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18/22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2.4.7.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8410BF-C24B-1E4F-5BE1-1322EDEB5F0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0692E66-FA74-DAAD-8349-5A188FC245BD}"/>
              </a:ext>
            </a:extLst>
          </p:cNvPr>
          <p:cNvSpPr txBox="1"/>
          <p:nvPr/>
        </p:nvSpPr>
        <p:spPr>
          <a:xfrm>
            <a:off x="8215269" y="1109213"/>
            <a:ext cx="3783286" cy="378565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Findings for component forecast retention: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PC1 and PC2 rarely retained while</a:t>
            </a: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     higher order PCs frequently kept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Component forecast retention is not accompanied by a comparable reduction in hierarchy base forecasts.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Retention does not consistently translate into accuracy gains.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7FEEA-5C4C-3674-1F03-C2DDEE45ED6D}"/>
              </a:ext>
            </a:extLst>
          </p:cNvPr>
          <p:cNvSpPr txBox="1"/>
          <p:nvPr/>
        </p:nvSpPr>
        <p:spPr>
          <a:xfrm>
            <a:off x="424207" y="3394629"/>
            <a:ext cx="736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Constantia" panose="02030602050306030303" pitchFamily="18" charset="0"/>
              </a:rPr>
              <a:t>Figure: </a:t>
            </a:r>
            <a:r>
              <a:rPr lang="en-US" sz="1200" dirty="0">
                <a:latin typeface="Constantia" panose="02030602050306030303" pitchFamily="18" charset="0"/>
              </a:rPr>
              <a:t>Cells report the percentage of 144 rolling forecast origins at which each PC forecast is retained by FLAIC-L. Retention means at least one non-zero coefficient across the 112 response equations.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C7F58F6-B74A-928B-EAE0-667F166DC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590" b="15551"/>
          <a:stretch>
            <a:fillRect/>
          </a:stretch>
        </p:blipFill>
        <p:spPr>
          <a:xfrm>
            <a:off x="99958" y="1037088"/>
            <a:ext cx="7772400" cy="22718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45DF1D-DC2D-A03C-C28E-37F531487451}"/>
                  </a:ext>
                </a:extLst>
              </p:cNvPr>
              <p:cNvSpPr txBox="1"/>
              <p:nvPr/>
            </p:nvSpPr>
            <p:spPr>
              <a:xfrm>
                <a:off x="403973" y="5667023"/>
                <a:ext cx="736233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i="1" dirty="0">
                    <a:latin typeface="Constantia" panose="02030602050306030303" pitchFamily="18" charset="0"/>
                  </a:rPr>
                  <a:t>Example: </a:t>
                </a:r>
                <a:r>
                  <a:rPr lang="en-US" sz="1400" dirty="0">
                    <a:latin typeface="Constantia" panose="02030602050306030303" pitchFamily="18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, </a:t>
                </a:r>
                <a:r>
                  <a:rPr lang="en-US" sz="14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400" dirty="0">
                    <a:latin typeface="Constantia" panose="02030602050306030303" pitchFamily="18" charset="0"/>
                  </a:rPr>
                  <a:t> and unscaled PCA</a:t>
                </a:r>
              </a:p>
              <a:p>
                <a:endParaRPr lang="en-US" sz="1400" dirty="0">
                  <a:latin typeface="Constantia" panose="02030602050306030303" pitchFamily="18" charset="0"/>
                </a:endParaRPr>
              </a:p>
              <a:p>
                <a:r>
                  <a:rPr lang="en-US" sz="1300" dirty="0">
                    <a:latin typeface="Constantia" panose="02030602050306030303" pitchFamily="18" charset="0"/>
                  </a:rPr>
                  <a:t>*Note: IComb-L retained a median of 52 of 112 hierarchy base forecasts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45DF1D-DC2D-A03C-C28E-37F531487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3" y="5667023"/>
                <a:ext cx="7362334" cy="738664"/>
              </a:xfrm>
              <a:prstGeom prst="rect">
                <a:avLst/>
              </a:prstGeom>
              <a:blipFill>
                <a:blip r:embed="rId3"/>
                <a:stretch>
                  <a:fillRect l="-172" t="-1695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52AEA-B9D0-3D07-ABF3-981790D4CE2C}"/>
                  </a:ext>
                </a:extLst>
              </p:cNvPr>
              <p:cNvSpPr txBox="1"/>
              <p:nvPr/>
            </p:nvSpPr>
            <p:spPr>
              <a:xfrm>
                <a:off x="4156435" y="4305675"/>
                <a:ext cx="193956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 hierarchy base forecasts retained relative to IComb-L median:</a:t>
                </a: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52AEA-B9D0-3D07-ABF3-981790D4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435" y="4305675"/>
                <a:ext cx="1939565" cy="954107"/>
              </a:xfrm>
              <a:prstGeom prst="rect">
                <a:avLst/>
              </a:prstGeom>
              <a:blipFill>
                <a:blip r:embed="rId4"/>
                <a:stretch>
                  <a:fillRect l="-1299" t="-1299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2F766CA-FB48-38D1-0DB2-99F1D87181C5}"/>
              </a:ext>
            </a:extLst>
          </p:cNvPr>
          <p:cNvSpPr txBox="1"/>
          <p:nvPr/>
        </p:nvSpPr>
        <p:spPr>
          <a:xfrm>
            <a:off x="292231" y="4305675"/>
            <a:ext cx="19395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tantia" panose="02030602050306030303" pitchFamily="18" charset="0"/>
              </a:rPr>
              <a:t>Component forecasts retained (median) by FLAIC-L:</a:t>
            </a:r>
          </a:p>
          <a:p>
            <a:r>
              <a:rPr lang="en-US" sz="1400" dirty="0">
                <a:latin typeface="Constantia" panose="02030602050306030303" pitchFamily="18" charset="0"/>
              </a:rPr>
              <a:t>(number, %)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09CB4B-AA98-6490-5C00-F78D0C8D4C17}"/>
              </a:ext>
            </a:extLst>
          </p:cNvPr>
          <p:cNvSpPr txBox="1"/>
          <p:nvPr/>
        </p:nvSpPr>
        <p:spPr>
          <a:xfrm>
            <a:off x="2657585" y="4469271"/>
            <a:ext cx="88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16 / 20</a:t>
            </a:r>
          </a:p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(80%)</a:t>
            </a:r>
            <a:endParaRPr lang="en-US" b="1" dirty="0">
              <a:solidFill>
                <a:srgbClr val="24827F"/>
              </a:solidFill>
              <a:latin typeface="Constantia" panose="0203060205030603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B8F24-8CDA-B1B8-3B3D-17CF6E685BB5}"/>
              </a:ext>
            </a:extLst>
          </p:cNvPr>
          <p:cNvSpPr txBox="1"/>
          <p:nvPr/>
        </p:nvSpPr>
        <p:spPr>
          <a:xfrm>
            <a:off x="6438911" y="4515437"/>
            <a:ext cx="88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– 2</a:t>
            </a:r>
            <a:endParaRPr lang="en-US" b="1" dirty="0">
              <a:solidFill>
                <a:srgbClr val="24827F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634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A61C-7007-0667-F214-EE09C9FE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9358B57-903B-C28E-8806-3B07C16A8D60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2.4.8  Hierarchy-adapted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FLAP benchmark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D231A-B702-575F-E788-D4AAEE254E3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19/22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2.4.8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FA7C09-8BC4-8B11-2A4C-092C7C2F2C9F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8DE21614-5501-1460-FAD7-64F5D08F6901}"/>
              </a:ext>
            </a:extLst>
          </p:cNvPr>
          <p:cNvGrpSpPr/>
          <p:nvPr/>
        </p:nvGrpSpPr>
        <p:grpSpPr>
          <a:xfrm>
            <a:off x="420750" y="1199132"/>
            <a:ext cx="11350499" cy="815701"/>
            <a:chOff x="451860" y="989384"/>
            <a:chExt cx="11350499" cy="8157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384223-9A71-7C09-50D0-70FDBFA48FEB}"/>
                </a:ext>
              </a:extLst>
            </p:cNvPr>
            <p:cNvSpPr txBox="1"/>
            <p:nvPr/>
          </p:nvSpPr>
          <p:spPr>
            <a:xfrm>
              <a:off x="451860" y="1012239"/>
              <a:ext cx="2759329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Same base + component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BAD063-6D85-B22F-B6D3-3346D6C9EEC5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Hierarchy adapted FLAP benchmark*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Covariance-based oblique projection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24C2468-DE59-9C9F-C424-DCD83C33F83E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06A1BE-40A9-7BBF-7C75-1A968732B6E0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97A22E-CE8D-0BC3-9727-E07302D0A575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Coherent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76B7396-F989-0B7F-46F8-82EAC2A1C9E8}"/>
              </a:ext>
            </a:extLst>
          </p:cNvPr>
          <p:cNvSpPr txBox="1"/>
          <p:nvPr/>
        </p:nvSpPr>
        <p:spPr>
          <a:xfrm>
            <a:off x="92337" y="6487606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latin typeface="Constantia" panose="02030602050306030303" pitchFamily="18" charset="0"/>
              </a:rPr>
              <a:t>* More details in appendix slides</a:t>
            </a:r>
            <a:endParaRPr lang="en-US" sz="11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DFC427-1628-CF2F-BA3A-D423D0EA1FA5}"/>
                  </a:ext>
                </a:extLst>
              </p:cNvPr>
              <p:cNvSpPr txBox="1"/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Enforces hierarchy aggregation constraints and uses same component relationships.</a:t>
                </a:r>
              </a:p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0" dirty="0" smtClean="0">
                        <a:latin typeface="Cambria Math" panose="02040503050406030204" pitchFamily="18" charset="0"/>
                      </a:rPr>
                      <m:t>MinT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DFC427-1628-CF2F-BA3A-D423D0EA1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blipFill>
                <a:blip r:embed="rId2"/>
                <a:stretch>
                  <a:fillRect l="-311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 22">
            <a:extLst>
              <a:ext uri="{FF2B5EF4-FFF2-40B4-BE49-F238E27FC236}">
                <a16:creationId xmlns:a16="http://schemas.microsoft.com/office/drawing/2014/main" id="{F2C226CF-B358-3F12-56FB-5C9C1422D2EE}"/>
              </a:ext>
            </a:extLst>
          </p:cNvPr>
          <p:cNvSpPr/>
          <p:nvPr/>
        </p:nvSpPr>
        <p:spPr>
          <a:xfrm>
            <a:off x="3816630" y="1805417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F46EB-BA66-0F34-6406-9C68C29D23D3}"/>
                  </a:ext>
                </a:extLst>
              </p:cNvPr>
              <p:cNvSpPr txBox="1"/>
              <p:nvPr/>
            </p:nvSpPr>
            <p:spPr>
              <a:xfrm>
                <a:off x="7783084" y="2902149"/>
                <a:ext cx="3783286" cy="32932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Findings: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Component augmentation through FLAP consistently has better accuracy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MinT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𝑠h𝑟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FLAIC achieves better absolute accuracy than FLAP in the reported matched comparisons.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The benefits of component augmentation depend on the reconciliation method.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F46EB-BA66-0F34-6406-9C68C29D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84" y="2902149"/>
                <a:ext cx="3783286" cy="3293209"/>
              </a:xfrm>
              <a:prstGeom prst="rect">
                <a:avLst/>
              </a:prstGeom>
              <a:blipFill>
                <a:blip r:embed="rId3"/>
                <a:stretch>
                  <a:fillRect l="-669" t="-385" r="-1338"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A224E5-F1D9-DAAA-73B2-B991B97575D9}"/>
                  </a:ext>
                </a:extLst>
              </p:cNvPr>
              <p:cNvSpPr txBox="1"/>
              <p:nvPr/>
            </p:nvSpPr>
            <p:spPr>
              <a:xfrm>
                <a:off x="420750" y="3194397"/>
                <a:ext cx="736233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i="1" dirty="0">
                    <a:latin typeface="Constantia" panose="02030602050306030303" pitchFamily="18" charset="0"/>
                  </a:rPr>
                  <a:t>Extract: </a:t>
                </a:r>
                <a:r>
                  <a:rPr lang="en-US" sz="1400" dirty="0">
                    <a:latin typeface="Constantia" panose="02030602050306030303" pitchFamily="18" charset="0"/>
                  </a:rPr>
                  <a:t>component augmentation across reconciliation methods</a:t>
                </a:r>
              </a:p>
              <a:p>
                <a:endParaRPr lang="en-US" sz="1400" dirty="0">
                  <a:latin typeface="Constantia" panose="02030602050306030303" pitchFamily="18" charset="0"/>
                </a:endParaRPr>
              </a:p>
              <a:p>
                <a:r>
                  <a:rPr lang="en-US" sz="1400" i="1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400" i="1" dirty="0">
                    <a:latin typeface="Constantia" panose="02030602050306030303" pitchFamily="18" charset="0"/>
                  </a:rPr>
                  <a:t>, Scaled PCA | PRIAL (%) |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i="1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A224E5-F1D9-DAAA-73B2-B991B975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50" y="3194397"/>
                <a:ext cx="7362334" cy="738664"/>
              </a:xfrm>
              <a:prstGeom prst="rect">
                <a:avLst/>
              </a:prstGeom>
              <a:blipFill>
                <a:blip r:embed="rId4"/>
                <a:stretch>
                  <a:fillRect l="-345" t="-169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5BCB8BE-B4F1-41AF-E941-BF8DE82CA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231320"/>
                  </p:ext>
                </p:extLst>
              </p:nvPr>
            </p:nvGraphicFramePr>
            <p:xfrm>
              <a:off x="261667" y="4030210"/>
              <a:ext cx="6950898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6816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2343970111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25186696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37565889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627565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No PCs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𝟕𝟕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MinT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𝑠h𝑟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FLAP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1.16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-0.08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IComb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FLAIC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−5.26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−2.45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IComb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L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FLAIC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−7.49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−6.87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−4.81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−3.52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−1.56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5BCB8BE-B4F1-41AF-E941-BF8DE82CA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231320"/>
                  </p:ext>
                </p:extLst>
              </p:nvPr>
            </p:nvGraphicFramePr>
            <p:xfrm>
              <a:off x="261667" y="4030210"/>
              <a:ext cx="6950898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6816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2343970111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25186696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37565889"/>
                        </a:ext>
                      </a:extLst>
                    </a:gridCol>
                    <a:gridCol w="837347">
                      <a:extLst>
                        <a:ext uri="{9D8B030D-6E8A-4147-A177-3AD203B41FA5}">
                          <a16:colId xmlns:a16="http://schemas.microsoft.com/office/drawing/2014/main" val="5627565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No PCs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1818" t="-3333" r="-4030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31818" t="-3333" r="-3030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1818" t="-3333" r="-2030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31818" t="-3333" r="-1030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1818" t="-3333" r="-303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" t="-106897" r="-261842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1.16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-0.08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" t="-200000" r="-26184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−5.26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−2.45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" t="-310345" r="-261842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−7.49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−6.87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−4.81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−3.52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−1.56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DAC7212C-1744-5294-19C0-F35D185035E4}"/>
              </a:ext>
            </a:extLst>
          </p:cNvPr>
          <p:cNvSpPr txBox="1"/>
          <p:nvPr/>
        </p:nvSpPr>
        <p:spPr>
          <a:xfrm>
            <a:off x="209552" y="5636013"/>
            <a:ext cx="7055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latin typeface="Constantia" panose="02030602050306030303" pitchFamily="18" charset="0"/>
              </a:rPr>
              <a:t>Notes:</a:t>
            </a:r>
            <a:r>
              <a:rPr lang="en-GB" sz="1200" dirty="0">
                <a:latin typeface="Constantia" panose="02030602050306030303" pitchFamily="18" charset="0"/>
              </a:rPr>
              <a:t> Lower PRIAL = better forecast accuracy. No PCs identifies the corresponding </a:t>
            </a:r>
            <a:r>
              <a:rPr lang="en-GB" sz="1200" dirty="0" err="1">
                <a:latin typeface="Constantia" panose="02030602050306030303" pitchFamily="18" charset="0"/>
              </a:rPr>
              <a:t>MinT</a:t>
            </a:r>
            <a:r>
              <a:rPr lang="en-GB" sz="1200" dirty="0">
                <a:latin typeface="Constantia" panose="02030602050306030303" pitchFamily="18" charset="0"/>
              </a:rPr>
              <a:t> or IComb benchmark.</a:t>
            </a:r>
            <a:endParaRPr lang="en-US" sz="1200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284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9472-70E4-E38D-C729-C446B6D5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5EF02AD-F348-BF5E-BD3F-95C8F1C777A0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2.4.9  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A0558-C22B-9B8E-3A90-3AA90499049F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20/22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2.4.9.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9CAC8C-C760-2C0C-D896-389E2901F3D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518DB-0307-B69D-B365-9EFD5D673DC7}"/>
                  </a:ext>
                </a:extLst>
              </p:cNvPr>
              <p:cNvSpPr txBox="1"/>
              <p:nvPr/>
            </p:nvSpPr>
            <p:spPr>
              <a:xfrm>
                <a:off x="525511" y="1011245"/>
                <a:ext cx="11413059" cy="33728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Series at hierarchy levels differ substantially in scale.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Compute mean squared </a:t>
                </a:r>
                <a:r>
                  <a:rPr lang="en-US" i="1" dirty="0">
                    <a:latin typeface="Constantia" panose="02030602050306030303" pitchFamily="18" charset="0"/>
                  </a:rPr>
                  <a:t>scaled</a:t>
                </a:r>
                <a:r>
                  <a:rPr lang="en-US" dirty="0">
                    <a:latin typeface="Constantia" panose="02030602050306030303" pitchFamily="18" charset="0"/>
                  </a:rPr>
                  <a:t> forecast error (MSSFE):</a:t>
                </a: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MSSFE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˜"/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      using two scaling denominators from 120-month training window:</a:t>
                </a:r>
              </a:p>
              <a:p>
                <a:pPr>
                  <a:buClr>
                    <a:srgbClr val="0134FF"/>
                  </a:buClr>
                </a:pPr>
                <a:endParaRPr lang="en-US" sz="1100" dirty="0">
                  <a:latin typeface="Constantia" panose="02030602050306030303" pitchFamily="18" charset="0"/>
                </a:endParaRPr>
              </a:p>
              <a:p>
                <a:pPr marL="1257300" lvl="2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Seasonal naïve forecast: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𝑆𝑁</m:t>
                            </m:r>
                          </m:e>
                        </m:d>
                      </m:sup>
                    </m:sSubSup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−107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−12,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</a:t>
                </a:r>
              </a:p>
              <a:p>
                <a:pPr marL="1257300" lvl="2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Variance standardized: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−119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518DB-0307-B69D-B365-9EFD5D673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11" y="1011245"/>
                <a:ext cx="11413059" cy="3372846"/>
              </a:xfrm>
              <a:prstGeom prst="rect">
                <a:avLst/>
              </a:prstGeom>
              <a:blipFill>
                <a:blip r:embed="rId2"/>
                <a:stretch>
                  <a:fillRect l="-334" t="-749" b="-1610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076C5A-3295-3986-DB80-70F8AE7DE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54312"/>
              </p:ext>
            </p:extLst>
          </p:nvPr>
        </p:nvGraphicFramePr>
        <p:xfrm>
          <a:off x="613666" y="4642733"/>
          <a:ext cx="1051560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8334">
                  <a:extLst>
                    <a:ext uri="{9D8B030D-6E8A-4147-A177-3AD203B41FA5}">
                      <a16:colId xmlns:a16="http://schemas.microsoft.com/office/drawing/2014/main" val="3050927870"/>
                    </a:ext>
                  </a:extLst>
                </a:gridCol>
                <a:gridCol w="3041780">
                  <a:extLst>
                    <a:ext uri="{9D8B030D-6E8A-4147-A177-3AD203B41FA5}">
                      <a16:colId xmlns:a16="http://schemas.microsoft.com/office/drawing/2014/main" val="788274634"/>
                    </a:ext>
                  </a:extLst>
                </a:gridCol>
                <a:gridCol w="3515486">
                  <a:extLst>
                    <a:ext uri="{9D8B030D-6E8A-4147-A177-3AD203B41FA5}">
                      <a16:colId xmlns:a16="http://schemas.microsoft.com/office/drawing/2014/main" val="1704480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Raw error measure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Both scaled-errors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66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Low/moderate augmentation can help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Yes </a:t>
                      </a:r>
                    </a:p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(smaller than raw squared errors)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28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High augmentation generally hurts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8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i="0" dirty="0">
                          <a:latin typeface="Constantia" panose="02030602050306030303" pitchFamily="18" charset="0"/>
                        </a:rPr>
                        <a:t>Best-performing FLAIC variant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Lasso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0" i="0" dirty="0">
                          <a:latin typeface="Constantia" panose="02030602050306030303" pitchFamily="18" charset="0"/>
                        </a:rPr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362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577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5886-D810-77D2-1A6B-EF25F9F6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078EDE-AE07-F960-71E5-0B52DFDF0854}"/>
              </a:ext>
            </a:extLst>
          </p:cNvPr>
          <p:cNvSpPr txBox="1"/>
          <p:nvPr/>
        </p:nvSpPr>
        <p:spPr>
          <a:xfrm>
            <a:off x="476944" y="998145"/>
            <a:ext cx="111676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latin typeface="Constantia" panose="02030602050306030303" pitchFamily="18" charset="0"/>
              </a:rPr>
              <a:t>Research question: </a:t>
            </a:r>
            <a:r>
              <a:rPr lang="en-US" i="1" dirty="0">
                <a:latin typeface="Constantia" panose="02030602050306030303" pitchFamily="18" charset="0"/>
              </a:rPr>
              <a:t>To what extent</a:t>
            </a:r>
            <a:r>
              <a:rPr lang="en-US" dirty="0">
                <a:latin typeface="Constantia" panose="02030602050306030303" pitchFamily="18" charset="0"/>
              </a:rPr>
              <a:t> can forecasts based on constructed linear components improve the accuracy of hierarchical forecasts when incorporated into the Information Combination framework?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latin typeface="Constantia" panose="02030602050306030303" pitchFamily="18" charset="0"/>
              </a:rPr>
              <a:t>Answer: It can, under selected specifications — but improvements in forecast accuracy are not consistently statistically significant.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latin typeface="Constantia" panose="02030602050306030303" pitchFamily="18" charset="0"/>
              </a:rPr>
              <a:t>Our contribution is mainly methodological: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Propose FLAIC: incorporates separately forecast principal components into IComb framework, while maintaining coherence and without requiring additional underlying data.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Develop a hierarchy-adapted FLAP benchmark, incorporating both component and aggregation constraints.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latin typeface="Constantia" panose="02030602050306030303" pitchFamily="18" charset="0"/>
              </a:rPr>
              <a:t>Implications – established via empirical investigation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Low/moderate augmentation can improve accuracy of FLAIC relative to IComb, particularly under ridge; very high augmentation generally deteriorates FLAIC’s relative forecast performance.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Benefits of component augmentation depend on PCA specification, </a:t>
            </a:r>
            <a:r>
              <a:rPr lang="en-US" dirty="0" err="1">
                <a:latin typeface="Constantia" panose="02030602050306030303" pitchFamily="18" charset="0"/>
              </a:rPr>
              <a:t>regularisation</a:t>
            </a:r>
            <a:r>
              <a:rPr lang="en-US" dirty="0">
                <a:latin typeface="Constantia" panose="02030602050306030303" pitchFamily="18" charset="0"/>
              </a:rPr>
              <a:t>, and reconciliation method.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20C657-05CA-D996-E212-7463FF366F32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Concluding remarks:</a:t>
            </a:r>
            <a:r>
              <a:rPr lang="en-US" sz="3000" dirty="0">
                <a:solidFill>
                  <a:srgbClr val="0134FF"/>
                </a:solidFill>
                <a:latin typeface="Constantia" panose="02030602050306030303" pitchFamily="18" charset="0"/>
              </a:rPr>
              <a:t> </a:t>
            </a:r>
            <a:r>
              <a:rPr lang="en-US" sz="2400" dirty="0">
                <a:solidFill>
                  <a:srgbClr val="0134FF"/>
                </a:solidFill>
                <a:latin typeface="Constantia" panose="02030602050306030303" pitchFamily="18" charset="0"/>
              </a:rPr>
              <a:t>contribution &amp; significance</a:t>
            </a:r>
            <a:endParaRPr lang="en-US" sz="3000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81900-AEE7-70E4-167A-1A6A9901A14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21/22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3.1.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646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76C3-013C-DEB8-726F-695A4F5B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AC7EEC-2211-4E6B-B8BC-892BB5852E9F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Limitations and future research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85D4D-13EE-A3C0-EAB0-854070FBF353}"/>
              </a:ext>
            </a:extLst>
          </p:cNvPr>
          <p:cNvSpPr txBox="1"/>
          <p:nvPr/>
        </p:nvSpPr>
        <p:spPr>
          <a:xfrm>
            <a:off x="470859" y="1333148"/>
            <a:ext cx="4458813" cy="35394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b="1" dirty="0">
                <a:latin typeface="Constantia" panose="02030602050306030303" pitchFamily="18" charset="0"/>
              </a:rPr>
              <a:t>Limitations of our research: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One empirical dataset (Australian domestic tourism) and ETS forecasts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Unclear when component forecasts offer genuinely useful complementary information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Predefined PCA specification, component augmentation dimension and one IComb implementation.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0E15F6-8806-E6AA-4024-45DB94570208}"/>
              </a:ext>
            </a:extLst>
          </p:cNvPr>
          <p:cNvCxnSpPr>
            <a:cxnSpLocks/>
          </p:cNvCxnSpPr>
          <p:nvPr/>
        </p:nvCxnSpPr>
        <p:spPr>
          <a:xfrm>
            <a:off x="5286795" y="3471201"/>
            <a:ext cx="1151327" cy="0"/>
          </a:xfrm>
          <a:prstGeom prst="straightConnector1">
            <a:avLst/>
          </a:prstGeom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5F4308-8D61-2AA1-ED63-99F4C5849CF7}"/>
              </a:ext>
            </a:extLst>
          </p:cNvPr>
          <p:cNvSpPr txBox="1"/>
          <p:nvPr/>
        </p:nvSpPr>
        <p:spPr>
          <a:xfrm>
            <a:off x="6594851" y="1209043"/>
            <a:ext cx="5126290" cy="452431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b="1" dirty="0">
                <a:latin typeface="Constantia" panose="02030602050306030303" pitchFamily="18" charset="0"/>
              </a:rPr>
              <a:t>Identifying the conditions under which component augmentation provides a reliable improvement in forecast accuracy relative to IComb is an important direction for future research: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Monte Carlo simulations varying hierarchy structure, base forecasting models, common signals, forecast error correlation and dimensionality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Use different IComb framework variants</a:t>
            </a: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     (example, without </a:t>
            </a:r>
            <a:r>
              <a:rPr lang="en-US" sz="1600" dirty="0" err="1">
                <a:latin typeface="Constantia" panose="02030602050306030303" pitchFamily="18" charset="0"/>
              </a:rPr>
              <a:t>standardisation</a:t>
            </a:r>
            <a:r>
              <a:rPr lang="en-US" sz="1600" dirty="0">
                <a:latin typeface="Constantia" panose="02030602050306030303" pitchFamily="18" charset="0"/>
              </a:rPr>
              <a:t>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If best FLAIC variant is an empirical question, then may need data-driven selection for PCA, augmentation dimension and </a:t>
            </a:r>
            <a:r>
              <a:rPr lang="en-US" sz="1600" dirty="0" err="1">
                <a:latin typeface="Constantia" panose="02030602050306030303" pitchFamily="18" charset="0"/>
              </a:rPr>
              <a:t>regularisation</a:t>
            </a:r>
            <a:r>
              <a:rPr lang="en-US" sz="1600" dirty="0">
                <a:latin typeface="Constantia" panose="02030602050306030303" pitchFamily="18" charset="0"/>
              </a:rPr>
              <a:t>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46D1A-46D6-C111-7486-7AC4193540BD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22/22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3.2.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52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0699E-EE2D-F1BF-042A-8146B6FF21A0}"/>
              </a:ext>
            </a:extLst>
          </p:cNvPr>
          <p:cNvSpPr txBox="1"/>
          <p:nvPr/>
        </p:nvSpPr>
        <p:spPr>
          <a:xfrm>
            <a:off x="2277498" y="1953417"/>
            <a:ext cx="7863055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600" b="1" i="1" dirty="0">
                <a:solidFill>
                  <a:srgbClr val="0046FF"/>
                </a:solidFill>
                <a:effectLst/>
                <a:latin typeface="Constantia" panose="02030602050306030303" pitchFamily="18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753338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8A5F-E902-DF6A-43D9-329248A8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5F28D1-4870-1BE3-4167-FB9D00EC8001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2.0 Empirical Investigation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50CE2-FDD9-0A3F-BDD0-A07E569CF12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8BDECD-A2A2-EED1-FF94-58A851533CFA}"/>
              </a:ext>
            </a:extLst>
          </p:cNvPr>
          <p:cNvGraphicFramePr>
            <a:graphicFrameLocks noGrp="1"/>
          </p:cNvGraphicFramePr>
          <p:nvPr/>
        </p:nvGraphicFramePr>
        <p:xfrm>
          <a:off x="4567810" y="300958"/>
          <a:ext cx="7511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2.1 Data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E9A3F5-1299-208A-8A4D-BFE9BA9F37CF}"/>
              </a:ext>
            </a:extLst>
          </p:cNvPr>
          <p:cNvSpPr txBox="1"/>
          <p:nvPr/>
        </p:nvSpPr>
        <p:spPr>
          <a:xfrm>
            <a:off x="10998368" y="5020056"/>
            <a:ext cx="9426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Figure.</a:t>
            </a:r>
            <a:r>
              <a:rPr lang="en-US" sz="1100" i="1" dirty="0">
                <a:latin typeface="Constantia" panose="02030602050306030303" pitchFamily="18" charset="0"/>
              </a:rPr>
              <a:t> Australian domestic tourism series and seasonal profiles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EF00F99-89F7-7B28-B7DF-86F69DB1D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952" y="747603"/>
            <a:ext cx="5300656" cy="587778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6603AD-AB7A-02D3-5080-1C3AE9FE7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3571" y="747603"/>
            <a:ext cx="5300656" cy="587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70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25DB-BA9B-B780-1ABC-4A84479F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8671C53-7D3A-C05B-AEB6-473F9BEEBF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8671C53-7D3A-C05B-AEB6-473F9BEEB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D7A557-48A5-8CF0-74E8-1F16A60D33A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500D82-D35A-18BC-FC2B-AA0BB32C0277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500D82-D35A-18BC-FC2B-AA0BB32C0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19FC90-6E48-698B-BD1B-C116EFA8D359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(using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scaled PCA),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19FC90-6E48-698B-BD1B-C116EFA8D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FD69ACE9-F079-DB3A-3199-A4A5543D9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330" y="898889"/>
            <a:ext cx="7772400" cy="5060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3F605D-F23F-1DC0-11AC-D477AE0B78F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4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B4AF-56CE-D794-7FC3-5BE0C1ED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E6E4579-904F-B55B-AD9B-2D112939F3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E6E4579-904F-B55B-AD9B-2D112939F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5ACB36-6312-4D47-0B9F-26FAB33FFBB0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F8A96B-0551-C5D6-EB79-B2AE0C76BA01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F8A96B-0551-C5D6-EB79-B2AE0C76B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25CC4C1-650C-0687-D723-ACC939BC105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47705C-7782-E2AB-5DCF-D463BF521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330" y="898888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ADDFC-421E-7ED5-91D9-565DF1D1E6AD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(using uncentred, unscaled PCA),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ADDFC-421E-7ED5-91D9-565DF1D1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21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7E56-09CD-67F6-900D-C75F7895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DD369DE-05C9-CC8C-6A04-E4E8B9F546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DD369DE-05C9-CC8C-6A04-E4E8B9F54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092438-09FA-464E-4E6A-340FEB0AFA72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5F034B-7297-3308-894D-44823C239679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5F034B-7297-3308-894D-44823C23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9744241-A15B-89F6-E70B-B5B15AA14749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81561F-C3E8-4314-22A0-8EBECFB3D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031" y="839050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1079E-AC64-42E4-B803-FD2E89100A73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(using uncentred, scaled PCA),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1079E-AC64-42E4-B803-FD2E89100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370C-45CC-3C1C-7332-05824930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EB4424-F691-6CA2-6FEF-71F7E4E3F701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45A43E-D876-63B2-8C6C-52BE69D8FD2C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FC3EEC8-D2DF-5EC2-60A6-AE1CDC44E512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37BD7C-E833-A8E6-5715-2A7424D64BA6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37BD7C-E833-A8E6-5715-2A7424D64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E9D04B68-A467-733F-F560-81878E4C1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339" y="975256"/>
            <a:ext cx="7772400" cy="5060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F6A4F-6E17-5A60-ED5D-5AE5C14AD20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BA29B-6C2C-A6A8-9A11-C2EB0E71A7C9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scaled PCA specification.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BA29B-6C2C-A6A8-9A11-C2EB0E71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077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976E-34BF-FB59-4719-C51A15A8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EBBE99-A6EA-09CB-BFAD-D02183B7B8E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BC8BB4-DDFD-F3E2-A973-52CB13ABBDB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A6B649-7061-F06D-9F5A-0E4BF7E524FD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5123A6-1A59-A7CC-3243-CDBA03AA29A5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5123A6-1A59-A7CC-3243-CDBA03AA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DBC28C4-0A9C-28E8-AC79-EFC21A87102E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51B2ED-6D11-4AD4-3432-E2FC63A61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88" y="913698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741B0-8ACB-4CB9-3EFE-AA8174F675D9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uncentred, unscaled PCA specification.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741B0-8ACB-4CB9-3EFE-AA8174F6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678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A29A-DCC8-3565-390C-E55B6FC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48E0547-EA34-344C-E2FB-3349C0CDE42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20D61C-9440-4E9A-14B0-621AFAD05D75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99C5F6D-C166-2906-02A9-E765B0E9966C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15B340-31B6-A690-CD7C-BCD329AEC2BA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15B340-31B6-A690-CD7C-BCD329AEC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A3B3A2C-9BF8-C6E3-450D-735CB1938BBE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D5DE39-0928-B43F-2322-95929369A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88" y="975256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161CAA-02B3-21D4-B8AA-BAC78F07B237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uncentred, scaled PCA specification.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161CAA-02B3-21D4-B8AA-BAC78F07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531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2F84-8CAB-A324-DBE2-7F3F45AE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CA63AC-C04F-4632-FA24-86A81B7F35B9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2.4.7  Hierarchy-adapted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FLAP benchmark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68EA78-1EDD-2541-EAAC-A7C7DD165ED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57089BB-BEF2-5B13-029A-3FDF21185EEB}"/>
              </a:ext>
            </a:extLst>
          </p:cNvPr>
          <p:cNvGrpSpPr/>
          <p:nvPr/>
        </p:nvGrpSpPr>
        <p:grpSpPr>
          <a:xfrm>
            <a:off x="420750" y="1199132"/>
            <a:ext cx="11350499" cy="815701"/>
            <a:chOff x="451860" y="989384"/>
            <a:chExt cx="11350499" cy="8157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0D1BF-126D-CD28-9CEA-29CCCD9E2A2D}"/>
                </a:ext>
              </a:extLst>
            </p:cNvPr>
            <p:cNvSpPr txBox="1"/>
            <p:nvPr/>
          </p:nvSpPr>
          <p:spPr>
            <a:xfrm>
              <a:off x="451860" y="1012239"/>
              <a:ext cx="2759329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Same base + component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7FAF79-77F6-5524-4E84-CD7BBC645B71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Hierarchy adapted FLAP benchmark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Covariance-based oblique projection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F4E0C5F-D1CB-6028-5096-A902098E7B6C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1A5962-CE32-D766-1C4F-C38BD4BE36DF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65CD4E-DF91-8869-1123-C0607C01D345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Coherent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BAD735-1055-4C54-9799-EA27B689C0A7}"/>
                  </a:ext>
                </a:extLst>
              </p:cNvPr>
              <p:cNvSpPr txBox="1"/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Enforces hierarchy aggregation constraints and uses same component relationships.</a:t>
                </a:r>
              </a:p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0" dirty="0" smtClean="0">
                        <a:latin typeface="Cambria Math" panose="02040503050406030204" pitchFamily="18" charset="0"/>
                      </a:rPr>
                      <m:t>MinT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BAD735-1055-4C54-9799-EA27B689C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blipFill>
                <a:blip r:embed="rId2"/>
                <a:stretch>
                  <a:fillRect l="-311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 22">
            <a:extLst>
              <a:ext uri="{FF2B5EF4-FFF2-40B4-BE49-F238E27FC236}">
                <a16:creationId xmlns:a16="http://schemas.microsoft.com/office/drawing/2014/main" id="{6C98D09A-1E12-CA9B-806A-3B9326CAF679}"/>
              </a:ext>
            </a:extLst>
          </p:cNvPr>
          <p:cNvSpPr/>
          <p:nvPr/>
        </p:nvSpPr>
        <p:spPr>
          <a:xfrm>
            <a:off x="3816630" y="1805417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7F2877-FB0B-D3C5-7A42-D397D46C1EFD}"/>
                  </a:ext>
                </a:extLst>
              </p:cNvPr>
              <p:cNvSpPr txBox="1"/>
              <p:nvPr/>
            </p:nvSpPr>
            <p:spPr>
              <a:xfrm>
                <a:off x="181788" y="2965373"/>
                <a:ext cx="6097554" cy="3566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(1) Write our component augmented vector as: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𝐂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𝑪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sub>
                                    </m:sSub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𝑪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/>
                  <a:t>(2) We therefore have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dirty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sz="1600" b="0" i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sz="1600" b="1" i="0" dirty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0" dirty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 dirty="0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/>
                  <a:t>where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𝚽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  </a:t>
                </a:r>
                <a:r>
                  <a:rPr lang="en-US" dirty="0"/>
                  <a:t>and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dirty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𝚽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  <m:r>
                                        <a:rPr lang="en-US" sz="1600" b="0" i="0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dirty="0">
                                      <a:latin typeface="Cambria Math" panose="02040503050406030204" pitchFamily="18" charset="0"/>
                                    </a:rPr>
                                    <m:t>𝐃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r>
                                    <a:rPr lang="en-US" sz="1600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mr>
                        </m:m>
                      </m:e>
                    </m:d>
                    <m:r>
                      <a:rPr lang="en-US" sz="1600" b="0" i="0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d>
                          <m:dPr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0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7F2877-FB0B-D3C5-7A42-D397D46C1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8" y="2965373"/>
                <a:ext cx="6097554" cy="3566682"/>
              </a:xfrm>
              <a:prstGeom prst="rect">
                <a:avLst/>
              </a:prstGeom>
              <a:blipFill>
                <a:blip r:embed="rId3"/>
                <a:stretch>
                  <a:fillRect l="-832" t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20C4B6-A532-AC1C-9460-5465C0DABE5C}"/>
                  </a:ext>
                </a:extLst>
              </p:cNvPr>
              <p:cNvSpPr txBox="1"/>
              <p:nvPr/>
            </p:nvSpPr>
            <p:spPr>
              <a:xfrm>
                <a:off x="6746705" y="3077907"/>
                <a:ext cx="5109191" cy="1834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(3) Hence, we use</a:t>
                </a:r>
              </a:p>
              <a:p>
                <a:pPr/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dirty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0" dirty="0"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b="0" i="0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b="0" i="0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sSup>
                                <m:s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b="1" i="0" dirty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  <m:sup>
                                          <m:r>
                                            <a:rPr lang="en-US" sz="1600" b="0" i="0" dirty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1600" b="0" i="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/>
                  <a:t>to obtain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˜"/>
                              <m:ctrlPr>
                                <a:rPr lang="en-US" sz="1600" b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dirty="0">
                              <a:latin typeface="Cambria Math" panose="02040503050406030204" pitchFamily="18" charset="0"/>
                            </a:rPr>
                            <m:t>FLAP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0" dirty="0">
                          <a:latin typeface="Cambria Math" panose="02040503050406030204" pitchFamily="18" charset="0"/>
                        </a:rPr>
                        <m:t>𝐒</m:t>
                      </m:r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˜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dirty="0">
                              <a:latin typeface="Cambria Math" panose="02040503050406030204" pitchFamily="18" charset="0"/>
                            </a:rPr>
                            <m:t>FLAP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0" dirty="0">
                          <a:latin typeface="Cambria Math" panose="02040503050406030204" pitchFamily="18" charset="0"/>
                        </a:rPr>
                        <m:t>𝐒</m:t>
                      </m:r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0" dirty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ˆ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20C4B6-A532-AC1C-9460-5465C0DA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705" y="3077907"/>
                <a:ext cx="5109191" cy="1834990"/>
              </a:xfrm>
              <a:prstGeom prst="rect">
                <a:avLst/>
              </a:prstGeom>
              <a:blipFill>
                <a:blip r:embed="rId4"/>
                <a:stretch>
                  <a:fillRect l="-993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13388C5-FD6D-9539-B737-680EFF6DCF9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38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23BB-5BA7-480E-36DA-0208FC28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A8D78E-A95A-EC4F-EA0C-478C242EAE02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2.4.8  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520A92-B360-55BD-C53F-8F1B2DC920A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B7281B1-5199-536F-AB19-D10FB2FFE355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BE62442-FAB2-EA41-D74B-7D373A99B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65" y="1042650"/>
            <a:ext cx="9474593" cy="4890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6496AD-8112-D7D0-8615-60C90CE99AB1}"/>
              </a:ext>
            </a:extLst>
          </p:cNvPr>
          <p:cNvSpPr txBox="1"/>
          <p:nvPr/>
        </p:nvSpPr>
        <p:spPr>
          <a:xfrm>
            <a:off x="862143" y="6101168"/>
            <a:ext cx="78258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PRIAL of FLAIC relative to IComb: Average across 112 hierarchy series. FLAIC-S and FLAIC-L are compared against matching IComb-S and IComb-L. Uses seasonal-naïve scaled errors to compute MSSFE, the PRIAL</a:t>
            </a:r>
          </a:p>
        </p:txBody>
      </p:sp>
    </p:spTree>
    <p:extLst>
      <p:ext uri="{BB962C8B-B14F-4D97-AF65-F5344CB8AC3E}">
        <p14:creationId xmlns:p14="http://schemas.microsoft.com/office/powerpoint/2010/main" val="3000512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B5E6-370A-9345-6BBA-01FDAEE4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2B20D8-E66B-3CEA-E20E-01C298246D5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2.4.8  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5ACE17-048F-A3A5-C73B-826BCDF6AE3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9B040B4-0222-A97B-3F9E-D300E79D8F4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B8830-5DEF-CEE1-4541-9A98F3A1C009}"/>
              </a:ext>
            </a:extLst>
          </p:cNvPr>
          <p:cNvSpPr txBox="1"/>
          <p:nvPr/>
        </p:nvSpPr>
        <p:spPr>
          <a:xfrm>
            <a:off x="862143" y="6101168"/>
            <a:ext cx="78258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PRIAL of FLAIC relative to IComb: Average across 112 hierarchy series. FLAIC-S and FLAIC-L are compared against matching IComb-S and IComb-L. Uses variance </a:t>
            </a:r>
            <a:r>
              <a:rPr lang="en-US" sz="1100" dirty="0" err="1">
                <a:latin typeface="Constantia" panose="02030602050306030303" pitchFamily="18" charset="0"/>
              </a:rPr>
              <a:t>standardised</a:t>
            </a:r>
            <a:r>
              <a:rPr lang="en-US" sz="1100" dirty="0">
                <a:latin typeface="Constantia" panose="02030602050306030303" pitchFamily="18" charset="0"/>
              </a:rPr>
              <a:t> scaled errors to compute MSSFE, the PRIAL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72D68F-41C0-6C68-DC42-0E61FD2F3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672" y="1070981"/>
            <a:ext cx="9364825" cy="483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2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1E92CE-95A1-647A-8101-51D0460BCB24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solidFill>
                  <a:srgbClr val="0134FF"/>
                </a:solidFill>
                <a:latin typeface="Constantia" panose="02030602050306030303" pitchFamily="18" charset="0"/>
              </a:rPr>
              <a:t>MinT</a:t>
            </a:r>
            <a:r>
              <a:rPr lang="en-US" sz="3000" dirty="0">
                <a:solidFill>
                  <a:srgbClr val="0134FF"/>
                </a:solidFill>
                <a:latin typeface="Constantia" panose="02030602050306030303" pitchFamily="18" charset="0"/>
              </a:rPr>
              <a:t>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2E22B-6D36-8FBD-96EE-9FACED519F7F}"/>
                  </a:ext>
                </a:extLst>
              </p:cNvPr>
              <p:cNvSpPr txBox="1"/>
              <p:nvPr/>
            </p:nvSpPr>
            <p:spPr>
              <a:xfrm>
                <a:off x="391885" y="3312792"/>
                <a:ext cx="10533414" cy="2627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Unbiasedness constraint (which is constraint needed to preserve unbiasedness of reconciled forecasts if base forecasts are unbiased):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Minimise</a:t>
                </a:r>
                <a:r>
                  <a:rPr lang="en-US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trace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MinT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sz="2000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    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estimated from in-sample forecast errors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2E22B-6D36-8FBD-96EE-9FACED519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" y="3312792"/>
                <a:ext cx="10533414" cy="2627129"/>
              </a:xfrm>
              <a:prstGeom prst="rect">
                <a:avLst/>
              </a:prstGeom>
              <a:blipFill>
                <a:blip r:embed="rId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/>
              <p:nvPr/>
            </p:nvSpPr>
            <p:spPr>
              <a:xfrm>
                <a:off x="605641" y="959651"/>
                <a:ext cx="10735293" cy="204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GB" sz="2000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Key benchmark: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Minimum Trace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) reconciliation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Wickramasuriya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et al., 2019).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   Under unbiasedness of base forecasts: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MinT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GB" sz="2000" dirty="0">
                  <a:solidFill>
                    <a:srgbClr val="3B3B3B"/>
                  </a:solidFill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base forecast error covariance matrix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1" y="959651"/>
                <a:ext cx="10735293" cy="2040174"/>
              </a:xfrm>
              <a:prstGeom prst="rect">
                <a:avLst/>
              </a:prstGeom>
              <a:blipFill>
                <a:blip r:embed="rId3"/>
                <a:stretch>
                  <a:fillRect l="-473" b="-4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2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1E92CE-95A1-647A-8101-51D0460BCB24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solidFill>
                  <a:srgbClr val="0134FF"/>
                </a:solidFill>
                <a:latin typeface="Constantia" panose="02030602050306030303" pitchFamily="18" charset="0"/>
              </a:rPr>
              <a:t>MinT</a:t>
            </a:r>
            <a:r>
              <a:rPr lang="en-US" sz="3000" dirty="0">
                <a:solidFill>
                  <a:srgbClr val="0134FF"/>
                </a:solidFill>
                <a:latin typeface="Constantia" panose="02030602050306030303" pitchFamily="18" charset="0"/>
              </a:rPr>
              <a:t> details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/>
              <p:nvPr/>
            </p:nvSpPr>
            <p:spPr>
              <a:xfrm>
                <a:off x="605641" y="959651"/>
                <a:ext cx="10782795" cy="5133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GB" sz="2000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MinT has OLS and WLS as special cases: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base forecast error covariance matrix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OLS case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WLS (variance scaling) case </a:t>
                </a:r>
              </a:p>
              <a:p>
                <a:pPr lvl="1"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	(Hyndman et al., 2016)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𝐒𝟏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WLS (structural scaling) case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Athanasopoulos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et al., 2017)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gives same answer as GLS even though different loss function being minimised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Wickramasuriya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2021)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and its special cases are considered projections as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a </a:t>
                </a:r>
                <a:r>
                  <a:rPr lang="en-GB" sz="2000" i="1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projection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In these cases,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a projection matrix as it meets idempotence property: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>
                  <a:solidFill>
                    <a:srgbClr val="3B3B3B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1" y="959651"/>
                <a:ext cx="10782795" cy="5133328"/>
              </a:xfrm>
              <a:prstGeom prst="rect">
                <a:avLst/>
              </a:prstGeom>
              <a:blipFill>
                <a:blip r:embed="rId2"/>
                <a:stretch>
                  <a:fillRect l="-471" b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6277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C6EE-6361-B74D-13FC-83B48844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7419DE-727D-6B62-721C-006F4FFB3FBF}"/>
              </a:ext>
            </a:extLst>
          </p:cNvPr>
          <p:cNvSpPr txBox="1">
            <a:spLocks/>
          </p:cNvSpPr>
          <p:nvPr/>
        </p:nvSpPr>
        <p:spPr>
          <a:xfrm>
            <a:off x="3432607" y="2321095"/>
            <a:ext cx="612194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EXTRAS / WORKSPACE – please ignore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B5A86-D26D-D5D8-B37D-63A4A80AA569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8/XX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137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930A-7E1A-B772-A10E-5ED5704A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D82F9AA5-F2D2-D2ED-0964-7B8A3D148E07}"/>
              </a:ext>
            </a:extLst>
          </p:cNvPr>
          <p:cNvGrpSpPr/>
          <p:nvPr/>
        </p:nvGrpSpPr>
        <p:grpSpPr>
          <a:xfrm>
            <a:off x="552987" y="1512510"/>
            <a:ext cx="6325465" cy="3570272"/>
            <a:chOff x="263364" y="1132593"/>
            <a:chExt cx="6325465" cy="357027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A7A0D24-9845-8106-D0B3-585603D16092}"/>
                </a:ext>
              </a:extLst>
            </p:cNvPr>
            <p:cNvGrpSpPr/>
            <p:nvPr/>
          </p:nvGrpSpPr>
          <p:grpSpPr>
            <a:xfrm>
              <a:off x="263364" y="1132593"/>
              <a:ext cx="6325465" cy="3570272"/>
              <a:chOff x="31987" y="1038637"/>
              <a:chExt cx="6325465" cy="3570272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DD3A898-FA34-D3C7-B1C8-4DF1AFDBF594}"/>
                  </a:ext>
                </a:extLst>
              </p:cNvPr>
              <p:cNvSpPr txBox="1"/>
              <p:nvPr/>
            </p:nvSpPr>
            <p:spPr>
              <a:xfrm>
                <a:off x="5707940" y="4178022"/>
                <a:ext cx="649512" cy="4308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7938" algn="ctr"/>
                <a:r>
                  <a:rPr lang="en-US" sz="1100" dirty="0"/>
                  <a:t>Alice Springs</a:t>
                </a:r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FD615716-D33C-E849-DEE8-6DE26E72071C}"/>
                  </a:ext>
                </a:extLst>
              </p:cNvPr>
              <p:cNvGrpSpPr/>
              <p:nvPr/>
            </p:nvGrpSpPr>
            <p:grpSpPr>
              <a:xfrm>
                <a:off x="31987" y="1038637"/>
                <a:ext cx="6151886" cy="3487146"/>
                <a:chOff x="31987" y="1038637"/>
                <a:chExt cx="6151886" cy="3487146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A36D7447-B76E-50AF-7A6E-501648D49E17}"/>
                    </a:ext>
                  </a:extLst>
                </p:cNvPr>
                <p:cNvGrpSpPr/>
                <p:nvPr/>
              </p:nvGrpSpPr>
              <p:grpSpPr>
                <a:xfrm>
                  <a:off x="287517" y="1038637"/>
                  <a:ext cx="5382706" cy="1413593"/>
                  <a:chOff x="287517" y="1038637"/>
                  <a:chExt cx="5382706" cy="1413593"/>
                </a:xfrm>
              </p:grpSpPr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4A10F884-D871-2B21-DB82-1A1053FDE084}"/>
                      </a:ext>
                    </a:extLst>
                  </p:cNvPr>
                  <p:cNvSpPr txBox="1"/>
                  <p:nvPr/>
                </p:nvSpPr>
                <p:spPr>
                  <a:xfrm>
                    <a:off x="2503711" y="1038637"/>
                    <a:ext cx="725864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AUS</a:t>
                    </a:r>
                  </a:p>
                </p:txBody>
              </p: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6A9F629E-0C89-C3D7-388C-3A7E221999BF}"/>
                      </a:ext>
                    </a:extLst>
                  </p:cNvPr>
                  <p:cNvCxnSpPr>
                    <a:stCxn id="4" idx="2"/>
                  </p:cNvCxnSpPr>
                  <p:nvPr/>
                </p:nvCxnSpPr>
                <p:spPr>
                  <a:xfrm flipH="1">
                    <a:off x="2856322" y="1407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D60ED9AC-A33E-AA2F-9743-9E15258C76C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5044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1B27768E-9D0B-FC43-D657-E703E69A22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449" y="1731969"/>
                    <a:ext cx="4656842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6DF0653C-2C10-B95C-8D8D-B019631AD26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415591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5021EDD-1850-6C34-7E7B-0839F312016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10531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D0130E14-73E5-DD38-9EC9-CC9F72C5FC1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856322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DA93A7E2-DD7B-228A-1AC2-77EAF09BDDB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579043" y="1734487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75602BA0-D824-7509-59B2-97C8162568E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419600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666578F2-A605-D453-8D2A-73F483108F5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307291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603FD36-0FA0-BF71-CDEE-88AA0CD24C3F}"/>
                      </a:ext>
                    </a:extLst>
                  </p:cNvPr>
                  <p:cNvSpPr txBox="1"/>
                  <p:nvPr/>
                </p:nvSpPr>
                <p:spPr>
                  <a:xfrm>
                    <a:off x="287517" y="2082898"/>
                    <a:ext cx="725864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VIC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1BBCE287-C8A2-435C-D8C6-E7FB66A5F7E1}"/>
                      </a:ext>
                    </a:extLst>
                  </p:cNvPr>
                  <p:cNvSpPr txBox="1"/>
                  <p:nvPr/>
                </p:nvSpPr>
                <p:spPr>
                  <a:xfrm>
                    <a:off x="4944359" y="2082898"/>
                    <a:ext cx="725864" cy="369332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NT</a:t>
                    </a: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39F30984-53E6-5F7E-EBC4-AC69998B84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37989" y="2079666"/>
                        <a:ext cx="3400826" cy="369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dirty="0"/>
                          <a:t> </a:t>
                        </a:r>
                        <a:r>
                          <a:rPr lang="en-US" dirty="0">
                            <a:solidFill>
                              <a:prstClr val="black"/>
                            </a:solidFill>
                          </a:rPr>
                          <a:t> </a:t>
                        </a:r>
                        <a:r>
                          <a:rPr lang="en-US" dirty="0"/>
                          <a:t>            </a:t>
                        </a:r>
                        <a14:m>
                          <m:oMath xmlns:m="http://schemas.openxmlformats.org/officeDocument/2006/math"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dirty="0"/>
                          <a:t>               </a:t>
                        </a:r>
                        <a14:m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oMath>
                        </a14:m>
                        <a:endParaRPr lang="en-US" dirty="0"/>
                      </a:p>
                    </p:txBody>
                  </p:sp>
                </mc:Choice>
                <mc:Fallback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39F30984-53E6-5F7E-EBC4-AC69998B848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7989" y="2079666"/>
                        <a:ext cx="3400826" cy="369332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7241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EF00A77D-7CAC-D37C-74E3-39735969A251}"/>
                    </a:ext>
                  </a:extLst>
                </p:cNvPr>
                <p:cNvGrpSpPr/>
                <p:nvPr/>
              </p:nvGrpSpPr>
              <p:grpSpPr>
                <a:xfrm>
                  <a:off x="31987" y="2447021"/>
                  <a:ext cx="6151886" cy="2078762"/>
                  <a:chOff x="31987" y="2447021"/>
                  <a:chExt cx="6151886" cy="2078762"/>
                </a:xfrm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8EF5F96B-835E-01D9-28F9-256D426F76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93865" y="3873771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5C8A8174-C547-9BB1-07BB-1AF33B0F4A43}"/>
                      </a:ext>
                    </a:extLst>
                  </p:cNvPr>
                  <p:cNvGrpSpPr/>
                  <p:nvPr/>
                </p:nvGrpSpPr>
                <p:grpSpPr>
                  <a:xfrm>
                    <a:off x="31987" y="2447021"/>
                    <a:ext cx="6151886" cy="2078762"/>
                    <a:chOff x="31987" y="2447021"/>
                    <a:chExt cx="6151886" cy="2078762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A9E08696-ADB6-94C2-09A3-5991AB884DC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44918" y="2778014"/>
                          <a:ext cx="338098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:endParaRPr lang="en-US" dirty="0"/>
                        </a:p>
                      </p:txBody>
                    </p:sp>
                  </mc:Choice>
                  <mc:Fallback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A9E08696-ADB6-94C2-09A3-5991AB884DC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44918" y="2778014"/>
                          <a:ext cx="338098" cy="369332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92" name="Group 91">
                      <a:extLst>
                        <a:ext uri="{FF2B5EF4-FFF2-40B4-BE49-F238E27FC236}">
                          <a16:creationId xmlns:a16="http://schemas.microsoft.com/office/drawing/2014/main" id="{6DD7B3A1-1927-DBBB-6A65-A690DDB8B8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987" y="2447021"/>
                      <a:ext cx="6151886" cy="2078762"/>
                      <a:chOff x="31987" y="2447021"/>
                      <a:chExt cx="6151886" cy="2078762"/>
                    </a:xfrm>
                  </p:grpSpPr>
                  <p:cxnSp>
                    <p:nvCxnSpPr>
                      <p:cNvPr id="51" name="Straight Connector 50">
                        <a:extLst>
                          <a:ext uri="{FF2B5EF4-FFF2-40B4-BE49-F238E27FC236}">
                            <a16:creationId xmlns:a16="http://schemas.microsoft.com/office/drawing/2014/main" id="{94D4D3AB-FD6F-1B91-87D0-F368C50A1071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650449" y="245456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8C71ABD9-38CC-75C5-5881-732B148AAD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7517" y="277856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52EC6CF9-02ED-D8BA-CE09-72ED77703B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019" y="3109557"/>
                        <a:ext cx="581430" cy="4308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100" dirty="0"/>
                          <a:t>Metro</a:t>
                        </a:r>
                      </a:p>
                      <a:p>
                        <a:pPr algn="ctr"/>
                        <a:r>
                          <a:rPr lang="en-US" sz="1100" dirty="0"/>
                          <a:t>VIC</a:t>
                        </a:r>
                      </a:p>
                    </p:txBody>
                  </p: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13047B89-DAC2-3124-D434-6ECF1B964D0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287517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978673CF-6BA6-E137-0C52-06C2D2E566F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1112363" y="278555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33BB155F-96B5-FEBB-A1C9-F13C069DD21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67860" y="2562011"/>
                            <a:ext cx="3400826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</a:t>
                            </a:r>
                            <a:r>
                              <a:rPr lang="en-US" dirty="0">
                                <a:solidFill>
                                  <a:prstClr val="black"/>
                                </a:solidFill>
                              </a:rPr>
                              <a:t> </a:t>
                            </a:r>
                            <a:r>
                              <a:rPr lang="en-US" dirty="0"/>
                              <a:t>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a14:m>
                            <a:endParaRPr lang="en-US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33BB155F-96B5-FEBB-A1C9-F13C069DD21B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167860" y="2562011"/>
                            <a:ext cx="3400826" cy="369332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 b="-16667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E62191D2-2E02-D080-2F98-1C0783F5DA6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5280581" y="2447021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91227CE3-2E6C-9F67-D827-63CA74CE1EE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17649" y="2771021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4D3F2B53-2F8C-BC36-E378-A1D4FF8F06A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4917649" y="2770471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F737109B-D35D-A19A-F57B-5A1B31FF0FDB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5742495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481B1066-C008-E810-10CB-8868C5F2779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63399" y="2789730"/>
                        <a:ext cx="0" cy="285481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TextBox 71">
                        <a:extLst>
                          <a:ext uri="{FF2B5EF4-FFF2-40B4-BE49-F238E27FC236}">
                            <a16:creationId xmlns:a16="http://schemas.microsoft.com/office/drawing/2014/main" id="{34FD98D1-CD7A-909E-A2DA-B0BA75F7EC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51779" y="3102014"/>
                        <a:ext cx="599055" cy="4308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100" dirty="0"/>
                          <a:t>Central</a:t>
                        </a:r>
                      </a:p>
                      <a:p>
                        <a:pPr algn="ctr"/>
                        <a:r>
                          <a:rPr lang="en-US" sz="1100" dirty="0"/>
                          <a:t>NT</a:t>
                        </a:r>
                      </a:p>
                    </p:txBody>
                  </p: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557C9BA3-1C7C-0B4B-F2DF-FFAB7EC53DE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10581" y="3157316"/>
                            <a:ext cx="4624035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</a:t>
                            </a:r>
                            <a:r>
                              <a:rPr lang="en-US" dirty="0">
                                <a:solidFill>
                                  <a:prstClr val="black"/>
                                </a:solidFill>
                              </a:rPr>
                              <a:t> </a:t>
                            </a:r>
                            <a:r>
                              <a:rPr lang="en-US" dirty="0"/>
                              <a:t>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</a:t>
                            </a:r>
                            <a:r>
                              <a:rPr lang="en-US" dirty="0"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557C9BA3-1C7C-0B4B-F2DF-FFAB7EC53DE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10581" y="3157316"/>
                            <a:ext cx="4624035" cy="369332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1B1C3898-33CA-E6EB-888D-A8E64EF8B2F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07941" y="3545502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Straight Connector 77">
                        <a:extLst>
                          <a:ext uri="{FF2B5EF4-FFF2-40B4-BE49-F238E27FC236}">
                            <a16:creationId xmlns:a16="http://schemas.microsoft.com/office/drawing/2014/main" id="{DE5EBCAB-35CE-A1D7-ECC5-7746F24150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9019" y="386444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71BA99C0-90CF-866E-0659-9D664B7D831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9019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TextBox 79">
                        <a:extLst>
                          <a:ext uri="{FF2B5EF4-FFF2-40B4-BE49-F238E27FC236}">
                            <a16:creationId xmlns:a16="http://schemas.microsoft.com/office/drawing/2014/main" id="{5110B467-88C7-2019-3FCE-5D55BA270B7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987" y="4197771"/>
                        <a:ext cx="449455" cy="26161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7938" algn="ctr"/>
                        <a:r>
                          <a:rPr lang="en-US" sz="1100" dirty="0"/>
                          <a:t>Mel</a:t>
                        </a:r>
                      </a:p>
                    </p:txBody>
                  </p:sp>
                  <p:cxnSp>
                    <p:nvCxnSpPr>
                      <p:cNvPr id="81" name="Straight Connector 80">
                        <a:extLst>
                          <a:ext uri="{FF2B5EF4-FFF2-40B4-BE49-F238E27FC236}">
                            <a16:creationId xmlns:a16="http://schemas.microsoft.com/office/drawing/2014/main" id="{59DC935B-1E72-F563-01F5-7632E0D2195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4193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6C510363-E9AD-B2F1-85E6-BF563FE51A7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81170" y="3708288"/>
                            <a:ext cx="4624035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</a:t>
                            </a:r>
                            <a:r>
                              <a:rPr lang="en-US" dirty="0">
                                <a:solidFill>
                                  <a:prstClr val="black"/>
                                </a:solidFill>
                              </a:rPr>
                              <a:t> </a:t>
                            </a:r>
                            <a:r>
                              <a:rPr lang="en-US" dirty="0"/>
                              <a:t>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</a:t>
                            </a:r>
                            <a:r>
                              <a:rPr lang="en-US" dirty="0"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6C510363-E9AD-B2F1-85E6-BF563FE51A75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81170" y="3708288"/>
                            <a:ext cx="4624035" cy="369332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84" name="Straight Connector 83">
                        <a:extLst>
                          <a:ext uri="{FF2B5EF4-FFF2-40B4-BE49-F238E27FC236}">
                            <a16:creationId xmlns:a16="http://schemas.microsoft.com/office/drawing/2014/main" id="{CF5574EC-2317-576C-393D-5363883FC12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40923" y="3526648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C1FA77AA-C64B-0F26-6E67-B2F3B833C92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359027" y="3855117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3022917F-1A4E-1547-8C1A-5D39651BDB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359027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3860F01A-3334-676C-68B8-6049EF29346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618326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C879F6B9-9F9E-7E9D-12E1-B9B51541FA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18387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E071EDFF-404A-CD84-F3AB-6F17677CC18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4798" y="4156451"/>
                            <a:ext cx="5511844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</a:t>
                            </a:r>
                            <a:r>
                              <a:rPr lang="en-US" dirty="0">
                                <a:solidFill>
                                  <a:prstClr val="black"/>
                                </a:solidFill>
                              </a:rPr>
                              <a:t> </a:t>
                            </a:r>
                            <a:r>
                              <a:rPr lang="en-US" dirty="0"/>
                              <a:t>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   </a:t>
                            </a:r>
                            <a:r>
                              <a:rPr lang="en-US" dirty="0"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dirty="0"/>
                              <a:t>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dirty="0"/>
                          </a:p>
                        </p:txBody>
                      </p:sp>
                    </mc:Choice>
                    <mc:Fallback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E071EDFF-404A-CD84-F3AB-6F17677CC18D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4798" y="4156451"/>
                            <a:ext cx="5511844" cy="369332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</p:grp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3C1AC54-B176-A22A-0635-3004C1950125}"/>
                    </a:ext>
                  </a:extLst>
                </p:cNvPr>
                <p:cNvSpPr txBox="1"/>
                <p:nvPr/>
              </p:nvSpPr>
              <p:spPr>
                <a:xfrm>
                  <a:off x="780226" y="3986910"/>
                  <a:ext cx="3380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800" dirty="0"/>
                    <a:t> </a:t>
                  </a:r>
                  <a:endParaRPr lang="en-US" dirty="0"/>
                </a:p>
              </p:txBody>
            </p:sp>
          </mc:Choice>
          <mc:Fallback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63C1AC54-B176-A22A-0635-3004C1950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26" y="3986910"/>
                  <a:ext cx="33809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3F57E70-1A33-D1A8-6EF7-AFBF7C9A4442}"/>
                    </a:ext>
                  </a:extLst>
                </p:cNvPr>
                <p:cNvSpPr txBox="1"/>
                <p:nvPr/>
              </p:nvSpPr>
              <p:spPr>
                <a:xfrm>
                  <a:off x="5533251" y="3931228"/>
                  <a:ext cx="3380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800" dirty="0"/>
                    <a:t> </a:t>
                  </a:r>
                  <a:endParaRPr lang="en-US" dirty="0"/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3F57E70-1A33-D1A8-6EF7-AFBF7C9A4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251" y="3931228"/>
                  <a:ext cx="33809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33DDD3-1DD6-66E9-E1DF-A003A06FCC80}"/>
                  </a:ext>
                </a:extLst>
              </p:cNvPr>
              <p:cNvSpPr txBox="1"/>
              <p:nvPr/>
            </p:nvSpPr>
            <p:spPr>
              <a:xfrm>
                <a:off x="6848297" y="1164371"/>
                <a:ext cx="3186260" cy="12034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Constantia" panose="02030602050306030303" pitchFamily="18" charset="0"/>
                  </a:rPr>
                  <a:t>2. Forecast components to get component-augmented forecasts </a:t>
                </a:r>
              </a:p>
              <a:p>
                <a:pPr algn="ctr"/>
                <a:endParaRPr lang="en-US" sz="1600" dirty="0">
                  <a:latin typeface="Constantia" panose="02030602050306030303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1">
                                          <a:latin typeface="Cambria Math" panose="02040503050406030204" pitchFamily="18" charset="0"/>
                                        </a:rPr>
                                        <m:t>𝐜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33DDD3-1DD6-66E9-E1DF-A003A06FC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297" y="1164371"/>
                <a:ext cx="3186260" cy="1203471"/>
              </a:xfrm>
              <a:prstGeom prst="rect">
                <a:avLst/>
              </a:prstGeom>
              <a:blipFill>
                <a:blip r:embed="rId10"/>
                <a:stretch>
                  <a:fillRect t="-1042" r="-3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09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11779</TotalTime>
  <Words>3946</Words>
  <Application>Microsoft Macintosh PowerPoint</Application>
  <PresentationFormat>Widescreen</PresentationFormat>
  <Paragraphs>713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Calibri Light</vt:lpstr>
      <vt:lpstr>Cambria</vt:lpstr>
      <vt:lpstr>Cambria Math</vt:lpstr>
      <vt:lpstr>Constantia</vt:lpstr>
      <vt:lpstr>Courier New</vt:lpstr>
      <vt:lpstr>Wingdings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of Fiji’s Exchange Rate</dc:title>
  <dc:creator>Branesh Prakash</dc:creator>
  <cp:lastModifiedBy>Branesh Prakash</cp:lastModifiedBy>
  <cp:revision>75</cp:revision>
  <cp:lastPrinted>2022-11-28T21:33:50Z</cp:lastPrinted>
  <dcterms:created xsi:type="dcterms:W3CDTF">2022-11-23T22:13:59Z</dcterms:created>
  <dcterms:modified xsi:type="dcterms:W3CDTF">2026-10-20T20:06:20Z</dcterms:modified>
</cp:coreProperties>
</file>