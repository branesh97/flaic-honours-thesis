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3" r:id="rId1"/>
  </p:sldMasterIdLst>
  <p:notesMasterIdLst>
    <p:notesMasterId r:id="rId37"/>
  </p:notesMasterIdLst>
  <p:sldIdLst>
    <p:sldId id="257" r:id="rId2"/>
    <p:sldId id="350" r:id="rId3"/>
    <p:sldId id="351" r:id="rId4"/>
    <p:sldId id="388" r:id="rId5"/>
    <p:sldId id="357" r:id="rId6"/>
    <p:sldId id="359" r:id="rId7"/>
    <p:sldId id="361" r:id="rId8"/>
    <p:sldId id="362" r:id="rId9"/>
    <p:sldId id="363" r:id="rId10"/>
    <p:sldId id="364" r:id="rId11"/>
    <p:sldId id="365" r:id="rId12"/>
    <p:sldId id="367" r:id="rId13"/>
    <p:sldId id="366" r:id="rId14"/>
    <p:sldId id="368" r:id="rId15"/>
    <p:sldId id="389" r:id="rId16"/>
    <p:sldId id="369" r:id="rId17"/>
    <p:sldId id="370" r:id="rId18"/>
    <p:sldId id="372" r:id="rId19"/>
    <p:sldId id="375" r:id="rId20"/>
    <p:sldId id="376" r:id="rId21"/>
    <p:sldId id="344" r:id="rId22"/>
    <p:sldId id="371" r:id="rId23"/>
    <p:sldId id="385" r:id="rId24"/>
    <p:sldId id="377" r:id="rId25"/>
    <p:sldId id="378" r:id="rId26"/>
    <p:sldId id="379" r:id="rId27"/>
    <p:sldId id="380" r:id="rId28"/>
    <p:sldId id="381" r:id="rId29"/>
    <p:sldId id="382" r:id="rId30"/>
    <p:sldId id="383" r:id="rId31"/>
    <p:sldId id="384" r:id="rId32"/>
    <p:sldId id="386" r:id="rId33"/>
    <p:sldId id="387" r:id="rId34"/>
    <p:sldId id="345" r:id="rId35"/>
    <p:sldId id="347" r:id="rId36"/>
  </p:sldIdLst>
  <p:sldSz cx="12192000" cy="6858000"/>
  <p:notesSz cx="6858000" cy="9144000"/>
  <p:defaultTextStyle>
    <a:defPPr>
      <a:defRPr lang="aa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2F92"/>
    <a:srgbClr val="0046FF"/>
    <a:srgbClr val="24827F"/>
    <a:srgbClr val="30B3AF"/>
    <a:srgbClr val="2EACA8"/>
    <a:srgbClr val="FF40FF"/>
    <a:srgbClr val="D66DD6"/>
    <a:srgbClr val="0134FF"/>
    <a:srgbClr val="0432FF"/>
    <a:srgbClr val="FF9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–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64"/>
    <p:restoredTop sz="91705" autoAdjust="0"/>
  </p:normalViewPr>
  <p:slideViewPr>
    <p:cSldViewPr snapToGrid="0" snapToObjects="1">
      <p:cViewPr varScale="1">
        <p:scale>
          <a:sx n="137" d="100"/>
          <a:sy n="137" d="100"/>
        </p:scale>
        <p:origin x="6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72BC75-4B5D-4948-9268-493F3D747B48}" type="datetimeFigureOut">
              <a:rPr lang="aa-ET" smtClean="0"/>
              <a:t>10/20/26</a:t>
            </a:fld>
            <a:endParaRPr lang="aa-E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aa-E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a-E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aa-E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34377B-F740-DC40-998F-335BCC9005E7}" type="slidenum">
              <a:rPr lang="aa-ET" smtClean="0"/>
              <a:t>‹#›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470629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447141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C13A30-87B0-F6AC-B621-90C6DC246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F8DFA-8044-9D6F-95FF-E58C72461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1082B-1BCB-DB78-9AC5-BB6D0B514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30FAAB-B773-787D-9299-AFBB2000A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2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3912615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Grid size = 200</a:t>
                </a:r>
              </a:p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Inner window’s validation set size = 40</a:t>
                </a:r>
              </a:p>
              <a:p>
                <a:pPr marL="1257300" lvl="2" indent="-342900"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Optimal </a:t>
                </a:r>
                <a14:m>
                  <m:oMath xmlns:m="http://schemas.openxmlformats.org/officeDocument/2006/math">
                    <m:r>
                      <a:rPr lang="en-US" sz="1600" i="1" dirty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minimises</a:t>
                </a:r>
                <a:r>
                  <a:rPr lang="en-US" sz="1600" dirty="0">
                    <a:latin typeface="Constantia" panose="02030602050306030303" pitchFamily="18" charset="0"/>
                  </a:rPr>
                  <a:t> mean squared forecast error of validation set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Grid size = 200</a:t>
                </a:r>
              </a:p>
              <a:p>
                <a:pPr marL="1257300" lvl="2" indent="-34290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Inner window’s validation set size = 40</a:t>
                </a:r>
              </a:p>
              <a:p>
                <a:pPr marL="1257300" lvl="2" indent="-342900"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Optimal </a:t>
                </a:r>
                <a:r>
                  <a:rPr lang="en-US" sz="1600" i="0" dirty="0">
                    <a:latin typeface="Cambria Math" panose="02040503050406030204" pitchFamily="18" charset="0"/>
                  </a:rPr>
                  <a:t>𝜆</a:t>
                </a:r>
                <a:r>
                  <a:rPr lang="en-US" sz="1600" dirty="0">
                    <a:latin typeface="Constantia" panose="02030602050306030303" pitchFamily="18" charset="0"/>
                  </a:rPr>
                  <a:t>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minimises</a:t>
                </a:r>
                <a:r>
                  <a:rPr lang="en-US" sz="1600" dirty="0">
                    <a:latin typeface="Constantia" panose="02030602050306030303" pitchFamily="18" charset="0"/>
                  </a:rPr>
                  <a:t> mean squared forecast error of validation set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10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600275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13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521139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dirty="0">
                <a:latin typeface="Constantia" panose="02030602050306030303" pitchFamily="18" charset="0"/>
              </a:rPr>
              <a:t>Panel A.</a:t>
            </a:r>
            <a:r>
              <a:rPr lang="en-US" sz="1200" dirty="0">
                <a:latin typeface="Constantia" panose="02030602050306030303" pitchFamily="18" charset="0"/>
              </a:rPr>
              <a:t> FLAIC performs better over greater number of origins and distribution of mean squared loss is relatively even</a:t>
            </a:r>
          </a:p>
          <a:p>
            <a:r>
              <a:rPr lang="en-US" sz="1200" b="1" dirty="0">
                <a:latin typeface="Constantia" panose="02030602050306030303" pitchFamily="18" charset="0"/>
              </a:rPr>
              <a:t>Panel B.</a:t>
            </a:r>
            <a:r>
              <a:rPr lang="en-US" sz="1200" dirty="0">
                <a:latin typeface="Constantia" panose="02030602050306030303" pitchFamily="18" charset="0"/>
              </a:rPr>
              <a:t> High magnitude of severely poor performance of FLAIC relative to IComb outweighs many origins where FLAIC performs relatively better than IComb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34377B-F740-DC40-998F-335BCC9005E7}" type="slidenum">
              <a:rPr lang="aa-ET" smtClean="0"/>
              <a:t>15</a:t>
            </a:fld>
            <a:endParaRPr lang="aa-ET"/>
          </a:p>
        </p:txBody>
      </p:sp>
    </p:spTree>
    <p:extLst>
      <p:ext uri="{BB962C8B-B14F-4D97-AF65-F5344CB8AC3E}">
        <p14:creationId xmlns:p14="http://schemas.microsoft.com/office/powerpoint/2010/main" val="2137711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7EEE8-08F8-AE62-30CA-F173EE6ED8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CE06DC-F036-BEC9-7F1D-5C79891DC5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21CB71-AC20-9F50-D3E3-716FF9091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71358-69C9-8FB4-85C2-BE220B695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21E9-4FC1-9479-DA18-EA8EEE0CF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864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B48CB-19E8-7299-DBA5-A884C991D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76EB54-E916-3A42-F0D2-164D89ED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3399D3-55DB-46C6-E78D-CFA94F88A4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0FD75-B31E-1715-E5DB-16ADF8F21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F0D95-38A3-3769-1EFF-61E0DD064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183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FF53B-235B-3F7A-A360-646DE3E4A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146737-A72D-7C47-9523-AF3C7F2D9E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BB7697-3269-230B-F84E-C7F6BADA4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BBED6-AF99-741A-673D-02F1DE828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EAB2A-F655-CD4E-FD28-70407A989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6024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98C9C-D368-CE2E-74D5-E03F908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F9942-1407-2EB6-20C2-C75BE98789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9BCB7-E609-65EC-11A0-CAC81E973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DEF6CF-3327-1C4C-9E72-C7803600A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EDA0C7-2E21-F43D-77DF-DC4E51C15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31FACE-0BC7-D708-AC3A-09D58C716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7442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05E6A-AC22-29AC-D170-C58649568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9418F-CC69-1C1D-7012-31EB764D3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52A12B-89BD-8DEC-2D27-F9A26E7D79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53E0E-8AF2-96DD-24A5-3123FE56CA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56F5CF-F50E-5842-7EFA-1D87C7DAC3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70EC987-128B-26D9-7DDF-E66F585E5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4FEAFC-31E4-529D-4373-404B4844F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3FA1A5-8B6E-47E2-4329-4408FEAC1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9859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96CD2-1D8A-BD1D-FE02-12E5919C4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43FA1-7387-A8E5-D3D5-A246603F1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8292D1-990A-4F6B-91B3-A46518000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373C3-4EE3-74C7-509A-24F3B27C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9821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74A7C6-67DE-1E8D-3EC9-F01BAD781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181CE-A73A-015A-5D9D-29D37E74F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F03BA3-8076-8FA2-7007-FFC815E01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3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C619-5EBC-45A4-DAE3-CF1F5D323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1CBDA-4B4B-02B3-E952-87D48E3FF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07B383-873C-BE13-FCF2-17F1040BB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F69996-1F58-72FB-ED69-4BF2BA67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ACDC-C849-9958-4564-A27157ED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AFAFBE-8ADC-DDB1-0790-D5C91F9A9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3989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C3E7-2627-AFC2-9A50-96A8EE4A5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783EE8-A42A-F5C5-7987-C553E04D62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D5E680-C5F3-2D94-E9C3-51BD2D1C9A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021AF7-B321-F2C2-AFEE-375C880D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D341BA-9959-B596-BA4D-BA0FBD1A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A1BA2-AD93-335E-0E02-B420B025C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3815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D0A11-496D-A531-BCDE-660481A98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D6218A-F1FE-FEBD-A179-479C4A3117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EBFF-21D8-9D87-2F1A-84FB640A8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9ECAFB-51E8-2E2D-1128-0E38E214B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D2CC04-A19A-0CEF-CE57-2A78CB35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713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1609F6-E105-9C23-C1BE-DE677ACF5E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4776A1-6181-5A9F-543A-1DFC5AFF6D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E006F-581C-FBB7-E634-4324810DC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CE152F-D057-1135-738F-08D61CC64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06ADB-65F2-B3A6-2BF7-AA0CE20057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14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8FFD3-A75D-26D9-A97C-2812D02C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FF3F8-3CF4-7964-144F-81B86F863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3D563A-8EF9-5BF2-A14F-12919E7E5F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577FC-746B-7B46-A050-E8E1CE0621FE}" type="datetimeFigureOut">
              <a:rPr lang="en-US" smtClean="0"/>
              <a:t>10/20/26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7FBDC4-E2CA-5D1B-B388-F844B48DC5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6140-2AFE-2FF5-8497-52C2B2BEFE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B6372-A7FA-AB41-924D-B338023F83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5397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69" r:id="rId6"/>
    <p:sldLayoutId id="2147483770" r:id="rId7"/>
    <p:sldLayoutId id="2147483771" r:id="rId8"/>
    <p:sldLayoutId id="2147483772" r:id="rId9"/>
    <p:sldLayoutId id="2147483773" r:id="rId10"/>
    <p:sldLayoutId id="21474837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4.png"/><Relationship Id="rId4" Type="http://schemas.openxmlformats.org/officeDocument/2006/relationships/image" Target="../media/image53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68.sv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3.svg"/><Relationship Id="rId4" Type="http://schemas.openxmlformats.org/officeDocument/2006/relationships/image" Target="../media/image7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5.png"/><Relationship Id="rId4" Type="http://schemas.openxmlformats.org/officeDocument/2006/relationships/image" Target="../media/image7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7.png"/><Relationship Id="rId4" Type="http://schemas.openxmlformats.org/officeDocument/2006/relationships/image" Target="../media/image76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sv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sv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sv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AE42-5FC7-026A-D5A3-8F35ED6C2D0D}"/>
              </a:ext>
            </a:extLst>
          </p:cNvPr>
          <p:cNvSpPr txBox="1">
            <a:spLocks/>
          </p:cNvSpPr>
          <p:nvPr/>
        </p:nvSpPr>
        <p:spPr>
          <a:xfrm>
            <a:off x="143727" y="188316"/>
            <a:ext cx="6311346" cy="708862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Constantia" panose="02030602050306030303" pitchFamily="18" charset="0"/>
              </a:rPr>
              <a:t>Thesis Presentation: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A797A8-C822-2389-ACF1-17F85DC7803B}"/>
              </a:ext>
            </a:extLst>
          </p:cNvPr>
          <p:cNvSpPr txBox="1">
            <a:spLocks/>
          </p:cNvSpPr>
          <p:nvPr/>
        </p:nvSpPr>
        <p:spPr>
          <a:xfrm>
            <a:off x="253762" y="4845562"/>
            <a:ext cx="5704543" cy="1456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Branesh Prakash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EBS Honours/Masters Presentation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23 October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77A5DF-F078-65DC-A423-825369275982}"/>
              </a:ext>
            </a:extLst>
          </p:cNvPr>
          <p:cNvSpPr txBox="1"/>
          <p:nvPr/>
        </p:nvSpPr>
        <p:spPr>
          <a:xfrm>
            <a:off x="2277498" y="1953417"/>
            <a:ext cx="7863055" cy="1668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600" b="1" i="1" dirty="0">
                <a:solidFill>
                  <a:srgbClr val="0046FF"/>
                </a:solidFill>
                <a:effectLst/>
                <a:latin typeface="Constantia" panose="02030602050306030303" pitchFamily="18" charset="0"/>
              </a:rPr>
              <a:t>Forecasting with Linear Augmented Information Combination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F84DD-AC9E-A3F5-9193-86E81DBE5DC5}"/>
              </a:ext>
            </a:extLst>
          </p:cNvPr>
          <p:cNvSpPr txBox="1"/>
          <p:nvPr/>
        </p:nvSpPr>
        <p:spPr>
          <a:xfrm>
            <a:off x="7848103" y="5132035"/>
            <a:ext cx="4083460" cy="1219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800" i="1" u="sng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Supervisors:</a:t>
            </a:r>
          </a:p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Dr. Shanika L </a:t>
            </a: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Wickramasuriya</a:t>
            </a: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 &amp;</a:t>
            </a:r>
          </a:p>
          <a:p>
            <a:pPr>
              <a:lnSpc>
                <a:spcPct val="140000"/>
              </a:lnSpc>
            </a:pPr>
            <a:r>
              <a:rPr lang="en-US" sz="1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Prof. George </a:t>
            </a:r>
            <a:r>
              <a:rPr lang="en-US" sz="18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ambria" panose="02040503050406030204" pitchFamily="18" charset="0"/>
              </a:rPr>
              <a:t>Athanasopoulos</a:t>
            </a:r>
            <a:endParaRPr lang="en-US" i="1" dirty="0">
              <a:solidFill>
                <a:schemeClr val="tx1">
                  <a:lumMod val="65000"/>
                  <a:lumOff val="35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2782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B72BF-4823-912C-9BE1-C5CB922D7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C70E338-7301-7CB5-8B6C-86314B5D6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453" y="171002"/>
            <a:ext cx="11386868" cy="726145"/>
          </a:xfrm>
        </p:spPr>
        <p:txBody>
          <a:bodyPr vert="horz" wrap="square" lIns="91440" tIns="45720" rIns="91440" bIns="45720" rtlCol="0" anchor="b" anchorCtr="0">
            <a:normAutofit/>
          </a:bodyPr>
          <a:lstStyle/>
          <a:p>
            <a:r>
              <a:rPr lang="en-US" sz="3200" kern="1200" cap="none" spc="0" baseline="0" dirty="0">
                <a:solidFill>
                  <a:srgbClr val="0046FF"/>
                </a:solidFill>
                <a:latin typeface="Constantia" panose="02030602050306030303" pitchFamily="18" charset="0"/>
              </a:rPr>
              <a:t>Outline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01F23E-7D0D-6A98-FE4C-87004584D5A7}"/>
              </a:ext>
            </a:extLst>
          </p:cNvPr>
          <p:cNvSpPr txBox="1"/>
          <p:nvPr/>
        </p:nvSpPr>
        <p:spPr>
          <a:xfrm>
            <a:off x="474453" y="1106816"/>
            <a:ext cx="10830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134FF"/>
                </a:solidFill>
                <a:effectLst/>
                <a:latin typeface="Constantia" panose="02030602050306030303" pitchFamily="18" charset="0"/>
              </a:rPr>
              <a:t>Part 1.</a:t>
            </a:r>
            <a:r>
              <a:rPr lang="en-GB" sz="2200" dirty="0">
                <a:effectLst/>
                <a:latin typeface="Constantia" panose="02030602050306030303" pitchFamily="18" charset="0"/>
              </a:rPr>
              <a:t> 		</a:t>
            </a:r>
            <a:r>
              <a:rPr lang="en-GB" sz="2200" i="1" dirty="0">
                <a:effectLst/>
                <a:latin typeface="Constantia" panose="02030602050306030303" pitchFamily="18" charset="0"/>
              </a:rPr>
              <a:t>Research Question and Method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FA04A-2229-0AFC-9E1E-8A045CB5EB8E}"/>
              </a:ext>
            </a:extLst>
          </p:cNvPr>
          <p:cNvSpPr txBox="1"/>
          <p:nvPr/>
        </p:nvSpPr>
        <p:spPr>
          <a:xfrm>
            <a:off x="474453" y="5404795"/>
            <a:ext cx="1083085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>
                <a:solidFill>
                  <a:srgbClr val="0134FF"/>
                </a:solidFill>
                <a:effectLst/>
                <a:latin typeface="Constantia" panose="02030602050306030303" pitchFamily="18" charset="0"/>
              </a:rPr>
              <a:t>Part 2.</a:t>
            </a:r>
            <a:r>
              <a:rPr lang="en-GB" sz="2200" dirty="0">
                <a:effectLst/>
                <a:latin typeface="Constantia" panose="02030602050306030303" pitchFamily="18" charset="0"/>
              </a:rPr>
              <a:t> 		</a:t>
            </a:r>
            <a:r>
              <a:rPr lang="en-GB" sz="2200" i="1" dirty="0">
                <a:effectLst/>
                <a:latin typeface="Constantia" panose="02030602050306030303" pitchFamily="18" charset="0"/>
              </a:rPr>
              <a:t>Empirical </a:t>
            </a:r>
            <a:r>
              <a:rPr lang="en-GB" sz="2200" i="1" dirty="0">
                <a:latin typeface="Constantia" panose="02030602050306030303" pitchFamily="18" charset="0"/>
              </a:rPr>
              <a:t>Investigation</a:t>
            </a:r>
            <a:endParaRPr lang="en-GB" sz="2200" i="1" dirty="0">
              <a:effectLst/>
              <a:latin typeface="Constantia" panose="0203060205030603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7CBFEE8A-0519-97D2-BA74-776022890A3F}"/>
              </a:ext>
            </a:extLst>
          </p:cNvPr>
          <p:cNvSpPr txBox="1">
            <a:spLocks/>
          </p:cNvSpPr>
          <p:nvPr/>
        </p:nvSpPr>
        <p:spPr>
          <a:xfrm>
            <a:off x="474453" y="2692803"/>
            <a:ext cx="11386868" cy="94636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F</a:t>
            </a:r>
            <a:r>
              <a:rPr lang="en-US" sz="2400" dirty="0">
                <a:solidFill>
                  <a:srgbClr val="FF2F92"/>
                </a:solidFill>
                <a:latin typeface="Constantia" panose="02030602050306030303" pitchFamily="18" charset="0"/>
              </a:rPr>
              <a:t>orecasting        </a:t>
            </a:r>
            <a:r>
              <a:rPr lang="en-US" sz="2400" dirty="0">
                <a:latin typeface="Constantia" panose="02030602050306030303" pitchFamily="18" charset="0"/>
              </a:rPr>
              <a:t>with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   L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inear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A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ugmented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   I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nformation</a:t>
            </a:r>
            <a:r>
              <a:rPr lang="en-US" sz="5400" dirty="0">
                <a:solidFill>
                  <a:srgbClr val="FF2F92"/>
                </a:solidFill>
                <a:latin typeface="Constantia" panose="02030602050306030303" pitchFamily="18" charset="0"/>
              </a:rPr>
              <a:t> C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2F92"/>
                </a:solidFill>
                <a:effectLst/>
                <a:uLnTx/>
                <a:uFillTx/>
                <a:latin typeface="Constantia" panose="02030602050306030303" pitchFamily="18" charset="0"/>
                <a:ea typeface="+mn-ea"/>
                <a:cs typeface="+mn-cs"/>
              </a:rPr>
              <a:t>ombination</a:t>
            </a:r>
            <a:endParaRPr lang="en-US" sz="5400" dirty="0">
              <a:solidFill>
                <a:srgbClr val="FF2F92"/>
              </a:solidFill>
              <a:latin typeface="Constantia" panose="02030602050306030303" pitchFamily="18" charset="0"/>
            </a:endParaRPr>
          </a:p>
        </p:txBody>
      </p:sp>
      <p:cxnSp>
        <p:nvCxnSpPr>
          <p:cNvPr id="11" name="Curved Connector 10">
            <a:extLst>
              <a:ext uri="{FF2B5EF4-FFF2-40B4-BE49-F238E27FC236}">
                <a16:creationId xmlns:a16="http://schemas.microsoft.com/office/drawing/2014/main" id="{A114BD10-04D2-D570-E4B6-D1F57F061769}"/>
              </a:ext>
            </a:extLst>
          </p:cNvPr>
          <p:cNvCxnSpPr/>
          <p:nvPr/>
        </p:nvCxnSpPr>
        <p:spPr>
          <a:xfrm rot="16200000" flipH="1">
            <a:off x="1305614" y="2426074"/>
            <a:ext cx="857839" cy="377072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C2EC4EE-9A07-8D75-751D-D758FE0AE748}"/>
              </a:ext>
            </a:extLst>
          </p:cNvPr>
          <p:cNvSpPr txBox="1"/>
          <p:nvPr/>
        </p:nvSpPr>
        <p:spPr>
          <a:xfrm>
            <a:off x="474453" y="1773784"/>
            <a:ext cx="328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  <a:latin typeface="Constantia" panose="02030602050306030303" pitchFamily="18" charset="0"/>
              </a:rPr>
              <a:t>1.1</a:t>
            </a:r>
            <a:r>
              <a:rPr lang="en-US" dirty="0">
                <a:latin typeface="Constantia" panose="02030602050306030303" pitchFamily="18" charset="0"/>
              </a:rPr>
              <a:t>   Forecast reconciliation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32E3146-00A1-F14E-80E4-ECA8196A7B53}"/>
              </a:ext>
            </a:extLst>
          </p:cNvPr>
          <p:cNvSpPr txBox="1"/>
          <p:nvPr/>
        </p:nvSpPr>
        <p:spPr>
          <a:xfrm>
            <a:off x="6948081" y="1672250"/>
            <a:ext cx="32805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  <a:latin typeface="Constantia" panose="02030602050306030303" pitchFamily="18" charset="0"/>
              </a:rPr>
              <a:t>1.2</a:t>
            </a:r>
            <a:r>
              <a:rPr lang="en-US" dirty="0">
                <a:latin typeface="Constantia" panose="02030602050306030303" pitchFamily="18" charset="0"/>
              </a:rPr>
              <a:t>  Multivariate regression framework with flexible predictor set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51E742-6C23-D88D-1A73-39373101F6D8}"/>
              </a:ext>
            </a:extLst>
          </p:cNvPr>
          <p:cNvSpPr txBox="1"/>
          <p:nvPr/>
        </p:nvSpPr>
        <p:spPr>
          <a:xfrm>
            <a:off x="4062652" y="4306538"/>
            <a:ext cx="36544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46FF"/>
                </a:solidFill>
                <a:latin typeface="Constantia" panose="02030602050306030303" pitchFamily="18" charset="0"/>
              </a:rPr>
              <a:t>1.3</a:t>
            </a:r>
            <a:r>
              <a:rPr lang="en-US" dirty="0">
                <a:latin typeface="Constantia" panose="02030602050306030303" pitchFamily="18" charset="0"/>
              </a:rPr>
              <a:t>  Linear components augmented (FLAP idea) in IComb predictor set</a:t>
            </a:r>
          </a:p>
        </p:txBody>
      </p:sp>
      <p:cxnSp>
        <p:nvCxnSpPr>
          <p:cNvPr id="15" name="Curved Connector 14">
            <a:extLst>
              <a:ext uri="{FF2B5EF4-FFF2-40B4-BE49-F238E27FC236}">
                <a16:creationId xmlns:a16="http://schemas.microsoft.com/office/drawing/2014/main" id="{E033D2C5-9111-CE26-B216-1AF67F4AB6FB}"/>
              </a:ext>
            </a:extLst>
          </p:cNvPr>
          <p:cNvCxnSpPr>
            <a:cxnSpLocks/>
          </p:cNvCxnSpPr>
          <p:nvPr/>
        </p:nvCxnSpPr>
        <p:spPr>
          <a:xfrm rot="16200000" flipH="1">
            <a:off x="8673981" y="2494761"/>
            <a:ext cx="730377" cy="462143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urved Connector 15">
            <a:extLst>
              <a:ext uri="{FF2B5EF4-FFF2-40B4-BE49-F238E27FC236}">
                <a16:creationId xmlns:a16="http://schemas.microsoft.com/office/drawing/2014/main" id="{AC070FC7-EC78-DBFE-92B6-F0CBD2EC3068}"/>
              </a:ext>
            </a:extLst>
          </p:cNvPr>
          <p:cNvCxnSpPr>
            <a:cxnSpLocks/>
          </p:cNvCxnSpPr>
          <p:nvPr/>
        </p:nvCxnSpPr>
        <p:spPr>
          <a:xfrm rot="16200000" flipH="1">
            <a:off x="5088097" y="3663135"/>
            <a:ext cx="780898" cy="505907"/>
          </a:xfrm>
          <a:prstGeom prst="curvedConnector3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C116436-AFEA-C4AB-3431-D47FB183ECAB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Outline.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465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67D5B-771F-B2F1-1A7C-15D3D0996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itle 1">
            <a:extLst>
              <a:ext uri="{FF2B5EF4-FFF2-40B4-BE49-F238E27FC236}">
                <a16:creationId xmlns:a16="http://schemas.microsoft.com/office/drawing/2014/main" id="{BA163D3A-F341-1105-EAD5-B4C425F3CBD1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1.1 What is </a:t>
            </a:r>
            <a:r>
              <a:rPr lang="en-US" sz="2800" dirty="0">
                <a:solidFill>
                  <a:srgbClr val="FF2F92"/>
                </a:solidFill>
                <a:latin typeface="Constantia" panose="02030602050306030303" pitchFamily="18" charset="0"/>
              </a:rPr>
              <a:t>forecast reconciliation</a:t>
            </a:r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 problem?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C18E12-FB62-9241-8F21-C07517E72BF1}"/>
                  </a:ext>
                </a:extLst>
              </p:cNvPr>
              <p:cNvSpPr txBox="1"/>
              <p:nvPr/>
            </p:nvSpPr>
            <p:spPr>
              <a:xfrm>
                <a:off x="7723303" y="3476005"/>
                <a:ext cx="4046843" cy="2113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u="sng" dirty="0">
                    <a:latin typeface="Constantia" panose="02030602050306030303" pitchFamily="18" charset="0"/>
                  </a:rPr>
                  <a:t>Forecasting problem:</a:t>
                </a:r>
              </a:p>
              <a:p>
                <a:endParaRPr lang="en-US" dirty="0">
                  <a:latin typeface="Constantia" panose="02030602050306030303" pitchFamily="18" charset="0"/>
                </a:endParaRPr>
              </a:p>
              <a:p>
                <a:r>
                  <a:rPr lang="en-US" dirty="0">
                    <a:latin typeface="Constantia" panose="02030602050306030303" pitchFamily="18" charset="0"/>
                  </a:rPr>
                  <a:t>Base forecasts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-step ahead) using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𝕿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i="1" dirty="0">
                  <a:latin typeface="Constantia" panose="02030602050306030303" pitchFamily="18" charset="0"/>
                </a:endParaRPr>
              </a:p>
              <a:p>
                <a:endParaRPr lang="en-US" i="1" dirty="0">
                  <a:latin typeface="Constantia" panose="02030602050306030303" pitchFamily="18" charset="0"/>
                </a:endParaRPr>
              </a:p>
              <a:p>
                <a:r>
                  <a:rPr lang="en-US" dirty="0">
                    <a:latin typeface="Constantia" panose="02030602050306030303" pitchFamily="18" charset="0"/>
                  </a:rPr>
                  <a:t>are </a:t>
                </a:r>
                <a:r>
                  <a:rPr lang="en-US" i="1" dirty="0">
                    <a:latin typeface="Constantia" panose="02030602050306030303" pitchFamily="18" charset="0"/>
                  </a:rPr>
                  <a:t>incoherent</a:t>
                </a:r>
                <a:endParaRPr lang="en-US" sz="1200" i="1" dirty="0">
                  <a:latin typeface="Constantia" panose="02030602050306030303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𝐒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b="1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acc>
                        </m:e>
                        <m:sub>
                          <m:r>
                            <m:rPr>
                              <m:sty m:val="p"/>
                            </m:rP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14C18E12-FB62-9241-8F21-C07517E72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303" y="3476005"/>
                <a:ext cx="4046843" cy="2113592"/>
              </a:xfrm>
              <a:prstGeom prst="rect">
                <a:avLst/>
              </a:prstGeom>
              <a:blipFill>
                <a:blip r:embed="rId2"/>
                <a:stretch>
                  <a:fillRect l="-1254" t="-1190" b="-11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0" name="Group 99">
            <a:extLst>
              <a:ext uri="{FF2B5EF4-FFF2-40B4-BE49-F238E27FC236}">
                <a16:creationId xmlns:a16="http://schemas.microsoft.com/office/drawing/2014/main" id="{D4BE995D-A946-EBD8-4CE9-177121DC0EB8}"/>
              </a:ext>
            </a:extLst>
          </p:cNvPr>
          <p:cNvGrpSpPr/>
          <p:nvPr/>
        </p:nvGrpSpPr>
        <p:grpSpPr>
          <a:xfrm>
            <a:off x="867241" y="1546373"/>
            <a:ext cx="6466870" cy="3548922"/>
            <a:chOff x="121959" y="1132593"/>
            <a:chExt cx="6466870" cy="3548922"/>
          </a:xfrm>
        </p:grpSpPr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309FB5DD-DB18-B000-BD39-C6BF771E3923}"/>
                </a:ext>
              </a:extLst>
            </p:cNvPr>
            <p:cNvGrpSpPr/>
            <p:nvPr/>
          </p:nvGrpSpPr>
          <p:grpSpPr>
            <a:xfrm>
              <a:off x="121959" y="1132593"/>
              <a:ext cx="6466870" cy="3548922"/>
              <a:chOff x="-109418" y="1038637"/>
              <a:chExt cx="6466870" cy="3548922"/>
            </a:xfrm>
          </p:grpSpPr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1F6A1017-4BDB-B9FF-EB35-9AA2055ABD29}"/>
                  </a:ext>
                </a:extLst>
              </p:cNvPr>
              <p:cNvSpPr txBox="1"/>
              <p:nvPr/>
            </p:nvSpPr>
            <p:spPr>
              <a:xfrm>
                <a:off x="5707940" y="4187449"/>
                <a:ext cx="649512" cy="400110"/>
              </a:xfrm>
              <a:prstGeom prst="rect">
                <a:avLst/>
              </a:prstGeom>
              <a:noFill/>
              <a:ln w="63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7938" algn="ctr"/>
                <a:r>
                  <a:rPr lang="en-US" sz="1000" dirty="0">
                    <a:latin typeface="Constantia" panose="02030602050306030303" pitchFamily="18" charset="0"/>
                  </a:rPr>
                  <a:t>Alice Springs</a:t>
                </a:r>
              </a:p>
            </p:txBody>
          </p: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7E1879E5-4D0D-7521-8892-2CA27BB850D2}"/>
                  </a:ext>
                </a:extLst>
              </p:cNvPr>
              <p:cNvGrpSpPr/>
              <p:nvPr/>
            </p:nvGrpSpPr>
            <p:grpSpPr>
              <a:xfrm>
                <a:off x="-109418" y="1038637"/>
                <a:ext cx="6293291" cy="3425591"/>
                <a:chOff x="-109418" y="1038637"/>
                <a:chExt cx="6293291" cy="3425591"/>
              </a:xfrm>
            </p:grpSpPr>
            <p:grpSp>
              <p:nvGrpSpPr>
                <p:cNvPr id="91" name="Group 90">
                  <a:extLst>
                    <a:ext uri="{FF2B5EF4-FFF2-40B4-BE49-F238E27FC236}">
                      <a16:creationId xmlns:a16="http://schemas.microsoft.com/office/drawing/2014/main" id="{CCF7EBE4-2E98-929F-E1CB-E6243C740F36}"/>
                    </a:ext>
                  </a:extLst>
                </p:cNvPr>
                <p:cNvGrpSpPr/>
                <p:nvPr/>
              </p:nvGrpSpPr>
              <p:grpSpPr>
                <a:xfrm>
                  <a:off x="287517" y="1038637"/>
                  <a:ext cx="5382706" cy="1352038"/>
                  <a:chOff x="287517" y="1038637"/>
                  <a:chExt cx="5382706" cy="1352038"/>
                </a:xfrm>
              </p:grpSpPr>
              <p:sp>
                <p:nvSpPr>
                  <p:cNvPr id="4" name="TextBox 3">
                    <a:extLst>
                      <a:ext uri="{FF2B5EF4-FFF2-40B4-BE49-F238E27FC236}">
                        <a16:creationId xmlns:a16="http://schemas.microsoft.com/office/drawing/2014/main" id="{E616A232-F8E0-585E-4C15-B457F2E3BF73}"/>
                      </a:ext>
                    </a:extLst>
                  </p:cNvPr>
                  <p:cNvSpPr txBox="1"/>
                  <p:nvPr/>
                </p:nvSpPr>
                <p:spPr>
                  <a:xfrm>
                    <a:off x="2503711" y="1038637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AUS</a:t>
                    </a:r>
                  </a:p>
                </p:txBody>
              </p:sp>
              <p:cxnSp>
                <p:nvCxnSpPr>
                  <p:cNvPr id="27" name="Straight Connector 26">
                    <a:extLst>
                      <a:ext uri="{FF2B5EF4-FFF2-40B4-BE49-F238E27FC236}">
                        <a16:creationId xmlns:a16="http://schemas.microsoft.com/office/drawing/2014/main" id="{26C1CC44-BF9E-C661-A4B1-0F5B92E1590D}"/>
                      </a:ext>
                    </a:extLst>
                  </p:cNvPr>
                  <p:cNvCxnSpPr>
                    <a:stCxn id="4" idx="2"/>
                  </p:cNvCxnSpPr>
                  <p:nvPr/>
                </p:nvCxnSpPr>
                <p:spPr>
                  <a:xfrm flipH="1">
                    <a:off x="2856322" y="1346414"/>
                    <a:ext cx="0" cy="385555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96075A59-8313-D427-50F4-7637E29FE0A5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65044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Straight Connector 34">
                    <a:extLst>
                      <a:ext uri="{FF2B5EF4-FFF2-40B4-BE49-F238E27FC236}">
                        <a16:creationId xmlns:a16="http://schemas.microsoft.com/office/drawing/2014/main" id="{C60DAAC8-D5B3-DA07-2E5C-6700AE742D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650449" y="1731969"/>
                    <a:ext cx="4656842" cy="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Straight Connector 37">
                    <a:extLst>
                      <a:ext uri="{FF2B5EF4-FFF2-40B4-BE49-F238E27FC236}">
                        <a16:creationId xmlns:a16="http://schemas.microsoft.com/office/drawing/2014/main" id="{6B407379-510C-BF6F-DC06-41F03E27D8A0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1415591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A9E3B7E7-CE32-0329-800A-03BFC19C0787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105319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0" name="Straight Connector 39">
                    <a:extLst>
                      <a:ext uri="{FF2B5EF4-FFF2-40B4-BE49-F238E27FC236}">
                        <a16:creationId xmlns:a16="http://schemas.microsoft.com/office/drawing/2014/main" id="{2D958ADE-8A51-2E85-6AF3-1249FE41881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2856322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5888CC9B-AF41-4EFA-C576-917A63C68103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3579043" y="1734487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5BDB3E03-B744-6362-F189-4A238AB7B7FE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4419600" y="1731969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>
                    <a:extLst>
                      <a:ext uri="{FF2B5EF4-FFF2-40B4-BE49-F238E27FC236}">
                        <a16:creationId xmlns:a16="http://schemas.microsoft.com/office/drawing/2014/main" id="{8E067740-98E6-B730-D68F-36654C292F0B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307291" y="1743914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E9264F41-F143-DD3E-46DC-648BCF7DEE40}"/>
                      </a:ext>
                    </a:extLst>
                  </p:cNvPr>
                  <p:cNvSpPr txBox="1"/>
                  <p:nvPr/>
                </p:nvSpPr>
                <p:spPr>
                  <a:xfrm>
                    <a:off x="287517" y="2082898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VIC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E510278A-206C-8E6B-D367-075E9C760229}"/>
                      </a:ext>
                    </a:extLst>
                  </p:cNvPr>
                  <p:cNvSpPr txBox="1"/>
                  <p:nvPr/>
                </p:nvSpPr>
                <p:spPr>
                  <a:xfrm>
                    <a:off x="4944359" y="2082898"/>
                    <a:ext cx="725864" cy="307777"/>
                  </a:xfrm>
                  <a:prstGeom prst="rect">
                    <a:avLst/>
                  </a:prstGeom>
                  <a:noFill/>
                  <a:ln w="6350">
                    <a:solidFill>
                      <a:schemeClr val="tx1"/>
                    </a:solidFill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400" dirty="0">
                        <a:latin typeface="Constantia" panose="02030602050306030303" pitchFamily="18" charset="0"/>
                      </a:rPr>
                      <a:t>NT</a:t>
                    </a: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47200999-FD04-CF48-F78C-081E3B0876DB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237989" y="2079666"/>
                        <a:ext cx="3400826" cy="30777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14:m>
                          <m:oMath xmlns:m="http://schemas.openxmlformats.org/officeDocument/2006/math">
                            <m:r>
                              <a:rPr lang="en-US" sz="1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</a:t>
                        </a:r>
                        <a:r>
                          <a:rPr lang="en-US" sz="1400" dirty="0">
                            <a:solidFill>
                              <a:prstClr val="black"/>
                            </a:solidFill>
                            <a:latin typeface="Constantia" panose="02030602050306030303" pitchFamily="18" charset="0"/>
                          </a:rPr>
                          <a:t> </a:t>
                        </a:r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           </a:t>
                        </a:r>
                        <a14:m>
                          <m:oMath xmlns:m="http://schemas.openxmlformats.org/officeDocument/2006/math">
                            <m:r>
                              <a:rPr lang="en-US" sz="1400" b="0" i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</m:t>
                            </m:r>
                          </m:oMath>
                        </a14:m>
                        <a:r>
                          <a:rPr lang="en-US" sz="1400" dirty="0">
                            <a:latin typeface="Constantia" panose="02030602050306030303" pitchFamily="18" charset="0"/>
                          </a:rPr>
                          <a:t>               </a:t>
                        </a:r>
                        <a14:m>
                          <m:oMath xmlns:m="http://schemas.openxmlformats.org/officeDocument/2006/math">
                            <m:r>
                              <a:rPr lang="en-US" sz="1400" b="0" i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⋯ </m:t>
                            </m:r>
                          </m:oMath>
                        </a14:m>
                        <a:endParaRPr lang="en-US" sz="1400" dirty="0">
                          <a:latin typeface="Constantia" panose="02030602050306030303" pitchFamily="18" charset="0"/>
                        </a:endParaRPr>
                      </a:p>
                    </p:txBody>
                  </p:sp>
                </mc:Choice>
                <mc:Fallback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47200999-FD04-CF48-F78C-081E3B0876DB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237989" y="2079666"/>
                        <a:ext cx="3400826" cy="307777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7692"/>
                        </a:stretch>
                      </a:blipFill>
                      <a:ln>
                        <a:noFill/>
                      </a:ln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94" name="Group 93">
                  <a:extLst>
                    <a:ext uri="{FF2B5EF4-FFF2-40B4-BE49-F238E27FC236}">
                      <a16:creationId xmlns:a16="http://schemas.microsoft.com/office/drawing/2014/main" id="{794C5648-DE58-F6BF-D730-BA7F41F48F0C}"/>
                    </a:ext>
                  </a:extLst>
                </p:cNvPr>
                <p:cNvGrpSpPr/>
                <p:nvPr/>
              </p:nvGrpSpPr>
              <p:grpSpPr>
                <a:xfrm>
                  <a:off x="-109418" y="2381032"/>
                  <a:ext cx="6293291" cy="2083196"/>
                  <a:chOff x="-109418" y="2381032"/>
                  <a:chExt cx="6293291" cy="2083196"/>
                </a:xfrm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23ECCAD6-D81A-1172-AD3F-B0C95BC03F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893865" y="3873771"/>
                    <a:ext cx="0" cy="32400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93" name="Group 92">
                    <a:extLst>
                      <a:ext uri="{FF2B5EF4-FFF2-40B4-BE49-F238E27FC236}">
                        <a16:creationId xmlns:a16="http://schemas.microsoft.com/office/drawing/2014/main" id="{49E8F39D-8972-E0B9-A6D5-7303729ECFDF}"/>
                      </a:ext>
                    </a:extLst>
                  </p:cNvPr>
                  <p:cNvGrpSpPr/>
                  <p:nvPr/>
                </p:nvGrpSpPr>
                <p:grpSpPr>
                  <a:xfrm>
                    <a:off x="-109418" y="2381032"/>
                    <a:ext cx="6293291" cy="2083196"/>
                    <a:chOff x="-109418" y="2381032"/>
                    <a:chExt cx="6293291" cy="2083196"/>
                  </a:xfrm>
                </p:grpSpPr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3DE34A03-3147-F6F2-82AF-BA3573DA06DF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744918" y="2778014"/>
                          <a:ext cx="338098" cy="307777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lang="en-US" sz="14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sz="1400" dirty="0">
                              <a:latin typeface="Constantia" panose="02030602050306030303" pitchFamily="18" charset="0"/>
                            </a:rPr>
                            <a:t> </a:t>
                          </a:r>
                        </a:p>
                      </p:txBody>
                    </p:sp>
                  </mc:Choice>
                  <mc:Fallback>
                    <p:sp>
                      <p:nvSpPr>
                        <p:cNvPr id="65" name="TextBox 64">
                          <a:extLst>
                            <a:ext uri="{FF2B5EF4-FFF2-40B4-BE49-F238E27FC236}">
                              <a16:creationId xmlns:a16="http://schemas.microsoft.com/office/drawing/2014/main" id="{3DE34A03-3147-F6F2-82AF-BA3573DA06DF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744918" y="2778014"/>
                          <a:ext cx="338098" cy="307777"/>
                        </a:xfrm>
                        <a:prstGeom prst="rect">
                          <a:avLst/>
                        </a:prstGeom>
                        <a:blipFill>
                          <a:blip r:embed="rId4"/>
                          <a:stretch>
                            <a:fillRect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US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grpSp>
                  <p:nvGrpSpPr>
                    <p:cNvPr id="92" name="Group 91">
                      <a:extLst>
                        <a:ext uri="{FF2B5EF4-FFF2-40B4-BE49-F238E27FC236}">
                          <a16:creationId xmlns:a16="http://schemas.microsoft.com/office/drawing/2014/main" id="{5AD23248-B843-02B2-BAB8-B2FF955FF532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-109418" y="2381032"/>
                      <a:ext cx="6293291" cy="2083196"/>
                      <a:chOff x="-109418" y="2381032"/>
                      <a:chExt cx="6293291" cy="2083196"/>
                    </a:xfrm>
                  </p:grpSpPr>
                  <p:cxnSp>
                    <p:nvCxnSpPr>
                      <p:cNvPr id="51" name="Straight Connector 50">
                        <a:extLst>
                          <a:ext uri="{FF2B5EF4-FFF2-40B4-BE49-F238E27FC236}">
                            <a16:creationId xmlns:a16="http://schemas.microsoft.com/office/drawing/2014/main" id="{8D172335-9F87-302B-BB31-308439533DA3}"/>
                          </a:ext>
                        </a:extLst>
                      </p:cNvPr>
                      <p:cNvCxnSpPr>
                        <a:cxnSpLocks/>
                        <a:stCxn id="48" idx="2"/>
                      </p:cNvCxnSpPr>
                      <p:nvPr/>
                    </p:nvCxnSpPr>
                    <p:spPr>
                      <a:xfrm>
                        <a:off x="650449" y="2390675"/>
                        <a:ext cx="0" cy="387889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Straight Connector 51">
                        <a:extLst>
                          <a:ext uri="{FF2B5EF4-FFF2-40B4-BE49-F238E27FC236}">
                            <a16:creationId xmlns:a16="http://schemas.microsoft.com/office/drawing/2014/main" id="{3B1BDCF7-FDF8-699C-7DA2-8156DBA66CBF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287517" y="277856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55" name="TextBox 54">
                        <a:extLst>
                          <a:ext uri="{FF2B5EF4-FFF2-40B4-BE49-F238E27FC236}">
                            <a16:creationId xmlns:a16="http://schemas.microsoft.com/office/drawing/2014/main" id="{4EBB42C4-C06E-C892-3D03-6B4B664C56F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9019" y="3109557"/>
                        <a:ext cx="581430" cy="40011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Metro</a:t>
                        </a:r>
                      </a:p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VIC</a:t>
                        </a:r>
                      </a:p>
                    </p:txBody>
                  </p:sp>
                  <p:cxnSp>
                    <p:nvCxnSpPr>
                      <p:cNvPr id="56" name="Straight Connector 55">
                        <a:extLst>
                          <a:ext uri="{FF2B5EF4-FFF2-40B4-BE49-F238E27FC236}">
                            <a16:creationId xmlns:a16="http://schemas.microsoft.com/office/drawing/2014/main" id="{7C24A8B5-4447-B7E7-1BA8-75F2FB6FB0FA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287517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7" name="Straight Connector 56">
                        <a:extLst>
                          <a:ext uri="{FF2B5EF4-FFF2-40B4-BE49-F238E27FC236}">
                            <a16:creationId xmlns:a16="http://schemas.microsoft.com/office/drawing/2014/main" id="{675FF363-4468-66B0-C399-116397A6DB17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1112363" y="278555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9DC14650-68B2-1BED-58C5-75BE0663F07F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1167860" y="2562011"/>
                            <a:ext cx="3400826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</a:t>
                            </a:r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58" name="TextBox 57">
                            <a:extLst>
                              <a:ext uri="{FF2B5EF4-FFF2-40B4-BE49-F238E27FC236}">
                                <a16:creationId xmlns:a16="http://schemas.microsoft.com/office/drawing/2014/main" id="{9DC14650-68B2-1BED-58C5-75BE0663F07F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1167860" y="2562011"/>
                            <a:ext cx="3400826" cy="307777"/>
                          </a:xfrm>
                          <a:prstGeom prst="rect">
                            <a:avLst/>
                          </a:prstGeom>
                          <a:blipFill>
                            <a:blip r:embed="rId5"/>
                            <a:stretch>
                              <a:fillRect b="-12000"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59" name="Straight Connector 58">
                        <a:extLst>
                          <a:ext uri="{FF2B5EF4-FFF2-40B4-BE49-F238E27FC236}">
                            <a16:creationId xmlns:a16="http://schemas.microsoft.com/office/drawing/2014/main" id="{2BD62009-8175-E447-C4D1-162168B37AC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280581" y="2381032"/>
                        <a:ext cx="0" cy="396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>
                        <a:extLst>
                          <a:ext uri="{FF2B5EF4-FFF2-40B4-BE49-F238E27FC236}">
                            <a16:creationId xmlns:a16="http://schemas.microsoft.com/office/drawing/2014/main" id="{64B757F6-FA6D-E3DF-EA6E-93B124B2B23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4917649" y="2771021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>
                        <a:extLst>
                          <a:ext uri="{FF2B5EF4-FFF2-40B4-BE49-F238E27FC236}">
                            <a16:creationId xmlns:a16="http://schemas.microsoft.com/office/drawing/2014/main" id="{8912CA33-FC18-5FDD-C65F-EE45774CA672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4917649" y="2770471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>
                        <a:extLst>
                          <a:ext uri="{FF2B5EF4-FFF2-40B4-BE49-F238E27FC236}">
                            <a16:creationId xmlns:a16="http://schemas.microsoft.com/office/drawing/2014/main" id="{B633FC15-D6C3-AFB3-D95C-AB2FDDED87CC}"/>
                          </a:ext>
                        </a:extLst>
                      </p:cNvPr>
                      <p:cNvCxnSpPr/>
                      <p:nvPr/>
                    </p:nvCxnSpPr>
                    <p:spPr>
                      <a:xfrm flipH="1">
                        <a:off x="5742495" y="277801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7" name="Straight Connector 66">
                        <a:extLst>
                          <a:ext uri="{FF2B5EF4-FFF2-40B4-BE49-F238E27FC236}">
                            <a16:creationId xmlns:a16="http://schemas.microsoft.com/office/drawing/2014/main" id="{C44AA7A8-B118-64FA-0AC1-8D699B2F1F43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763399" y="2789730"/>
                        <a:ext cx="0" cy="285481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2" name="TextBox 71">
                        <a:extLst>
                          <a:ext uri="{FF2B5EF4-FFF2-40B4-BE49-F238E27FC236}">
                            <a16:creationId xmlns:a16="http://schemas.microsoft.com/office/drawing/2014/main" id="{3210C899-51E6-DCB6-A135-5A351542C704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451779" y="3102014"/>
                        <a:ext cx="599055" cy="400110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Central</a:t>
                        </a:r>
                      </a:p>
                      <a:p>
                        <a:pPr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NT</a:t>
                        </a:r>
                      </a:p>
                    </p:txBody>
                  </p: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25EA667C-B6BE-D8E7-F2E9-8E93A1BF7037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10581" y="3157316"/>
                            <a:ext cx="4624035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74" name="TextBox 73">
                            <a:extLst>
                              <a:ext uri="{FF2B5EF4-FFF2-40B4-BE49-F238E27FC236}">
                                <a16:creationId xmlns:a16="http://schemas.microsoft.com/office/drawing/2014/main" id="{25EA667C-B6BE-D8E7-F2E9-8E93A1BF7037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10581" y="3157316"/>
                            <a:ext cx="4624035" cy="307777"/>
                          </a:xfrm>
                          <a:prstGeom prst="rect">
                            <a:avLst/>
                          </a:prstGeom>
                          <a:blipFill>
                            <a:blip r:embed="rId6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75" name="Straight Connector 74">
                        <a:extLst>
                          <a:ext uri="{FF2B5EF4-FFF2-40B4-BE49-F238E27FC236}">
                            <a16:creationId xmlns:a16="http://schemas.microsoft.com/office/drawing/2014/main" id="{FD7DBB78-DFF9-3E5D-078C-04D64750336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307941" y="3545502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8" name="Straight Connector 77">
                        <a:extLst>
                          <a:ext uri="{FF2B5EF4-FFF2-40B4-BE49-F238E27FC236}">
                            <a16:creationId xmlns:a16="http://schemas.microsoft.com/office/drawing/2014/main" id="{B9DC59F3-F785-B64D-EC02-684E1C91657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69019" y="3864444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9" name="Straight Connector 78">
                        <a:extLst>
                          <a:ext uri="{FF2B5EF4-FFF2-40B4-BE49-F238E27FC236}">
                            <a16:creationId xmlns:a16="http://schemas.microsoft.com/office/drawing/2014/main" id="{E3E1E780-8B82-069F-C241-6DB6C8A8643E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9019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TextBox 79">
                        <a:extLst>
                          <a:ext uri="{FF2B5EF4-FFF2-40B4-BE49-F238E27FC236}">
                            <a16:creationId xmlns:a16="http://schemas.microsoft.com/office/drawing/2014/main" id="{02EB143A-E376-6181-E754-60A8AFB4A4B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-109418" y="4197771"/>
                        <a:ext cx="449455" cy="246221"/>
                      </a:xfrm>
                      <a:prstGeom prst="rect">
                        <a:avLst/>
                      </a:prstGeom>
                      <a:noFill/>
                      <a:ln w="6350">
                        <a:solidFill>
                          <a:schemeClr val="tx1"/>
                        </a:solidFill>
                      </a:ln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marL="7938" algn="ctr"/>
                        <a:r>
                          <a:rPr lang="en-US" sz="1000" dirty="0">
                            <a:latin typeface="Constantia" panose="02030602050306030303" pitchFamily="18" charset="0"/>
                          </a:rPr>
                          <a:t>Mel</a:t>
                        </a:r>
                      </a:p>
                    </p:txBody>
                  </p:sp>
                  <p:cxnSp>
                    <p:nvCxnSpPr>
                      <p:cNvPr id="81" name="Straight Connector 80">
                        <a:extLst>
                          <a:ext uri="{FF2B5EF4-FFF2-40B4-BE49-F238E27FC236}">
                            <a16:creationId xmlns:a16="http://schemas.microsoft.com/office/drawing/2014/main" id="{07D78C67-D30A-EA92-DEB4-067785B9449A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4193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FA45238D-77DD-1F08-7EFD-A8A585CFDB6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722340" y="3631940"/>
                            <a:ext cx="4624035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</a:rPr>
                              <a:t>                 </a:t>
                            </a:r>
                            <a:r>
                              <a:rPr lang="en-US" sz="1400" dirty="0">
                                <a:solidFill>
                                  <a:schemeClr val="bg1"/>
                                </a:solidFill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83" name="TextBox 82">
                            <a:extLst>
                              <a:ext uri="{FF2B5EF4-FFF2-40B4-BE49-F238E27FC236}">
                                <a16:creationId xmlns:a16="http://schemas.microsoft.com/office/drawing/2014/main" id="{FA45238D-77DD-1F08-7EFD-A8A585CFDB63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722340" y="3631940"/>
                            <a:ext cx="4624035" cy="307777"/>
                          </a:xfrm>
                          <a:prstGeom prst="rect">
                            <a:avLst/>
                          </a:prstGeom>
                          <a:blipFill>
                            <a:blip r:embed="rId7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  <p:cxnSp>
                    <p:nvCxnSpPr>
                      <p:cNvPr id="84" name="Straight Connector 83">
                        <a:extLst>
                          <a:ext uri="{FF2B5EF4-FFF2-40B4-BE49-F238E27FC236}">
                            <a16:creationId xmlns:a16="http://schemas.microsoft.com/office/drawing/2014/main" id="{B67AAE97-6D9B-E582-2CAC-585DA319785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740923" y="3526648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Straight Connector 84">
                        <a:extLst>
                          <a:ext uri="{FF2B5EF4-FFF2-40B4-BE49-F238E27FC236}">
                            <a16:creationId xmlns:a16="http://schemas.microsoft.com/office/drawing/2014/main" id="{35B3CE28-8DA3-FFDE-A13B-94DBB743412B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5359027" y="3855117"/>
                        <a:ext cx="824846" cy="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Straight Connector 85">
                        <a:extLst>
                          <a:ext uri="{FF2B5EF4-FFF2-40B4-BE49-F238E27FC236}">
                            <a16:creationId xmlns:a16="http://schemas.microsoft.com/office/drawing/2014/main" id="{5DF6C20E-62D1-FC7A-B225-68826F03F682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359027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Straight Connector 86">
                        <a:extLst>
                          <a:ext uri="{FF2B5EF4-FFF2-40B4-BE49-F238E27FC236}">
                            <a16:creationId xmlns:a16="http://schemas.microsoft.com/office/drawing/2014/main" id="{56ABB504-04F4-60D7-071C-AAE048DBE8F8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5618326" y="3855117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Straight Connector 87">
                        <a:extLst>
                          <a:ext uri="{FF2B5EF4-FFF2-40B4-BE49-F238E27FC236}">
                            <a16:creationId xmlns:a16="http://schemas.microsoft.com/office/drawing/2014/main" id="{70CEBE79-6C2C-FE45-45B6-0DC386681D7C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183873" y="3864444"/>
                        <a:ext cx="0" cy="324000"/>
                      </a:xfrm>
                      <a:prstGeom prst="line">
                        <a:avLst/>
                      </a:prstGeom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mc:AlternateContent xmlns:mc="http://schemas.openxmlformats.org/markup-compatibility/2006">
                    <mc:Choice xmlns:a14="http://schemas.microsoft.com/office/drawing/2010/main" Requires="a14"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6883EAD6-D766-A35F-9384-7D8C683D026B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494798" y="4156451"/>
                            <a:ext cx="5511844" cy="30777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14:m>
                              <m:oMath xmlns:m="http://schemas.openxmlformats.org/officeDocument/2006/math">
                                <m:r>
                                  <a:rPr lang="en-US" sz="1400" b="0" i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solidFill>
                                  <a:prstClr val="black"/>
                                </a:solidFill>
                                <a:latin typeface="Constantia" panose="02030602050306030303" pitchFamily="18" charset="0"/>
                              </a:rPr>
                              <a:t>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  </a:t>
                            </a:r>
                            <a:r>
                              <a:rPr lang="en-US" sz="1400" dirty="0">
                                <a:latin typeface="Constantia" panose="02030602050306030303" pitchFamily="18" charset="0"/>
                                <a:ea typeface="Cambria Math" panose="02040503050406030204" pitchFamily="18" charset="0"/>
                              </a:rPr>
                              <a:t>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r>
                              <a:rPr lang="en-US" sz="1400" dirty="0">
                                <a:latin typeface="Constantia" panose="02030602050306030303" pitchFamily="18" charset="0"/>
                              </a:rPr>
                              <a:t>                    </a:t>
                            </a:r>
                            <a14:m>
                              <m:oMath xmlns:m="http://schemas.openxmlformats.org/officeDocument/2006/math">
                                <m:r>
                                  <a:rPr lang="en-US" sz="1400" b="0" i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a14:m>
                            <a:endParaRPr lang="en-US" sz="1400" dirty="0">
                              <a:latin typeface="Constantia" panose="02030602050306030303" pitchFamily="18" charset="0"/>
                            </a:endParaRPr>
                          </a:p>
                        </p:txBody>
                      </p:sp>
                    </mc:Choice>
                    <mc:Fallback>
                      <p:sp>
                        <p:nvSpPr>
                          <p:cNvPr id="90" name="TextBox 89">
                            <a:extLst>
                              <a:ext uri="{FF2B5EF4-FFF2-40B4-BE49-F238E27FC236}">
                                <a16:creationId xmlns:a16="http://schemas.microsoft.com/office/drawing/2014/main" id="{6883EAD6-D766-A35F-9384-7D8C683D026B}"/>
                              </a:ext>
                            </a:extLst>
                          </p:cNvPr>
                          <p:cNvSpPr txBox="1">
                            <a:spLocks noRot="1" noChangeAspect="1" noMove="1" noResize="1" noEditPoints="1" noAdjustHandles="1" noChangeArrowheads="1" noChangeShapeType="1" noTextEdit="1"/>
                          </p:cNvSpPr>
                          <p:nvPr/>
                        </p:nvSpPr>
                        <p:spPr>
                          <a:xfrm>
                            <a:off x="494798" y="4156451"/>
                            <a:ext cx="5511844" cy="307777"/>
                          </a:xfrm>
                          <a:prstGeom prst="rect">
                            <a:avLst/>
                          </a:prstGeom>
                          <a:blipFill>
                            <a:blip r:embed="rId8"/>
                            <a:stretch>
                              <a:fillRect/>
                            </a:stretch>
                          </a:blipFill>
                          <a:ln>
                            <a:noFill/>
                          </a:ln>
                        </p:spPr>
                        <p:txBody>
                          <a:bodyPr/>
                          <a:lstStyle/>
                          <a:p>
                            <a:r>
                              <a:rPr lang="en-US">
                                <a:noFill/>
                              </a:rPr>
                              <a:t> </a:t>
                            </a:r>
                          </a:p>
                        </p:txBody>
                      </p:sp>
                    </mc:Fallback>
                  </mc:AlternateContent>
                </p:grpSp>
              </p:grpSp>
            </p:grp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21BF745-1880-8E17-6C26-337F9450C943}"/>
                    </a:ext>
                  </a:extLst>
                </p:cNvPr>
                <p:cNvSpPr txBox="1"/>
                <p:nvPr/>
              </p:nvSpPr>
              <p:spPr>
                <a:xfrm>
                  <a:off x="780226" y="3986910"/>
                  <a:ext cx="33809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98" name="TextBox 97">
                  <a:extLst>
                    <a:ext uri="{FF2B5EF4-FFF2-40B4-BE49-F238E27FC236}">
                      <a16:creationId xmlns:a16="http://schemas.microsoft.com/office/drawing/2014/main" id="{121BF745-1880-8E17-6C26-337F9450C9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0226" y="3986910"/>
                  <a:ext cx="338098" cy="307777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35F0E1B2-EAAF-1450-EECF-DF4564FEDF49}"/>
                    </a:ext>
                  </a:extLst>
                </p:cNvPr>
                <p:cNvSpPr txBox="1"/>
                <p:nvPr/>
              </p:nvSpPr>
              <p:spPr>
                <a:xfrm>
                  <a:off x="5533251" y="3931228"/>
                  <a:ext cx="33809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14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</a:t>
                  </a:r>
                </a:p>
              </p:txBody>
            </p:sp>
          </mc:Choice>
          <mc:Fallback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35F0E1B2-EAAF-1450-EECF-DF4564FEDF4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3251" y="3931228"/>
                  <a:ext cx="338098" cy="307777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5E6B1320-2DDC-E9E7-1829-2831688CE215}"/>
              </a:ext>
            </a:extLst>
          </p:cNvPr>
          <p:cNvSpPr txBox="1"/>
          <p:nvPr/>
        </p:nvSpPr>
        <p:spPr>
          <a:xfrm>
            <a:off x="1824246" y="956274"/>
            <a:ext cx="49145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latin typeface="Constantia" panose="02030602050306030303" pitchFamily="18" charset="0"/>
              </a:rPr>
              <a:t>Domestic tourism hierarchy  </a:t>
            </a:r>
            <a:r>
              <a:rPr lang="en-US" sz="1400" i="1" dirty="0">
                <a:latin typeface="Constantia" panose="02030602050306030303" pitchFamily="18" charset="0"/>
              </a:rPr>
              <a:t>(n=112 series)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BCB188C-9A8F-3913-931B-124FD0EAC5F3}"/>
              </a:ext>
            </a:extLst>
          </p:cNvPr>
          <p:cNvSpPr txBox="1"/>
          <p:nvPr/>
        </p:nvSpPr>
        <p:spPr>
          <a:xfrm>
            <a:off x="-861" y="903542"/>
            <a:ext cx="880377" cy="427809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u="sng" dirty="0">
                <a:latin typeface="Constantia" panose="02030602050306030303" pitchFamily="18" charset="0"/>
              </a:rPr>
              <a:t>Levels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1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Total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2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States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3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Zones</a:t>
            </a: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endParaRPr lang="en-US" sz="1600" dirty="0">
              <a:latin typeface="Constantia" panose="02030602050306030303" pitchFamily="18" charset="0"/>
            </a:endParaRP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4</a:t>
            </a:r>
          </a:p>
          <a:p>
            <a:pPr algn="ctr"/>
            <a:r>
              <a:rPr lang="en-US" sz="1600" dirty="0">
                <a:latin typeface="Constantia" panose="02030602050306030303" pitchFamily="18" charset="0"/>
              </a:rPr>
              <a:t>regions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E0C9D25-3457-75D6-9F7E-58EDB4EFDFBD}"/>
                  </a:ext>
                </a:extLst>
              </p:cNvPr>
              <p:cNvSpPr txBox="1"/>
              <p:nvPr/>
            </p:nvSpPr>
            <p:spPr>
              <a:xfrm>
                <a:off x="1542265" y="6014702"/>
                <a:ext cx="8081977" cy="427618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 lvl="0" algn="ctr"/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Base forecasts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prstClr val="black"/>
                    </a:solidFill>
                    <a:latin typeface="Cambria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</a:t>
                </a:r>
                <a:r>
                  <a:rPr lang="en-US" dirty="0">
                    <a:solidFill>
                      <a:srgbClr val="FF2F92"/>
                    </a:solidFill>
                    <a:latin typeface="Constantia" panose="02030602050306030303" pitchFamily="18" charset="0"/>
                  </a:rPr>
                  <a:t>Reconciliation</a:t>
                </a:r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  Coherent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2000" dirty="0">
                  <a:solidFill>
                    <a:prstClr val="black"/>
                  </a:solidFill>
                  <a:latin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06" name="TextBox 105">
                <a:extLst>
                  <a:ext uri="{FF2B5EF4-FFF2-40B4-BE49-F238E27FC236}">
                    <a16:creationId xmlns:a16="http://schemas.microsoft.com/office/drawing/2014/main" id="{2E0C9D25-3457-75D6-9F7E-58EDB4EFDF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2265" y="6014702"/>
                <a:ext cx="8081977" cy="427618"/>
              </a:xfrm>
              <a:prstGeom prst="rect">
                <a:avLst/>
              </a:prstGeom>
              <a:blipFill>
                <a:blip r:embed="rId11"/>
                <a:stretch>
                  <a:fillRect t="-5556" b="-11111"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59A0F32B-A632-EF31-6C08-B99A0E0BF965}"/>
              </a:ext>
            </a:extLst>
          </p:cNvPr>
          <p:cNvGrpSpPr/>
          <p:nvPr/>
        </p:nvGrpSpPr>
        <p:grpSpPr>
          <a:xfrm>
            <a:off x="7762384" y="872019"/>
            <a:ext cx="4125724" cy="2204834"/>
            <a:chOff x="7993342" y="944510"/>
            <a:chExt cx="4125724" cy="220483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0D009EC-4B03-3105-AB27-B86A11CF5565}"/>
                    </a:ext>
                  </a:extLst>
                </p:cNvPr>
                <p:cNvSpPr txBox="1"/>
                <p:nvPr/>
              </p:nvSpPr>
              <p:spPr>
                <a:xfrm>
                  <a:off x="7993342" y="944510"/>
                  <a:ext cx="2930943" cy="2204834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r>
                    <a:rPr lang="en-US" u="sng" dirty="0">
                      <a:latin typeface="Constantia" panose="02030602050306030303" pitchFamily="18" charset="0"/>
                    </a:rPr>
                    <a:t>Hierarchical structure of data</a:t>
                  </a:r>
                </a:p>
                <a:p>
                  <a:endParaRPr lang="en-US" dirty="0">
                    <a:latin typeface="Constantia" panose="02030602050306030303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  </m:t>
                        </m:r>
                        <m:r>
                          <a:rPr lang="en-US" b="1" i="0">
                            <a:latin typeface="Cambria Math" panose="02040503050406030204" pitchFamily="18" charset="0"/>
                          </a:rPr>
                          <m:t>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i="1" dirty="0">
                    <a:latin typeface="Cambria Math" panose="02040503050406030204" pitchFamily="18" charset="0"/>
                  </a:endParaRPr>
                </a:p>
                <a:p>
                  <a:endParaRPr lang="en-US" i="1" dirty="0">
                    <a:latin typeface="Cambria Math" panose="02040503050406030204" pitchFamily="18" charset="0"/>
                  </a:endParaRPr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𝐚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𝐛</m:t>
                                      </m:r>
                                    </m:e>
                                    <m:sub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b="1" i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</m:m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sub>
                                      </m:sSub>
                                    </m:sub>
                                  </m:sSub>
                                </m:e>
                              </m:mr>
                            </m:m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 i="0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oMath>
                    </m:oMathPara>
                  </a14:m>
                  <a:endParaRPr lang="en-US" dirty="0"/>
                </a:p>
                <a:p>
                  <a:endParaRPr lang="en-US" dirty="0"/>
                </a:p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𝐂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sSub>
                                    <m:sSub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1" i="0" dirty="0" smtClean="0">
                                          <a:latin typeface="Cambria Math" panose="02040503050406030204" pitchFamily="18" charset="0"/>
                                        </a:rPr>
                                        <m:t>𝐈</m:t>
                                      </m:r>
                                    </m:e>
                                    <m:sub>
                                      <m:sSub>
                                        <m:sSubPr>
                                          <m:ctrlP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𝑛</m:t>
                                          </m:r>
                                        </m:e>
                                        <m:sub>
                                          <m:r>
                                            <a:rPr lang="en-US" i="1" dirty="0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sub>
                                      </m:sSub>
                                    </m:sub>
                                  </m:sSub>
                                  <m:r>
                                    <a:rPr lang="en-US" i="0" dirty="0" smtClean="0">
                                      <a:latin typeface="Cambria Math" panose="02040503050406030204" pitchFamily="18" charset="0"/>
                                    </a:rPr>
                                    <m:t> −</m:t>
                                  </m:r>
                                  <m:r>
                                    <a:rPr lang="en-US" b="1" i="0" dirty="0" smtClean="0">
                                      <a:latin typeface="Cambria Math" panose="02040503050406030204" pitchFamily="18" charset="0"/>
                                    </a:rPr>
                                    <m:t>𝐀</m:t>
                                  </m:r>
                                </m:e>
                              </m:mr>
                            </m:m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= 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𝟎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60D009EC-4B03-3105-AB27-B86A11CF5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93342" y="944510"/>
                  <a:ext cx="2930943" cy="2204834"/>
                </a:xfrm>
                <a:prstGeom prst="rect">
                  <a:avLst/>
                </a:prstGeom>
                <a:blipFill>
                  <a:blip r:embed="rId12"/>
                  <a:stretch>
                    <a:fillRect l="-4762" t="-3429" r="-3896" b="-4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7" name="Straight Arrow Connector 106">
              <a:extLst>
                <a:ext uri="{FF2B5EF4-FFF2-40B4-BE49-F238E27FC236}">
                  <a16:creationId xmlns:a16="http://schemas.microsoft.com/office/drawing/2014/main" id="{7FDA0523-46E4-604A-CD57-242D9744D789}"/>
                </a:ext>
              </a:extLst>
            </p:cNvPr>
            <p:cNvCxnSpPr/>
            <p:nvPr/>
          </p:nvCxnSpPr>
          <p:spPr>
            <a:xfrm flipV="1">
              <a:off x="9743425" y="1778142"/>
              <a:ext cx="872492" cy="216000"/>
            </a:xfrm>
            <a:prstGeom prst="straightConnector1">
              <a:avLst/>
            </a:prstGeom>
            <a:ln w="28575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CE5F556-60C1-51AC-522D-001786D0E37A}"/>
                    </a:ext>
                  </a:extLst>
                </p:cNvPr>
                <p:cNvSpPr txBox="1"/>
                <p:nvPr/>
              </p:nvSpPr>
              <p:spPr>
                <a:xfrm>
                  <a:off x="10559005" y="1409367"/>
                  <a:ext cx="1560061" cy="58477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𝐀𝐠𝐠𝐫𝐞𝐠𝐚𝐭𝐢𝐨𝐧</m:t>
                        </m:r>
                      </m:oMath>
                    </m:oMathPara>
                  </a14:m>
                  <a:endParaRPr lang="en-US" sz="1600" b="1" dirty="0">
                    <a:ea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b="1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𝐂𝐨𝐧𝐬𝐭𝐫𝐚𝐢𝐧𝐭𝐬</m:t>
                        </m:r>
                      </m:oMath>
                    </m:oMathPara>
                  </a14:m>
                  <a:endParaRPr lang="en-US" sz="1600" b="1" dirty="0">
                    <a:ea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6CE5F556-60C1-51AC-522D-001786D0E3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559005" y="1409367"/>
                  <a:ext cx="1560061" cy="584775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1" name="TextBox 110">
            <a:extLst>
              <a:ext uri="{FF2B5EF4-FFF2-40B4-BE49-F238E27FC236}">
                <a16:creationId xmlns:a16="http://schemas.microsoft.com/office/drawing/2014/main" id="{BCB257A5-3A2C-1935-7BFD-36407F9F1001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3/20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419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B8B7-00E6-6E89-36B9-1C93DBC35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C6B8C553-58DA-71AA-7704-E8BB589EFD32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1.2 How has the literature approached reconciliation?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A8D874E-BB35-88FB-96B8-19F5F08CF9C4}"/>
              </a:ext>
            </a:extLst>
          </p:cNvPr>
          <p:cNvGrpSpPr/>
          <p:nvPr/>
        </p:nvGrpSpPr>
        <p:grpSpPr>
          <a:xfrm>
            <a:off x="589468" y="957345"/>
            <a:ext cx="4509674" cy="989888"/>
            <a:chOff x="589468" y="1143957"/>
            <a:chExt cx="4509674" cy="98988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0C91509-473C-C815-DA43-6454F66123E9}"/>
                    </a:ext>
                  </a:extLst>
                </p:cNvPr>
                <p:cNvSpPr txBox="1"/>
                <p:nvPr/>
              </p:nvSpPr>
              <p:spPr>
                <a:xfrm>
                  <a:off x="892675" y="1684106"/>
                  <a:ext cx="3679326" cy="4497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sz="2000" smtClean="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000" b="1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𝔗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  <m:r>
                          <a:rPr lang="en-US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E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𝐲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0" smtClean="0">
                                    <a:latin typeface="Cambria Math" panose="02040503050406030204" pitchFamily="18" charset="0"/>
                                  </a:rPr>
                                  <m:t>T</m:t>
                                </m:r>
                                <m: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0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𝔗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sz="2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T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00C91509-473C-C815-DA43-6454F66123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92675" y="1684106"/>
                  <a:ext cx="3679326" cy="449739"/>
                </a:xfrm>
                <a:prstGeom prst="rect">
                  <a:avLst/>
                </a:prstGeom>
                <a:blipFill>
                  <a:blip r:embed="rId2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54EC067-5862-5708-48BF-1A63C9D09476}"/>
                </a:ext>
              </a:extLst>
            </p:cNvPr>
            <p:cNvSpPr txBox="1"/>
            <p:nvPr/>
          </p:nvSpPr>
          <p:spPr>
            <a:xfrm>
              <a:off x="589468" y="1143957"/>
              <a:ext cx="450967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Constantia" panose="02030602050306030303" pitchFamily="18" charset="0"/>
                </a:rPr>
                <a:t>Unbiasedness of base forecasts assumption: 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344DF-88B5-AC1A-B825-17A470419447}"/>
                  </a:ext>
                </a:extLst>
              </p:cNvPr>
              <p:cNvSpPr txBox="1"/>
              <p:nvPr/>
            </p:nvSpPr>
            <p:spPr>
              <a:xfrm>
                <a:off x="5929163" y="824022"/>
                <a:ext cx="5444730" cy="18481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Strong requirement </a:t>
                </a:r>
                <a:r>
                  <a:rPr lang="en-GB" sz="12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(Nguyen et al. 2025)</a:t>
                </a:r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endParaRPr lang="en-US" sz="1000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algn="ctr"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h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b="1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𝛜</m:t>
                    </m:r>
                  </m:oMath>
                </a14:m>
                <a:r>
                  <a:rPr lang="en-GB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 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E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𝛜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𝔗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  <a:ea typeface="Cambria Math" panose="02040503050406030204" pitchFamily="18" charset="0"/>
                  </a:rPr>
                  <a:t> </a:t>
                </a:r>
              </a:p>
              <a:p>
                <a:pPr algn="ctr"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15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(assumes base forecasts embody </a:t>
                </a:r>
                <a:r>
                  <a:rPr lang="en-GB" sz="1500" b="1" i="1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all</a:t>
                </a:r>
                <a:r>
                  <a:rPr lang="en-GB" sz="15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useful information </a:t>
                </a:r>
              </a:p>
              <a:p>
                <a:pPr algn="ctr"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15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in the history of the hierarchy)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97344DF-88B5-AC1A-B825-17A470419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163" y="824022"/>
                <a:ext cx="5444730" cy="1848198"/>
              </a:xfrm>
              <a:prstGeom prst="rect">
                <a:avLst/>
              </a:prstGeom>
              <a:blipFill>
                <a:blip r:embed="rId3"/>
                <a:stretch>
                  <a:fillRect l="-1166" b="-27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59296A0-1C84-A237-1FFD-0DF645E8056B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4/20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86BD6D-F0AE-DD4D-00D4-20BFD77D0BF0}"/>
                  </a:ext>
                </a:extLst>
              </p:cNvPr>
              <p:cNvSpPr txBox="1"/>
              <p:nvPr/>
            </p:nvSpPr>
            <p:spPr>
              <a:xfrm>
                <a:off x="313208" y="2985037"/>
                <a:ext cx="5062194" cy="2690993"/>
              </a:xfrm>
              <a:prstGeom prst="rect">
                <a:avLst/>
              </a:prstGeom>
              <a:noFill/>
              <a:ln w="19050">
                <a:solidFill>
                  <a:srgbClr val="24827F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>
                  <a:buClr>
                    <a:srgbClr val="0134FF"/>
                  </a:buClr>
                </a:pPr>
                <a:r>
                  <a:rPr lang="en-US" sz="1600" b="1" dirty="0">
                    <a:latin typeface="Constantia" panose="02030602050306030303" pitchFamily="18" charset="0"/>
                  </a:rPr>
                  <a:t>Minimum Trace (</a:t>
                </a:r>
                <a:r>
                  <a:rPr lang="en-US" sz="1600" b="1" dirty="0" err="1">
                    <a:latin typeface="Constantia" panose="02030602050306030303" pitchFamily="18" charset="0"/>
                  </a:rPr>
                  <a:t>MinT</a:t>
                </a:r>
                <a:r>
                  <a:rPr lang="en-US" sz="1600" b="1" dirty="0">
                    <a:latin typeface="Constantia" panose="02030602050306030303" pitchFamily="18" charset="0"/>
                  </a:rPr>
                  <a:t>)</a:t>
                </a:r>
                <a:r>
                  <a:rPr lang="en-US" sz="1600" dirty="0">
                    <a:latin typeface="Constantia" panose="02030602050306030303" pitchFamily="18" charset="0"/>
                  </a:rPr>
                  <a:t>  (Wickramasuriya et al., 2019)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Unbiasedness assumption +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Optimisation</a:t>
                </a: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Find optimal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for: 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=</m:t>
                    </m:r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600" b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Solution is: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MinT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d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b="1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sz="1600" dirty="0">
                    <a:latin typeface="Constantia" panose="02030602050306030303" pitchFamily="18" charset="0"/>
                  </a:rPr>
                  <a:t>     where: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1600" i="1">
                        <a:latin typeface="Cambria Math" panose="02040503050406030204" pitchFamily="18" charset="0"/>
                      </a:rPr>
                      <m:t>Var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6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6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C86BD6D-F0AE-DD4D-00D4-20BFD77D0B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208" y="2985037"/>
                <a:ext cx="5062194" cy="2690993"/>
              </a:xfrm>
              <a:prstGeom prst="rect">
                <a:avLst/>
              </a:prstGeom>
              <a:blipFill>
                <a:blip r:embed="rId4"/>
                <a:stretch>
                  <a:fillRect l="-499" t="-467" b="-935"/>
                </a:stretch>
              </a:blipFill>
              <a:ln w="19050">
                <a:solidFill>
                  <a:srgbClr val="24827F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059CAD-4BD1-9C92-4109-6F6F37DDDF26}"/>
                  </a:ext>
                </a:extLst>
              </p:cNvPr>
              <p:cNvSpPr txBox="1"/>
              <p:nvPr/>
            </p:nvSpPr>
            <p:spPr>
              <a:xfrm>
                <a:off x="5929163" y="2953913"/>
                <a:ext cx="5700606" cy="3287888"/>
              </a:xfrm>
              <a:prstGeom prst="rect">
                <a:avLst/>
              </a:prstGeom>
              <a:noFill/>
              <a:ln w="19050">
                <a:solidFill>
                  <a:srgbClr val="FF2F92"/>
                </a:solidFill>
                <a:prstDash val="dash"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b="1" dirty="0">
                    <a:latin typeface="Constantia" panose="02030602050306030303" pitchFamily="18" charset="0"/>
                  </a:rPr>
                  <a:t>Information Combination (IComb)</a:t>
                </a:r>
                <a:r>
                  <a:rPr lang="en-US" sz="1600" dirty="0">
                    <a:latin typeface="Constantia" panose="02030602050306030303" pitchFamily="18" charset="0"/>
                  </a:rPr>
                  <a:t>  </a:t>
                </a:r>
                <a:r>
                  <a:rPr lang="en-US" sz="1100" dirty="0">
                    <a:latin typeface="Constantia" panose="02030602050306030303" pitchFamily="18" charset="0"/>
                  </a:rPr>
                  <a:t>(Nguyen et al. 2025)</a:t>
                </a:r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Multivariate regression: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𝐘</m:t>
                    </m:r>
                    <m:r>
                      <m:rPr>
                        <m:nor/>
                      </m:rPr>
                      <a:rPr lang="en-US" sz="1600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 sz="1600" dirty="0"/>
                      <m:t>=</m:t>
                    </m:r>
                    <m:r>
                      <m:rPr>
                        <m:nor/>
                      </m:rPr>
                      <a:rPr lang="en-US" sz="1600" dirty="0"/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</m:oMath>
                </a14:m>
                <a:endParaRPr lang="en-US" sz="1050" b="1" dirty="0">
                  <a:latin typeface="Cambria Math" panose="02040503050406030204" pitchFamily="18" charset="0"/>
                </a:endParaRPr>
              </a:p>
              <a:p>
                <a:pPr lvl="0" algn="just">
                  <a:lnSpc>
                    <a:spcPct val="150000"/>
                  </a:lnSpc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where:   </a:t>
                </a:r>
                <a:r>
                  <a:rPr lang="en-US" sz="1600" b="1" dirty="0">
                    <a:solidFill>
                      <a:prstClr val="black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: coherent </a:t>
                </a:r>
                <a:r>
                  <a:rPr lang="en-US" sz="1600" dirty="0" err="1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realised</a:t>
                </a: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hierarchy</a:t>
                </a:r>
              </a:p>
              <a:p>
                <a:pPr lvl="0" algn="just">
                  <a:lnSpc>
                    <a:spcPct val="150000"/>
                  </a:lnSpc>
                  <a:defRPr/>
                </a:pP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                    </a:t>
                </a:r>
                <a14:m>
                  <m:oMath xmlns:m="http://schemas.openxmlformats.org/officeDocument/2006/math">
                    <m:r>
                      <a:rPr lang="en-US" sz="1600" b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600" b="1" i="1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: </a:t>
                </a:r>
                <a:r>
                  <a:rPr lang="en-US" sz="1600" i="1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any </a:t>
                </a:r>
                <a:r>
                  <a:rPr lang="en-US" sz="1600" dirty="0">
                    <a:solidFill>
                      <a:prstClr val="black"/>
                    </a:solidFill>
                    <a:latin typeface="Constantia" panose="02030602050306030303" pitchFamily="18" charset="0"/>
                  </a:rPr>
                  <a:t>predictor set, hierarchy in-sample forecasts</a:t>
                </a:r>
                <a:endParaRPr lang="en-US" sz="1000" b="1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  <m:r>
                      <a:rPr lang="en-US" sz="16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coherent as: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𝐂</m:t>
                        </m:r>
                        <m:r>
                          <a:rPr lang="en-US" sz="1600" b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acc>
                          <m:accPr>
                            <m:chr m:val="̂"/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6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𝐂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𝐘</m:t>
                    </m:r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′</m:t>
                    </m:r>
                    <m:r>
                      <a:rPr lang="en-US" sz="16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𝐗</m:t>
                    </m:r>
                    <m:sSup>
                      <m:sSupPr>
                        <m:ctrlP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16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  <m:r>
                              <a:rPr lang="en-US" sz="1600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𝐗</m:t>
                            </m:r>
                          </m:e>
                        </m:d>
                      </m:e>
                      <m:sup>
                        <m:r>
                          <a:rPr lang="en-US" sz="16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1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</m:oMath>
                </a14:m>
                <a:endParaRPr lang="en-US" sz="1600" b="1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b="1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Regularisation: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0046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IComb-S:           Ridge (shrinkage)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dense models</a:t>
                </a:r>
              </a:p>
              <a:p>
                <a:pPr marL="742950" lvl="1" indent="-285750">
                  <a:lnSpc>
                    <a:spcPct val="150000"/>
                  </a:lnSpc>
                  <a:buClr>
                    <a:srgbClr val="0046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IComb-L:           Multivariate lasso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sparse models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3059CAD-4BD1-9C92-4109-6F6F37DDDF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163" y="2953913"/>
                <a:ext cx="5700606" cy="3287888"/>
              </a:xfrm>
              <a:prstGeom prst="rect">
                <a:avLst/>
              </a:prstGeom>
              <a:blipFill>
                <a:blip r:embed="rId5"/>
                <a:stretch>
                  <a:fillRect l="-443" t="-383" b="-766"/>
                </a:stretch>
              </a:blipFill>
              <a:ln w="19050">
                <a:solidFill>
                  <a:srgbClr val="FF2F92"/>
                </a:solidFill>
                <a:prstDash val="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C10554-89CF-F66D-8E8D-EB9692F7FE55}"/>
                  </a:ext>
                </a:extLst>
              </p:cNvPr>
              <p:cNvSpPr txBox="1"/>
              <p:nvPr/>
            </p:nvSpPr>
            <p:spPr>
              <a:xfrm>
                <a:off x="5473518" y="1497494"/>
                <a:ext cx="455645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⟹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4C10554-89CF-F66D-8E8D-EB9692F7F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3518" y="1497494"/>
                <a:ext cx="455645" cy="492443"/>
              </a:xfrm>
              <a:prstGeom prst="rect">
                <a:avLst/>
              </a:prstGeom>
              <a:blipFill>
                <a:blip r:embed="rId6"/>
                <a:stretch>
                  <a:fillRect l="-24324" r="-27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647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802AE-0E63-39C5-CABE-18CB318BA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9D0C243-04C2-BA9F-1671-726AAC65EA7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3862" y="187445"/>
                <a:ext cx="11386868" cy="560158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1.3  Gap: how to expand the predictor set beyond forecasts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1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a:rPr lang="en-US" sz="2800" i="1">
                            <a:solidFill>
                              <a:srgbClr val="0046F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?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89D0C243-04C2-BA9F-1671-726AAC65E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862" y="187445"/>
                <a:ext cx="11386868" cy="560158"/>
              </a:xfrm>
              <a:prstGeom prst="rect">
                <a:avLst/>
              </a:prstGeom>
              <a:blipFill>
                <a:blip r:embed="rId2"/>
                <a:stretch>
                  <a:fillRect l="-1226" t="-2174" b="-28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2B7A6B-3AC5-ECEC-2341-62F8A8EE1CC3}"/>
                  </a:ext>
                </a:extLst>
              </p:cNvPr>
              <p:cNvSpPr txBox="1"/>
              <p:nvPr/>
            </p:nvSpPr>
            <p:spPr>
              <a:xfrm>
                <a:off x="379758" y="958157"/>
                <a:ext cx="115504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Linear Augmented Projection (FLAP) </a:t>
                </a:r>
                <a:r>
                  <a:rPr lang="en-US" sz="1400" dirty="0">
                    <a:latin typeface="Constantia" panose="02030602050306030303" pitchFamily="18" charset="0"/>
                  </a:rPr>
                  <a:t>(Yang et al., 2024)</a:t>
                </a:r>
                <a:r>
                  <a:rPr lang="en-US" dirty="0">
                    <a:latin typeface="Constantia" panose="02030602050306030303" pitchFamily="18" charset="0"/>
                  </a:rPr>
                  <a:t> says you can improve forecast accuracy of a multivariate series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by creating linear components from it and forecasting them too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2B7A6B-3AC5-ECEC-2341-62F8A8EE1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758" y="958157"/>
                <a:ext cx="11550400" cy="646331"/>
              </a:xfrm>
              <a:prstGeom prst="rect">
                <a:avLst/>
              </a:prstGeom>
              <a:blipFill>
                <a:blip r:embed="rId3"/>
                <a:stretch>
                  <a:fillRect l="-329" t="-3846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D6DF51BA-C769-784D-DBB5-F8D6153F20F3}"/>
              </a:ext>
            </a:extLst>
          </p:cNvPr>
          <p:cNvSpPr txBox="1"/>
          <p:nvPr/>
        </p:nvSpPr>
        <p:spPr>
          <a:xfrm>
            <a:off x="320800" y="5260712"/>
            <a:ext cx="11550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b="1" i="1" dirty="0">
                <a:solidFill>
                  <a:srgbClr val="0046FF"/>
                </a:solidFill>
                <a:latin typeface="Constantia" panose="02030602050306030303" pitchFamily="18" charset="0"/>
              </a:rPr>
              <a:t>Research Question</a:t>
            </a:r>
            <a:r>
              <a:rPr lang="en-US" dirty="0">
                <a:solidFill>
                  <a:srgbClr val="0046FF"/>
                </a:solidFill>
                <a:latin typeface="Constantia" panose="02030602050306030303" pitchFamily="18" charset="0"/>
              </a:rPr>
              <a:t>: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</a:t>
            </a:r>
            <a:r>
              <a:rPr lang="en-US" i="1" dirty="0">
                <a:solidFill>
                  <a:schemeClr val="tx1"/>
                </a:solidFill>
                <a:latin typeface="Constantia" panose="02030602050306030303" pitchFamily="18" charset="0"/>
              </a:rPr>
              <a:t>To what extent</a:t>
            </a:r>
            <a:r>
              <a:rPr lang="en-US" dirty="0">
                <a:solidFill>
                  <a:schemeClr val="tx1"/>
                </a:solidFill>
                <a:latin typeface="Constantia" panose="02030602050306030303" pitchFamily="18" charset="0"/>
              </a:rPr>
              <a:t> can forecasts based on constructed linear components improve the accuracy of hierarchical forecasts when incorporated into the Information Combination framework?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EF294B80-57A7-D94E-BDD0-1C06F8E27EBA}"/>
              </a:ext>
            </a:extLst>
          </p:cNvPr>
          <p:cNvGrpSpPr/>
          <p:nvPr/>
        </p:nvGrpSpPr>
        <p:grpSpPr>
          <a:xfrm>
            <a:off x="513046" y="1889664"/>
            <a:ext cx="11165907" cy="2436816"/>
            <a:chOff x="504477" y="1786753"/>
            <a:chExt cx="11165907" cy="243681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F95614-AF85-CA1E-D4DF-F39CCA202813}"/>
                    </a:ext>
                  </a:extLst>
                </p:cNvPr>
                <p:cNvSpPr txBox="1"/>
                <p:nvPr/>
              </p:nvSpPr>
              <p:spPr>
                <a:xfrm>
                  <a:off x="1036946" y="1937497"/>
                  <a:ext cx="2271861" cy="107721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1. Create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linear components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</a:rPr>
                            <m:t>𝒄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>
                              <a:latin typeface="Cambria Math" panose="02040503050406030204" pitchFamily="18" charset="0"/>
                            </a:rPr>
                            <m:t>𝐟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>
                          <a:latin typeface="Cambria Math" panose="02040503050406030204" pitchFamily="18" charset="0"/>
                        </a:rPr>
                        <m:t>,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 </a:t>
                  </a:r>
                  <a:r>
                    <a:rPr lang="en-US" sz="1600" i="1" dirty="0">
                      <a:latin typeface="Constantia" panose="02030602050306030303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  <m:r>
                        <a:rPr lang="en-US" sz="16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CF95614-AF85-CA1E-D4DF-F39CCA2028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6946" y="1937497"/>
                  <a:ext cx="2271861" cy="1077218"/>
                </a:xfrm>
                <a:prstGeom prst="rect">
                  <a:avLst/>
                </a:prstGeom>
                <a:blipFill>
                  <a:blip r:embed="rId4"/>
                  <a:stretch>
                    <a:fillRect t="-1163" b="-4651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C8D810D3-455A-A4E8-0854-F88D32BE7E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85740" y="2945894"/>
              <a:ext cx="394765" cy="483106"/>
            </a:xfrm>
            <a:prstGeom prst="straightConnector1">
              <a:avLst/>
            </a:prstGeom>
            <a:ln w="19050">
              <a:solidFill>
                <a:srgbClr val="24827F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4C4E51-301A-3900-5DD9-FC29E55CC334}"/>
                    </a:ext>
                  </a:extLst>
                </p:cNvPr>
                <p:cNvSpPr txBox="1"/>
                <p:nvPr/>
              </p:nvSpPr>
              <p:spPr>
                <a:xfrm>
                  <a:off x="504477" y="3484905"/>
                  <a:ext cx="5420124" cy="73866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prstDash val="sysDash"/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dirty="0">
                      <a:latin typeface="Constantia" panose="02030602050306030303" pitchFamily="18" charset="0"/>
                    </a:rPr>
                    <a:t>Component weights matrix </a:t>
                  </a:r>
                  <a:r>
                    <a:rPr lang="en-US" sz="1400" u="sng" dirty="0">
                      <a:latin typeface="Constantia" panose="02030602050306030303" pitchFamily="18" charset="0"/>
                    </a:rPr>
                    <a:t>chosen</a:t>
                  </a:r>
                  <a:r>
                    <a:rPr lang="en-US" sz="1400" dirty="0">
                      <a:latin typeface="Constantia" panose="02030602050306030303" pitchFamily="18" charset="0"/>
                    </a:rPr>
                    <a:t> by forecaster:</a:t>
                  </a:r>
                </a:p>
                <a:p>
                  <a:endParaRPr lang="en-US" sz="1400" dirty="0">
                    <a:latin typeface="Constantia" panose="02030602050306030303" pitchFamily="18" charset="0"/>
                  </a:endParaRPr>
                </a:p>
                <a:p>
                  <a:r>
                    <a:rPr lang="en-US" sz="1400" dirty="0">
                      <a:latin typeface="Constantia" panose="02030602050306030303" pitchFamily="18" charset="0"/>
                    </a:rPr>
                    <a:t>For example, do PCA on </a:t>
                  </a:r>
                  <a14:m>
                    <m:oMath xmlns:m="http://schemas.openxmlformats.org/officeDocument/2006/math"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 i="0" smtClean="0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1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,...,</m:t>
                          </m:r>
                          <m:sSub>
                            <m:sSubPr>
                              <m:ctrlPr>
                                <a:rPr lang="en-US" sz="1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1">
                                  <a:latin typeface="Cambria Math" panose="02040503050406030204" pitchFamily="18" charset="0"/>
                                </a:rPr>
                                <m:t>𝐟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US" sz="1400" dirty="0">
                      <a:latin typeface="Constantia" panose="02030602050306030303" pitchFamily="18" charset="0"/>
                    </a:rPr>
                    <a:t> and use the loadings in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Φ</m:t>
                      </m:r>
                    </m:oMath>
                  </a14:m>
                  <a:endParaRPr lang="en-US" sz="14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0B4C4E51-301A-3900-5DD9-FC29E55CC33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477" y="3484905"/>
                  <a:ext cx="5420124" cy="738664"/>
                </a:xfrm>
                <a:prstGeom prst="rect">
                  <a:avLst/>
                </a:prstGeom>
                <a:blipFill>
                  <a:blip r:embed="rId5"/>
                  <a:stretch>
                    <a:fillRect l="-233" t="-1667" b="-8333"/>
                  </a:stretch>
                </a:blipFill>
                <a:ln>
                  <a:solidFill>
                    <a:schemeClr val="tx1"/>
                  </a:solidFill>
                  <a:prstDash val="sysDash"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833223-9ADB-DE17-3859-D562E5742DB5}"/>
                    </a:ext>
                  </a:extLst>
                </p:cNvPr>
                <p:cNvSpPr txBox="1"/>
                <p:nvPr/>
              </p:nvSpPr>
              <p:spPr>
                <a:xfrm>
                  <a:off x="4092803" y="1786753"/>
                  <a:ext cx="3186260" cy="1405898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2. Forecast components to get component-augmented forecasts 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>
                                            <a:latin typeface="Cambria Math" panose="02040503050406030204" pitchFamily="18" charset="0"/>
                                          </a:rPr>
                                          <m:t>𝐜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 i="0" smtClean="0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  <m:r>
                          <m:rPr>
                            <m:nor/>
                          </m:rPr>
                          <a:rPr lang="en-US" sz="1600" dirty="0">
                            <a:latin typeface="Constantia" panose="02030602050306030303" pitchFamily="18" charset="0"/>
                          </a:rPr>
                          <m:t> </m:t>
                        </m:r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∈</m:t>
                        </m:r>
                        <m:sSup>
                          <m:sSupPr>
                            <m:ctrlP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ℝ</m:t>
                            </m:r>
                          </m:e>
                          <m:sup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oMath>
                    </m:oMathPara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67833223-9ADB-DE17-3859-D562E5742DB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2803" y="1786753"/>
                  <a:ext cx="3186260" cy="1405898"/>
                </a:xfrm>
                <a:prstGeom prst="rect">
                  <a:avLst/>
                </a:prstGeom>
                <a:blipFill>
                  <a:blip r:embed="rId6"/>
                  <a:stretch>
                    <a:fillRect t="-885" r="-395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3C62F-CC2C-ABDF-DA14-FD8617D056E9}"/>
                    </a:ext>
                  </a:extLst>
                </p:cNvPr>
                <p:cNvSpPr txBox="1"/>
                <p:nvPr/>
              </p:nvSpPr>
              <p:spPr>
                <a:xfrm>
                  <a:off x="8063059" y="1791574"/>
                  <a:ext cx="3607325" cy="143616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3. Project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600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onto space where constructed constraints apply</a:t>
                  </a:r>
                </a:p>
                <a:p>
                  <a:pPr algn="ctr"/>
                  <a:endParaRPr lang="en-US" sz="1600" dirty="0">
                    <a:latin typeface="Constantia" panose="02030602050306030303" pitchFamily="18" charset="0"/>
                  </a:endParaRP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1600" i="1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b="1" i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𝐳</m:t>
                                </m:r>
                              </m:e>
                            </m:acc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1600" i="1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T</m:t>
                            </m:r>
                          </m:sub>
                        </m:s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= 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sz="16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 i="0" smtClean="0">
                                            <a:latin typeface="Cambria Math" panose="02040503050406030204" pitchFamily="18" charset="0"/>
                                          </a:rPr>
                                          <m:t>𝐜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̃"/>
                                        <m:ctrlPr>
                                          <a:rPr lang="en-US" sz="1600" i="1">
                                            <a:solidFill>
                                              <a:prstClr val="black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1600" b="1">
                                            <a:latin typeface="Cambria Math" panose="02040503050406030204" pitchFamily="18" charset="0"/>
                                          </a:rPr>
                                          <m:t>𝐟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sz="1600" i="1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|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600" b="0" i="1" smtClean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T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oMath>
                    </m:oMathPara>
                  </a14:m>
                  <a:endParaRPr lang="en-US" sz="1600" dirty="0">
                    <a:latin typeface="Constantia" panose="02030602050306030303" pitchFamily="18" charset="0"/>
                  </a:endParaRPr>
                </a:p>
              </p:txBody>
            </p:sp>
          </mc:Choice>
          <mc:Fallback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CB23C62F-CC2C-ABDF-DA14-FD8617D056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63059" y="1791574"/>
                  <a:ext cx="3607325" cy="1436162"/>
                </a:xfrm>
                <a:prstGeom prst="rect">
                  <a:avLst/>
                </a:prstGeom>
                <a:blipFill>
                  <a:blip r:embed="rId7"/>
                  <a:stretch>
                    <a:fillRect t="-870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9F72548-37A3-C2C6-527D-EE987C5C493F}"/>
                </a:ext>
              </a:extLst>
            </p:cNvPr>
            <p:cNvCxnSpPr>
              <a:cxnSpLocks/>
              <a:stCxn id="9" idx="3"/>
              <a:endCxn id="19" idx="1"/>
            </p:cNvCxnSpPr>
            <p:nvPr/>
          </p:nvCxnSpPr>
          <p:spPr>
            <a:xfrm>
              <a:off x="3308807" y="2476106"/>
              <a:ext cx="7839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2C2C67B5-7048-6DE8-F687-FBCCCC419DE6}"/>
                </a:ext>
              </a:extLst>
            </p:cNvPr>
            <p:cNvCxnSpPr>
              <a:cxnSpLocks/>
            </p:cNvCxnSpPr>
            <p:nvPr/>
          </p:nvCxnSpPr>
          <p:spPr>
            <a:xfrm>
              <a:off x="7279063" y="2477679"/>
              <a:ext cx="78399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4317AB-F2B6-388C-3B6C-2000AC27A8C8}"/>
                  </a:ext>
                </a:extLst>
              </p:cNvPr>
              <p:cNvSpPr txBox="1"/>
              <p:nvPr/>
            </p:nvSpPr>
            <p:spPr>
              <a:xfrm>
                <a:off x="6827890" y="3720885"/>
                <a:ext cx="4712839" cy="1009764"/>
              </a:xfrm>
              <a:prstGeom prst="rect">
                <a:avLst/>
              </a:prstGeom>
              <a:noFill/>
              <a:ln w="38100">
                <a:solidFill>
                  <a:srgbClr val="FF2F92"/>
                </a:solidFill>
                <a:prstDash val="sysDash"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Why could this improve forecast accuracy?</a:t>
                </a:r>
              </a:p>
              <a:p>
                <a:endParaRPr lang="en-US" sz="1400" dirty="0">
                  <a:solidFill>
                    <a:schemeClr val="tx1"/>
                  </a:solidFill>
                  <a:latin typeface="Constantia" panose="02030602050306030303" pitchFamily="18" charset="0"/>
                </a:endParaRPr>
              </a:p>
              <a:p>
                <a:r>
                  <a:rPr lang="en-US" sz="14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b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has no new underlying data, the forecasts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may capture information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4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𝐟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sz="1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endParaRPr lang="en-US" sz="1400" dirty="0">
                  <a:solidFill>
                    <a:schemeClr val="tx1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04317AB-F2B6-388C-3B6C-2000AC27A8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7890" y="3720885"/>
                <a:ext cx="4712839" cy="1009764"/>
              </a:xfrm>
              <a:prstGeom prst="rect">
                <a:avLst/>
              </a:prstGeom>
              <a:blipFill>
                <a:blip r:embed="rId8"/>
                <a:stretch>
                  <a:fillRect b="-3614"/>
                </a:stretch>
              </a:blipFill>
              <a:ln w="38100">
                <a:solidFill>
                  <a:srgbClr val="FF2F92"/>
                </a:solidFill>
                <a:prstDash val="sysDash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C0DE60DC-B7C2-44A1-4939-C080A4DFF477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5/20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3645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976D7-F827-BB62-197F-3FD45886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327B36C-7ED8-AC17-5D0E-83163C7775D8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386868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Forecasting with Linear Augmented Information Combination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66DB9E3-3422-4BB7-9C96-90F76703D150}"/>
              </a:ext>
            </a:extLst>
          </p:cNvPr>
          <p:cNvGrpSpPr/>
          <p:nvPr/>
        </p:nvGrpSpPr>
        <p:grpSpPr>
          <a:xfrm>
            <a:off x="415915" y="1003189"/>
            <a:ext cx="11350499" cy="875974"/>
            <a:chOff x="451860" y="989384"/>
            <a:chExt cx="11350499" cy="87597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AE53B-6B04-DA68-F880-D4941281E8CA}"/>
                    </a:ext>
                  </a:extLst>
                </p:cNvPr>
                <p:cNvSpPr txBox="1"/>
                <p:nvPr/>
              </p:nvSpPr>
              <p:spPr>
                <a:xfrm>
                  <a:off x="451860" y="1012239"/>
                  <a:ext cx="2759329" cy="85311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1600" dirty="0">
                      <a:latin typeface="Constantia" panose="02030602050306030303" pitchFamily="18" charset="0"/>
                    </a:rPr>
                    <a:t>1. Create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linear component series from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𝕿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1600" dirty="0">
                      <a:latin typeface="Constantia" panose="02030602050306030303" pitchFamily="18" charset="0"/>
                    </a:rPr>
                    <a:t> using PCA and forecast them</a:t>
                  </a:r>
                </a:p>
              </p:txBody>
            </p:sp>
          </mc:Choice>
          <mc:Fallback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B5AE53B-6B04-DA68-F880-D4941281E8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860" y="1012239"/>
                  <a:ext cx="2759329" cy="853119"/>
                </a:xfrm>
                <a:prstGeom prst="rect">
                  <a:avLst/>
                </a:prstGeom>
                <a:blipFill>
                  <a:blip r:embed="rId2"/>
                  <a:stretch>
                    <a:fillRect t="-1449" r="-913" b="-4348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A98298A-259F-76CC-69CE-9937C6ADE023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837665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tantia" panose="02030602050306030303" pitchFamily="18" charset="0"/>
                </a:rPr>
                <a:t>2. Apply IComb framework on set of augmented predictors, to get FLAIC coefficient matrix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6BF61735-E057-C79B-4CD6-BF6D884174AB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E204A15-0F7B-AE6E-1714-A22219497B1E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B4FFF93-6BCF-AD84-9D58-8721DB143070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830997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latin typeface="Constantia" panose="02030602050306030303" pitchFamily="18" charset="0"/>
                </a:rPr>
                <a:t>3. Use obtained coefficients to reconcile base forecast</a:t>
              </a:r>
            </a:p>
          </p:txBody>
        </p:sp>
      </p:grpSp>
      <p:sp>
        <p:nvSpPr>
          <p:cNvPr id="29" name="Freeform 28">
            <a:extLst>
              <a:ext uri="{FF2B5EF4-FFF2-40B4-BE49-F238E27FC236}">
                <a16:creationId xmlns:a16="http://schemas.microsoft.com/office/drawing/2014/main" id="{992D36CD-4688-AC86-0EE7-177900962065}"/>
              </a:ext>
            </a:extLst>
          </p:cNvPr>
          <p:cNvSpPr/>
          <p:nvPr/>
        </p:nvSpPr>
        <p:spPr>
          <a:xfrm>
            <a:off x="74779" y="1531863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8C49-DB49-26CA-8B54-B8FA6245904A}"/>
                  </a:ext>
                </a:extLst>
              </p:cNvPr>
              <p:cNvSpPr txBox="1"/>
              <p:nvPr/>
            </p:nvSpPr>
            <p:spPr>
              <a:xfrm>
                <a:off x="604398" y="2176853"/>
                <a:ext cx="10899130" cy="42510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We use all </a:t>
                </a:r>
                <a:r>
                  <a:rPr lang="en-US" i="1" dirty="0">
                    <a:latin typeface="Constantia" panose="02030602050306030303" pitchFamily="18" charset="0"/>
                  </a:rPr>
                  <a:t>four</a:t>
                </a:r>
                <a:r>
                  <a:rPr lang="en-US" dirty="0">
                    <a:latin typeface="Constantia" panose="02030602050306030303" pitchFamily="18" charset="0"/>
                  </a:rPr>
                  <a:t> PCA specifications. Let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𝛿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binary indicators for </a:t>
                </a:r>
                <a:r>
                  <a:rPr lang="en-US" dirty="0" err="1">
                    <a:latin typeface="Constantia" panose="02030602050306030303" pitchFamily="18" charset="0"/>
                  </a:rPr>
                  <a:t>centring</a:t>
                </a:r>
                <a:r>
                  <a:rPr lang="en-US" dirty="0">
                    <a:latin typeface="Constantia" panose="02030602050306030303" pitchFamily="18" charset="0"/>
                  </a:rPr>
                  <a:t> and scaling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Define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dirty="0">
                              <a:latin typeface="Cambria Math" panose="02040503050406030204" pitchFamily="18" charset="0"/>
                            </a:rPr>
                            <m:t>𝐲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dirty="0">
                              <a:latin typeface="Cambria Math" panose="02040503050406030204" pitchFamily="18" charset="0"/>
                            </a:rPr>
                            <m:t>𝐃</m:t>
                          </m:r>
                        </m:e>
                        <m:sub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</m:e>
                          </m:d>
                        </m:sub>
                        <m:sup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</m:sup>
                      </m:sSubSup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  <m:acc>
                            <m:accPr>
                              <m:chr m:val="̅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en-US" b="1" dirty="0"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     where: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dirty="0">
                            <a:latin typeface="Cambria Math" panose="02040503050406030204" pitchFamily="18" charset="0"/>
                          </a:rPr>
                          <m:t>𝐃</m:t>
                        </m:r>
                      </m:e>
                      <m: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e>
                        </m:d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is diagonal matrix of scaling factors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4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Apply PCA to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1" i="0" dirty="0" smtClean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𝑆</m:t>
                                </m:r>
                              </m:sub>
                            </m:sSub>
                          </m:e>
                        </m:d>
                      </m:sup>
                    </m:sSubSup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construct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≤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𝛿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  <m:r>
                              <a:rPr lang="en-US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</m:e>
                        </m:d>
                      </m:e>
                    </m:func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components as: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𝐜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d>
                            <m:dPr>
                              <m:ctrlPr>
                                <a:rPr lang="en-US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r>
                        <a:rPr lang="en-US" b="0" i="1" dirty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b="0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1" i="1" dirty="0"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  <m:sub>
                          <m:r>
                            <a:rPr lang="en-US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d>
                            <m:dPr>
                              <m:ctrlPr>
                                <a:rPr lang="en-US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r>
                                <a:rPr lang="en-US" b="0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b="0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e>
                          </m:d>
                        </m:sup>
                      </m:sSubSup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b="1" i="1" dirty="0">
                                  <a:latin typeface="Cambria Math" panose="02040503050406030204" pitchFamily="18" charset="0"/>
                                </a:rPr>
                                <m:t>𝐃</m:t>
                              </m:r>
                            </m:e>
                            <m:sub>
                              <m:d>
                                <m:dPr>
                                  <m:ctrlP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</m:e>
                              </m:d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sub>
                              </m:sSub>
                            </m:sup>
                          </m:sSubSup>
                          <m:d>
                            <m:d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sub>
                              </m:sSub>
                              <m:acc>
                                <m:accPr>
                                  <m:chr m:val="̅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b="1" i="1" dirty="0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</m:e>
                              </m:acc>
                            </m:e>
                          </m:d>
                        </m:e>
                      </m:d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9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components,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12E8C49-DB49-26CA-8B54-B8FA624590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398" y="2176853"/>
                <a:ext cx="10899130" cy="4251036"/>
              </a:xfrm>
              <a:prstGeom prst="rect">
                <a:avLst/>
              </a:prstGeom>
              <a:blipFill>
                <a:blip r:embed="rId3"/>
                <a:stretch>
                  <a:fillRect l="-349" t="-597" b="-2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1717CE-5AEF-ED28-49EE-A3D65AD2466B}"/>
                  </a:ext>
                </a:extLst>
              </p:cNvPr>
              <p:cNvSpPr txBox="1"/>
              <p:nvPr/>
            </p:nvSpPr>
            <p:spPr>
              <a:xfrm>
                <a:off x="4003685" y="5577339"/>
                <a:ext cx="1030228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𝑃𝐶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𝑠𝑐𝑜𝑟𝑒𝑠</m:t>
                      </m:r>
                    </m:oMath>
                  </m:oMathPara>
                </a14:m>
                <a:endParaRPr lang="en-US" sz="1200" dirty="0">
                  <a:solidFill>
                    <a:srgbClr val="24827F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E1717CE-5AEF-ED28-49EE-A3D65AD246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3685" y="5577339"/>
                <a:ext cx="1030228" cy="276999"/>
              </a:xfrm>
              <a:prstGeom prst="rect">
                <a:avLst/>
              </a:prstGeom>
              <a:blipFill>
                <a:blip r:embed="rId4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68FC4B-A227-720D-A785-D65EDDE7AAEB}"/>
                  </a:ext>
                </a:extLst>
              </p:cNvPr>
              <p:cNvSpPr txBox="1"/>
              <p:nvPr/>
            </p:nvSpPr>
            <p:spPr>
              <a:xfrm>
                <a:off x="5072056" y="5577339"/>
                <a:ext cx="1030229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𝐿𝑜𝑎𝑑𝑖𝑛𝑔𝑠</m:t>
                      </m:r>
                    </m:oMath>
                  </m:oMathPara>
                </a14:m>
                <a:endParaRPr lang="en-US" sz="1200" i="1" dirty="0">
                  <a:solidFill>
                    <a:srgbClr val="24827F"/>
                  </a:solidFill>
                  <a:ea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368FC4B-A227-720D-A785-D65EDDE7AA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2056" y="5577339"/>
                <a:ext cx="1030229" cy="276999"/>
              </a:xfrm>
              <a:prstGeom prst="rect">
                <a:avLst/>
              </a:prstGeom>
              <a:blipFill>
                <a:blip r:embed="rId5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Box 38">
            <a:extLst>
              <a:ext uri="{FF2B5EF4-FFF2-40B4-BE49-F238E27FC236}">
                <a16:creationId xmlns:a16="http://schemas.microsoft.com/office/drawing/2014/main" id="{4FBA94BA-2716-B471-36D9-49D322B7DB70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6/20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1.4: FLAIC.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4646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20F52-ABB7-4C8C-0408-40D62A22C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A29C5B5-A9B4-48E7-0847-405746029C3F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Forecasting with Linear Augmented Information Combination      …</a:t>
            </a:r>
            <a:r>
              <a:rPr lang="en-US" sz="1800" i="1" dirty="0">
                <a:solidFill>
                  <a:srgbClr val="0134FF"/>
                </a:solidFill>
                <a:latin typeface="Constantia" panose="02030602050306030303" pitchFamily="18" charset="0"/>
              </a:rPr>
              <a:t>(cont’d)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91ADFE-31D9-8C54-E916-D5EB8D6B167D}"/>
                  </a:ext>
                </a:extLst>
              </p:cNvPr>
              <p:cNvSpPr txBox="1"/>
              <p:nvPr/>
            </p:nvSpPr>
            <p:spPr>
              <a:xfrm>
                <a:off x="407158" y="899965"/>
                <a:ext cx="10899130" cy="54618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Create an augmented predictor set,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for responses,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200" dirty="0">
                  <a:latin typeface="Constantia" panose="02030602050306030303" pitchFamily="18" charset="0"/>
                </a:endParaRPr>
              </a:p>
              <a:p>
                <a:pPr algn="ctr">
                  <a:buClr>
                    <a:srgbClr val="0134FF"/>
                  </a:buClr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2400" b="1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den>
                        </m:f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 </a:t>
                </a:r>
                <a:r>
                  <a:rPr lang="en-US" dirty="0">
                    <a:ea typeface="Cambria Math" panose="02040503050406030204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stacked</m:t>
                    </m:r>
                    <m:r>
                      <a:rPr lang="en-U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</m:acc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b="1">
                                          <a:latin typeface="Cambria Math" panose="02040503050406030204" pitchFamily="18" charset="0"/>
                                        </a:rPr>
                                        <m:t>𝐳</m:t>
                                      </m:r>
                                    </m:e>
                                  </m:acc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𝐳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|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     with    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2+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⋮</m:t>
                              </m:r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𝐲</m:t>
                                  </m:r>
                                  <m:r>
                                    <a:rPr lang="en-US" b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		</a:t>
                </a:r>
              </a:p>
              <a:p>
                <a:pPr>
                  <a:buClr>
                    <a:srgbClr val="0134FF"/>
                  </a:buClr>
                </a:pPr>
                <a:endParaRPr lang="en-US" i="1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Apply IComb framework, replacing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with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𝐙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only:  	 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𝐘</m:t>
                    </m:r>
                    <m:r>
                      <m:rPr>
                        <m:nor/>
                      </m:rPr>
                      <a:rPr lang="en-U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dirty="0"/>
                      <m:t>=</m:t>
                    </m:r>
                    <m:r>
                      <m:rPr>
                        <m:nor/>
                      </m:rPr>
                      <a:rPr lang="en-US" dirty="0"/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𝐁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en-US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𝐄</m:t>
                    </m:r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Reconciled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̃"/>
                            <m:ctrlPr>
                              <a:rPr lang="en-U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𝐹𝐿𝐴𝐼𝐶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b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𝐁</m:t>
                                    </m:r>
                                  </m:e>
                                </m:acc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FLAIC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</m:acc>
                      </m:e>
                      <m:sub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U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T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is coherent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Challenges motivate </a:t>
                </a:r>
                <a:r>
                  <a:rPr lang="en-US" dirty="0" err="1">
                    <a:latin typeface="Constantia" panose="02030602050306030303" pitchFamily="18" charset="0"/>
                  </a:rPr>
                  <a:t>regularisation</a:t>
                </a:r>
                <a:endParaRPr lang="en-US" dirty="0">
                  <a:latin typeface="Constantia" panose="02030602050306030303" pitchFamily="18" charset="0"/>
                </a:endParaRPr>
              </a:p>
              <a:p>
                <a:pPr marL="800100" lvl="1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Additional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coefficients to be estimated in each of the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regressions</a:t>
                </a:r>
              </a:p>
              <a:p>
                <a:pPr marL="800100" lvl="1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Multicollinearity: augmented predictor set may have highly correlated or redundant signals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onstantia" panose="02030602050306030303" pitchFamily="18" charset="0"/>
                  </a:rPr>
                  <a:t>FLAIC-S:          Ridge (shrinkage) </a:t>
                </a:r>
                <a14:m>
                  <m:oMath xmlns:m="http://schemas.openxmlformats.org/officeDocument/2006/math">
                    <m:r>
                      <a:rPr lang="en-US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dense models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onstantia" panose="02030602050306030303" pitchFamily="18" charset="0"/>
                  </a:rPr>
                  <a:t>FLAIC-L:          Multivariate lasso </a:t>
                </a:r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sparse models</a:t>
                </a:r>
              </a:p>
              <a:p>
                <a:pPr marL="933450" lvl="2" indent="-290513">
                  <a:buClr>
                    <a:srgbClr val="0134FF"/>
                  </a:buClr>
                  <a:buFont typeface="Wingdings" pitchFamily="2" charset="2"/>
                  <a:buChar char="ü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19050" indent="-290513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Potential improvement in forecast accuracy:</a:t>
                </a:r>
              </a:p>
              <a:p>
                <a:pPr marL="671513" lvl="1" indent="-346075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600" dirty="0">
                    <a:latin typeface="Constantia" panose="02030602050306030303" pitchFamily="18" charset="0"/>
                  </a:rPr>
                  <a:t>T</a:t>
                </a:r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he forecasts,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𝐜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may capture information not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1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16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1600" dirty="0">
                  <a:solidFill>
                    <a:schemeClr val="tx1"/>
                  </a:solidFill>
                  <a:latin typeface="Constantia" panose="02030602050306030303" pitchFamily="18" charset="0"/>
                </a:endParaRPr>
              </a:p>
              <a:p>
                <a:pPr marL="671513" lvl="1" indent="-346075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Components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1" i="0" smtClean="0">
                            <a:latin typeface="Cambria Math" panose="02040503050406030204" pitchFamily="18" charset="0"/>
                          </a:rPr>
                          <m:t>𝐜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may exhibit more forecastable dynamics</a:t>
                </a: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D91ADFE-31D9-8C54-E916-D5EB8D6B1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8" y="899965"/>
                <a:ext cx="10899130" cy="5461880"/>
              </a:xfrm>
              <a:prstGeom prst="rect">
                <a:avLst/>
              </a:prstGeom>
              <a:blipFill>
                <a:blip r:embed="rId2"/>
                <a:stretch>
                  <a:fillRect l="-466" t="-6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8CB0AE41-A580-9A5D-7264-3907E7862BA9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7/20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1.4: FLAIC.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881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F498-EDC6-958C-0899-A59627B34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EE0FFDF-F1B6-D4E2-5971-DFD1A42B94F5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2.0 Empirical Investigation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39ECB9-E796-0158-C9BF-0CD4B9E4ABA4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8/20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03164A-8A28-BCA0-4044-6F856FF30F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2806521"/>
              </p:ext>
            </p:extLst>
          </p:nvPr>
        </p:nvGraphicFramePr>
        <p:xfrm>
          <a:off x="4567810" y="300958"/>
          <a:ext cx="7511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2.1 Data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17C5B4-C336-B5D1-1F3A-EF902DABE949}"/>
                  </a:ext>
                </a:extLst>
              </p:cNvPr>
              <p:cNvSpPr txBox="1"/>
              <p:nvPr/>
            </p:nvSpPr>
            <p:spPr>
              <a:xfrm>
                <a:off x="6832856" y="1047363"/>
                <a:ext cx="5062194" cy="53870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Australian domestic tourism visitor nights </a:t>
                </a:r>
              </a:p>
              <a:p>
                <a:pPr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     (Tourism Research Australia, 2026)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levels: national, states &amp; territories, zones, regions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112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series,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𝑏</m:t>
                        </m:r>
                      </m:sub>
                    </m:sSub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=77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regions</a:t>
                </a:r>
              </a:p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264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months: Jan 1998 – Dec 2019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Evidence of seasonality and state-level differences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Note: forecasting this data (and components):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onstantia" panose="02030602050306030303" pitchFamily="18" charset="0"/>
                  </a:rPr>
                  <a:t>120 month rolling windows (index by origins)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600" dirty="0">
                    <a:latin typeface="Constantia" panose="02030602050306030303" pitchFamily="18" charset="0"/>
                  </a:rPr>
                  <a:t>Error-Trend-Seasonality (ETS) models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600" i="0" dirty="0" smtClean="0">
                        <a:latin typeface="Cambria Math" panose="02040503050406030204" pitchFamily="18" charset="0"/>
                      </a:rPr>
                      <m:t>=1,2,…,12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month ahead out-of-sample</a:t>
                </a:r>
              </a:p>
              <a:p>
                <a:pPr lvl="1">
                  <a:lnSpc>
                    <a:spcPts val="2600"/>
                  </a:lnSpc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      </a:t>
                </a:r>
                <a:r>
                  <a:rPr lang="en-US" sz="1400" dirty="0">
                    <a:latin typeface="Constantia" panose="02030602050306030303" pitchFamily="18" charset="0"/>
                  </a:rPr>
                  <a:t>(short-term: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 &amp; long-term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)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144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i="0" dirty="0" smtClean="0">
                        <a:latin typeface="Cambria Math" panose="02040503050406030204" pitchFamily="18" charset="0"/>
                      </a:rPr>
                      <m:t>–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available forecast origins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17C5B4-C336-B5D1-1F3A-EF902DABE9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32856" y="1047363"/>
                <a:ext cx="5062194" cy="5387052"/>
              </a:xfrm>
              <a:prstGeom prst="rect">
                <a:avLst/>
              </a:prstGeom>
              <a:blipFill>
                <a:blip r:embed="rId2"/>
                <a:stretch>
                  <a:fillRect l="-501" t="-235" b="-7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1F4DD052-53C9-550A-AB00-258EF36E308C}"/>
              </a:ext>
            </a:extLst>
          </p:cNvPr>
          <p:cNvSpPr txBox="1"/>
          <p:nvPr/>
        </p:nvSpPr>
        <p:spPr>
          <a:xfrm>
            <a:off x="5782556" y="5393281"/>
            <a:ext cx="9426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Figure.</a:t>
            </a:r>
            <a:r>
              <a:rPr lang="en-US" sz="1100" i="1" dirty="0">
                <a:latin typeface="Constantia" panose="02030602050306030303" pitchFamily="18" charset="0"/>
              </a:rPr>
              <a:t> Australian domestic tourism series and seasonal profiles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49FBE0-27EF-CEE3-6970-07A9DE87F6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2716" y="747602"/>
            <a:ext cx="5504692" cy="6061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285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53880-0D81-2625-BE04-AC7FC896C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2723DF7-CE98-2332-142F-5A25AF978A19}"/>
              </a:ext>
            </a:extLst>
          </p:cNvPr>
          <p:cNvSpPr txBox="1">
            <a:spLocks/>
          </p:cNvSpPr>
          <p:nvPr/>
        </p:nvSpPr>
        <p:spPr>
          <a:xfrm>
            <a:off x="47137" y="23763"/>
            <a:ext cx="11667350" cy="90142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Components created for all </a:t>
            </a:r>
          </a:p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four PCA (</a:t>
            </a:r>
            <a:r>
              <a:rPr lang="en-US" sz="28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centre</a:t>
            </a:r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, scale) specifications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51EEDC-8BC4-280D-CD9F-F19BF6FD0BDA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9/20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A95BD91-28BC-75FA-3031-6A4D1B03F4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042637"/>
              </p:ext>
            </p:extLst>
          </p:nvPr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2.2 Components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pic>
        <p:nvPicPr>
          <p:cNvPr id="12" name="Graphic 11">
            <a:extLst>
              <a:ext uri="{FF2B5EF4-FFF2-40B4-BE49-F238E27FC236}">
                <a16:creationId xmlns:a16="http://schemas.microsoft.com/office/drawing/2014/main" id="{6B651F84-999D-A4DD-1EF7-8E4C748FB4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139187" y="1010208"/>
            <a:ext cx="5575300" cy="4889500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4F2C6E5-8AE3-C670-AF96-8477661ABF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5512" y="984250"/>
            <a:ext cx="5575300" cy="48895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314B36BB-06D4-318F-AF9C-C8FB9EEB619D}"/>
              </a:ext>
            </a:extLst>
          </p:cNvPr>
          <p:cNvSpPr txBox="1"/>
          <p:nvPr/>
        </p:nvSpPr>
        <p:spPr>
          <a:xfrm>
            <a:off x="6390147" y="5899708"/>
            <a:ext cx="5417382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Illustrative patterns from </a:t>
            </a:r>
            <a:r>
              <a:rPr lang="en-US" sz="1100" dirty="0" err="1">
                <a:latin typeface="Constantia" panose="02030602050306030303" pitchFamily="18" charset="0"/>
              </a:rPr>
              <a:t>centred</a:t>
            </a:r>
            <a:r>
              <a:rPr lang="en-US" sz="1100" dirty="0">
                <a:latin typeface="Constantia" panose="02030602050306030303" pitchFamily="18" charset="0"/>
              </a:rPr>
              <a:t>, unscaled PCA using the initial rolling window. Series are </a:t>
            </a:r>
            <a:r>
              <a:rPr lang="en-US" sz="1100" dirty="0" err="1">
                <a:latin typeface="Constantia" panose="02030602050306030303" pitchFamily="18" charset="0"/>
              </a:rPr>
              <a:t>standardised</a:t>
            </a:r>
            <a:r>
              <a:rPr lang="en-US" sz="1100" dirty="0">
                <a:latin typeface="Constantia" panose="02030602050306030303" pitchFamily="18" charset="0"/>
              </a:rPr>
              <a:t> for visual comparison.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40AD4-BC1A-264B-715C-EDDF55F3129E}"/>
                  </a:ext>
                </a:extLst>
              </p:cNvPr>
              <p:cNvSpPr txBox="1"/>
              <p:nvPr/>
            </p:nvSpPr>
            <p:spPr>
              <a:xfrm>
                <a:off x="305512" y="5899708"/>
                <a:ext cx="5417382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Table:</a:t>
                </a:r>
                <a:r>
                  <a:rPr lang="en-US" sz="1100" i="1" dirty="0">
                    <a:latin typeface="Constantia" panose="02030602050306030303" pitchFamily="18" charset="0"/>
                  </a:rPr>
                  <a:t> </a:t>
                </a:r>
                <a:r>
                  <a:rPr lang="en-US" sz="1100" dirty="0">
                    <a:latin typeface="Constantia" panose="02030602050306030303" pitchFamily="18" charset="0"/>
                  </a:rPr>
                  <a:t>Median [2.5th, 97.5th percentiles] across rolling windows. Share denotes percentage of total sum of squares. Seasonal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100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1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1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is from month-of-year regressions.</a:t>
                </a: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8B40AD4-BC1A-264B-715C-EDDF55F312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512" y="5899708"/>
                <a:ext cx="5417382" cy="430887"/>
              </a:xfrm>
              <a:prstGeom prst="rect">
                <a:avLst/>
              </a:prstGeom>
              <a:blipFill>
                <a:blip r:embed="rId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78032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D70F7-4A6B-96DE-C218-3ABF66C22A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71BA222-F8D0-09FF-23E3-BBE64E8AA368}"/>
              </a:ext>
            </a:extLst>
          </p:cNvPr>
          <p:cNvSpPr txBox="1">
            <a:spLocks/>
          </p:cNvSpPr>
          <p:nvPr/>
        </p:nvSpPr>
        <p:spPr>
          <a:xfrm>
            <a:off x="141401" y="48946"/>
            <a:ext cx="11736371" cy="774296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Each rolling training window: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6B0B22-A819-419E-0E4C-0AE287C04D5B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10/20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4FAB33F-618F-19D8-BDB4-1A34E00089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3727539"/>
              </p:ext>
            </p:extLst>
          </p:nvPr>
        </p:nvGraphicFramePr>
        <p:xfrm>
          <a:off x="4633799" y="33368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97BCC-580E-F540-36BA-F5DEFBA8389F}"/>
                  </a:ext>
                </a:extLst>
              </p:cNvPr>
              <p:cNvSpPr txBox="1"/>
              <p:nvPr/>
            </p:nvSpPr>
            <p:spPr>
              <a:xfrm>
                <a:off x="407158" y="871684"/>
                <a:ext cx="10899130" cy="5658600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Conventional method reconciliation: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𝐵𝑈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𝑂𝐿𝑆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𝑊𝐿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𝑊𝐿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0" dirty="0">
                            <a:latin typeface="Cambria Math" panose="02040503050406030204" pitchFamily="18" charset="0"/>
                          </a:rPr>
                          <m:t>Min</m:t>
                        </m:r>
                        <m:r>
                          <m:rPr>
                            <m:sty m:val="p"/>
                          </m:rPr>
                          <a:rPr lang="en-US" i="0" dirty="0" err="1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𝑠h𝑟</m:t>
                        </m:r>
                      </m:sub>
                    </m:sSub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IComb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Ridge (IComb-S) and lasso (IComb-L) </a:t>
                </a:r>
                <a:r>
                  <a:rPr lang="en-US" dirty="0" err="1">
                    <a:latin typeface="Constantia" panose="02030602050306030303" pitchFamily="18" charset="0"/>
                  </a:rPr>
                  <a:t>regularisation</a:t>
                </a:r>
                <a:r>
                  <a:rPr lang="en-US" dirty="0">
                    <a:latin typeface="Constantia" panose="02030602050306030303" pitchFamily="18" charset="0"/>
                  </a:rPr>
                  <a:t> estimation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Implementation:</a:t>
                </a:r>
              </a:p>
              <a:p>
                <a:pPr marL="1200150" lvl="2" indent="-28575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700" b="1" dirty="0">
                    <a:latin typeface="Constantia" panose="02030602050306030303" pitchFamily="18" charset="0"/>
                  </a:rPr>
                  <a:t>X</a:t>
                </a:r>
                <a:r>
                  <a:rPr lang="en-US" sz="1700" dirty="0">
                    <a:latin typeface="Constantia" panose="02030602050306030303" pitchFamily="18" charset="0"/>
                  </a:rPr>
                  <a:t> and </a:t>
                </a:r>
                <a:r>
                  <a:rPr lang="en-US" sz="1700" b="1" dirty="0">
                    <a:latin typeface="Constantia" panose="02030602050306030303" pitchFamily="18" charset="0"/>
                  </a:rPr>
                  <a:t>Y</a:t>
                </a:r>
                <a:r>
                  <a:rPr lang="en-US" sz="1700" dirty="0">
                    <a:latin typeface="Constantia" panose="02030602050306030303" pitchFamily="18" charset="0"/>
                  </a:rPr>
                  <a:t> are </a:t>
                </a:r>
                <a:r>
                  <a:rPr lang="en-US" sz="1700" dirty="0" err="1">
                    <a:latin typeface="Constantia" panose="02030602050306030303" pitchFamily="18" charset="0"/>
                  </a:rPr>
                  <a:t>standardised</a:t>
                </a:r>
                <a:r>
                  <a:rPr lang="en-US" sz="1700" dirty="0">
                    <a:latin typeface="Constantia" panose="02030602050306030303" pitchFamily="18" charset="0"/>
                  </a:rPr>
                  <a:t>: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i="0" dirty="0" smtClean="0">
                            <a:latin typeface="Cambria Math" panose="02040503050406030204" pitchFamily="18" charset="0"/>
                          </a:rPr>
                          <m:t>𝐗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1" dirty="0">
                        <a:latin typeface="Cambria Math" panose="02040503050406030204" pitchFamily="18" charset="0"/>
                      </a:rPr>
                      <m:t>𝐗</m:t>
                    </m:r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700" b="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b="1" i="0" dirty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700" b="0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700" b="0" i="0" dirty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</m:oMath>
                </a14:m>
                <a:r>
                  <a:rPr lang="en-US" sz="17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7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700" b="1" dirty="0">
                            <a:latin typeface="Cambria Math" panose="02040503050406030204" pitchFamily="18" charset="0"/>
                          </a:rPr>
                          <m:t>𝐘</m:t>
                        </m:r>
                      </m:e>
                      <m:sup>
                        <m:r>
                          <a:rPr lang="en-US" sz="1700" i="1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700" b="1" dirty="0" smtClean="0">
                        <a:latin typeface="Cambria Math" panose="02040503050406030204" pitchFamily="18" charset="0"/>
                      </a:rPr>
                      <m:t>𝐘</m:t>
                    </m:r>
                    <m:r>
                      <a:rPr lang="en-US" sz="1700" b="1" i="0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700" b="0" i="0" dirty="0" smtClean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</m:oMath>
                </a14:m>
                <a:r>
                  <a:rPr lang="en-US" sz="1700" dirty="0">
                    <a:latin typeface="Constantia" panose="02030602050306030303" pitchFamily="18" charset="0"/>
                  </a:rPr>
                  <a:t>,    </a:t>
                </a:r>
                <a14:m>
                  <m:oMath xmlns:m="http://schemas.openxmlformats.org/officeDocument/2006/math">
                    <m:acc>
                      <m:accPr>
                        <m:chr m:val="ˆ"/>
                        <m:ctrlPr>
                          <a:rPr lang="en-US" sz="1700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700" b="1" dirty="0">
                            <a:latin typeface="Cambria Math" panose="02040503050406030204" pitchFamily="18" charset="0"/>
                          </a:rPr>
                          <m:t>𝐁</m:t>
                        </m:r>
                      </m:e>
                    </m:acc>
                    <m:r>
                      <a:rPr lang="en-US" sz="1700" b="0" i="0" dirty="0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sz="1700" b="0" i="0" dirty="0" smtClean="0">
                            <a:latin typeface="Cambria Math" panose="02040503050406030204" pitchFamily="18" charset="0"/>
                          </a:rPr>
                          <m:t>−0.5</m:t>
                        </m:r>
                      </m:sup>
                    </m:sSubSup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7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ˆ"/>
                            <m:ctrlPr>
                              <a:rPr lang="en-US" sz="17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700" b="1" dirty="0">
                                <a:latin typeface="Cambria Math" panose="02040503050406030204" pitchFamily="18" charset="0"/>
                              </a:rPr>
                              <m:t>𝐁</m:t>
                            </m:r>
                          </m:e>
                        </m:acc>
                      </m:e>
                      <m:sup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*</m:t>
                        </m:r>
                      </m:sup>
                    </m:sSup>
                    <m:r>
                      <a:rPr lang="en-US" sz="1700" b="0" i="1" dirty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sz="1700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700" b="1" i="0" dirty="0" smtClean="0"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b>
                        <m:r>
                          <a:rPr lang="en-US" sz="17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sub>
                      <m:sup>
                        <m:r>
                          <a:rPr lang="en-US" sz="1700" b="0" i="0" dirty="0" smtClean="0">
                            <a:latin typeface="Cambria Math" panose="02040503050406030204" pitchFamily="18" charset="0"/>
                          </a:rPr>
                          <m:t>0.5</m:t>
                        </m:r>
                      </m:sup>
                    </m:sSubSup>
                  </m:oMath>
                </a14:m>
                <a:r>
                  <a:rPr lang="en-US" sz="1700" dirty="0">
                    <a:latin typeface="Constantia" panose="02030602050306030303" pitchFamily="18" charset="0"/>
                  </a:rPr>
                  <a:t> </a:t>
                </a:r>
              </a:p>
              <a:p>
                <a:pPr marL="1200150" lvl="2" indent="-28575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Constantia" panose="02030602050306030303" pitchFamily="18" charset="0"/>
                  </a:rPr>
                  <a:t>Intercept included and not </a:t>
                </a:r>
                <a:r>
                  <a:rPr lang="en-US" sz="1700" dirty="0" err="1">
                    <a:latin typeface="Constantia" panose="02030602050306030303" pitchFamily="18" charset="0"/>
                  </a:rPr>
                  <a:t>regularised</a:t>
                </a:r>
                <a:endParaRPr lang="en-US" sz="1700" dirty="0">
                  <a:latin typeface="Constantia" panose="02030602050306030303" pitchFamily="18" charset="0"/>
                </a:endParaRPr>
              </a:p>
              <a:p>
                <a:pPr marL="1200150" lvl="2" indent="-285750">
                  <a:lnSpc>
                    <a:spcPts val="2660"/>
                  </a:lnSpc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700" dirty="0">
                    <a:latin typeface="Constantia" panose="02030602050306030303" pitchFamily="18" charset="0"/>
                  </a:rPr>
                  <a:t>Tuning parameter (</a:t>
                </a:r>
                <a14:m>
                  <m:oMath xmlns:m="http://schemas.openxmlformats.org/officeDocument/2006/math">
                    <m:r>
                      <a:rPr lang="en-US" sz="17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700" dirty="0">
                    <a:latin typeface="Constantia" panose="02030602050306030303" pitchFamily="18" charset="0"/>
                  </a:rPr>
                  <a:t>) selected from a grid, based on expanding window cross-validation</a:t>
                </a:r>
              </a:p>
              <a:p>
                <a:pPr lvl="2">
                  <a:lnSpc>
                    <a:spcPts val="2660"/>
                  </a:lnSpc>
                  <a:buClr>
                    <a:srgbClr val="0134FF"/>
                  </a:buClr>
                </a:pPr>
                <a:r>
                  <a:rPr lang="en-US" sz="1700" dirty="0">
                    <a:latin typeface="Constantia" panose="02030602050306030303" pitchFamily="18" charset="0"/>
                  </a:rPr>
                  <a:t>      </a:t>
                </a:r>
                <a:r>
                  <a:rPr lang="en-US" sz="1700" dirty="0" err="1">
                    <a:latin typeface="Constantia" panose="02030602050306030303" pitchFamily="18" charset="0"/>
                  </a:rPr>
                  <a:t>minimising</a:t>
                </a:r>
                <a:r>
                  <a:rPr lang="en-US" sz="1700" dirty="0">
                    <a:latin typeface="Constantia" panose="02030602050306030303" pitchFamily="18" charset="0"/>
                  </a:rPr>
                  <a:t> mean squared forecast error of validation set</a:t>
                </a:r>
              </a:p>
              <a:p>
                <a:pPr lvl="1"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FLAIC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64 variants: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lvl="1" algn="ctr">
                  <a:lnSpc>
                    <a:spcPts val="2600"/>
                  </a:lnSpc>
                  <a:buClr>
                    <a:srgbClr val="0134FF"/>
                  </a:buClr>
                </a:pP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PCA specifications   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dirty="0">
                            <a:latin typeface="Cambria Math" panose="02040503050406030204" pitchFamily="18" charset="0"/>
                          </a:rPr>
                          <m:t>1,2,3,5,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10,20,</m:t>
                        </m:r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dirty="0">
                            <a:latin typeface="Cambria Math" panose="02040503050406030204" pitchFamily="18" charset="0"/>
                          </a:rPr>
                          <m:t>40,77</m:t>
                        </m:r>
                      </m:e>
                    </m:d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    {FLAIC-S, FLAIC-L}</a:t>
                </a:r>
              </a:p>
              <a:p>
                <a:pPr lvl="1" algn="ctr">
                  <a:lnSpc>
                    <a:spcPts val="2600"/>
                  </a:lnSpc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lvl="1" algn="ctr">
                  <a:lnSpc>
                    <a:spcPts val="2600"/>
                  </a:lnSpc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Component augmented predictor set in IComb (replace </a:t>
                </a:r>
                <a:r>
                  <a:rPr lang="en-US" b="1" dirty="0">
                    <a:latin typeface="Constantia" panose="02030602050306030303" pitchFamily="18" charset="0"/>
                  </a:rPr>
                  <a:t>X</a:t>
                </a:r>
                <a:r>
                  <a:rPr lang="en-US" dirty="0">
                    <a:latin typeface="Constantia" panose="02030602050306030303" pitchFamily="18" charset="0"/>
                  </a:rPr>
                  <a:t> with </a:t>
                </a:r>
                <a:r>
                  <a:rPr lang="en-US" b="1" dirty="0">
                    <a:latin typeface="Constantia" panose="02030602050306030303" pitchFamily="18" charset="0"/>
                  </a:rPr>
                  <a:t>Z</a:t>
                </a:r>
                <a:r>
                  <a:rPr lang="en-US" dirty="0">
                    <a:latin typeface="Constantia" panose="02030602050306030303" pitchFamily="18" charset="0"/>
                  </a:rPr>
                  <a:t>) with same implementation settings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0C97BCC-580E-F540-36BA-F5DEFBA838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7158" y="871684"/>
                <a:ext cx="10899130" cy="5658600"/>
              </a:xfrm>
              <a:prstGeom prst="rect">
                <a:avLst/>
              </a:prstGeom>
              <a:blipFill>
                <a:blip r:embed="rId3"/>
                <a:stretch>
                  <a:fillRect l="-466" t="-447" r="-233" b="-671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5F899EB8-4D4D-7FE5-2858-341CB74077CE}"/>
              </a:ext>
            </a:extLst>
          </p:cNvPr>
          <p:cNvGrpSpPr/>
          <p:nvPr/>
        </p:nvGrpSpPr>
        <p:grpSpPr>
          <a:xfrm>
            <a:off x="5025618" y="5477578"/>
            <a:ext cx="2364804" cy="427828"/>
            <a:chOff x="5006957" y="5384273"/>
            <a:chExt cx="2364804" cy="427828"/>
          </a:xfrm>
        </p:grpSpPr>
        <p:sp>
          <p:nvSpPr>
            <p:cNvPr id="8" name="Left Brace 7">
              <a:extLst>
                <a:ext uri="{FF2B5EF4-FFF2-40B4-BE49-F238E27FC236}">
                  <a16:creationId xmlns:a16="http://schemas.microsoft.com/office/drawing/2014/main" id="{43D7AAB7-659E-EEDB-AA1D-BB17F39C8853}"/>
                </a:ext>
              </a:extLst>
            </p:cNvPr>
            <p:cNvSpPr/>
            <p:nvPr/>
          </p:nvSpPr>
          <p:spPr>
            <a:xfrm rot="16200000">
              <a:off x="5427803" y="5198881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Left Brace 8">
              <a:extLst>
                <a:ext uri="{FF2B5EF4-FFF2-40B4-BE49-F238E27FC236}">
                  <a16:creationId xmlns:a16="http://schemas.microsoft.com/office/drawing/2014/main" id="{097743B4-2743-139F-9C0A-A2671CB4699A}"/>
                </a:ext>
              </a:extLst>
            </p:cNvPr>
            <p:cNvSpPr/>
            <p:nvPr/>
          </p:nvSpPr>
          <p:spPr>
            <a:xfrm rot="16200000">
              <a:off x="6164667" y="5191024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Left Brace 9">
              <a:extLst>
                <a:ext uri="{FF2B5EF4-FFF2-40B4-BE49-F238E27FC236}">
                  <a16:creationId xmlns:a16="http://schemas.microsoft.com/office/drawing/2014/main" id="{CA557F8C-2222-C489-47F0-46480A23F4DB}"/>
                </a:ext>
              </a:extLst>
            </p:cNvPr>
            <p:cNvSpPr/>
            <p:nvPr/>
          </p:nvSpPr>
          <p:spPr>
            <a:xfrm rot="16200000">
              <a:off x="6892102" y="5192596"/>
              <a:ext cx="188537" cy="575035"/>
            </a:xfrm>
            <a:prstGeom prst="leftBrace">
              <a:avLst/>
            </a:prstGeom>
            <a:ln w="12700">
              <a:solidFill>
                <a:srgbClr val="24827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82D0556-C352-63DF-5C4C-B43D687F08EC}"/>
                    </a:ext>
                  </a:extLst>
                </p:cNvPr>
                <p:cNvSpPr txBox="1"/>
                <p:nvPr/>
              </p:nvSpPr>
              <p:spPr>
                <a:xfrm>
                  <a:off x="5006957" y="5535102"/>
                  <a:ext cx="2364804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:r>
                    <a:rPr lang="en-US" sz="1200" b="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low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moderate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      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1" smtClean="0">
                          <a:solidFill>
                            <a:srgbClr val="24827F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high</m:t>
                      </m:r>
                    </m:oMath>
                  </a14:m>
                  <a:r>
                    <a:rPr lang="en-US" sz="1200" dirty="0">
                      <a:solidFill>
                        <a:srgbClr val="24827F"/>
                      </a:solidFill>
                      <a:ea typeface="Cambria Math" panose="02040503050406030204" pitchFamily="18" charset="0"/>
                    </a:rPr>
                    <a:t>  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C82D0556-C352-63DF-5C4C-B43D687F08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6957" y="5535102"/>
                  <a:ext cx="2364804" cy="276999"/>
                </a:xfrm>
                <a:prstGeom prst="rect">
                  <a:avLst/>
                </a:prstGeom>
                <a:blipFill>
                  <a:blip r:embed="rId4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857616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7FD04-0C33-4E04-F3E2-B146AFAEF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F6CCEF8-E405-8326-A73F-F9677F0CEB74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610930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2.4.1   PRIAL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66ABDC-3ED0-AB16-7079-C0CBAE646CC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11/20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2.4.1.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2638CF4-916E-3F6F-36CD-0543A2F0D4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41912"/>
              </p:ext>
            </p:extLst>
          </p:nvPr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DBD6F-904F-DC86-DA71-AF17E5B57348}"/>
                  </a:ext>
                </a:extLst>
              </p:cNvPr>
              <p:cNvSpPr txBox="1"/>
              <p:nvPr/>
            </p:nvSpPr>
            <p:spPr>
              <a:xfrm>
                <a:off x="444865" y="701052"/>
                <a:ext cx="10899130" cy="4732001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Forecast performance measure: percentage relative improvement in average loss (PRIAL) </a:t>
                </a:r>
                <a:r>
                  <a:rPr lang="en-US" sz="1400" dirty="0">
                    <a:latin typeface="Constantia" panose="02030602050306030303" pitchFamily="18" charset="0"/>
                  </a:rPr>
                  <a:t>(Nguyen et al., 2025)</a:t>
                </a:r>
                <a:r>
                  <a:rPr lang="en-US" dirty="0">
                    <a:latin typeface="Constantia" panose="02030602050306030303" pitchFamily="18" charset="0"/>
                  </a:rPr>
                  <a:t>: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index method. MSFE computed over all series (Average) and rolling forecast origins.*</a:t>
                </a:r>
                <a:endParaRPr lang="en-US" sz="12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400" dirty="0">
                  <a:latin typeface="Constantia" panose="02030602050306030303" pitchFamily="18" charset="0"/>
                </a:endParaRPr>
              </a:p>
              <a:p>
                <a:pPr>
                  <a:lnSpc>
                    <a:spcPts val="266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600" dirty="0" smtClean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RIAL</m:t>
                          </m:r>
                        </m:e>
                        <m:sub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6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600" i="0" dirty="0" smtClean="0">
                          <a:latin typeface="Cambria Math" panose="02040503050406030204" pitchFamily="18" charset="0"/>
                        </a:rPr>
                        <m:t>×100</m:t>
                      </m:r>
                    </m:oMath>
                  </m:oMathPara>
                </a14:m>
                <a:endParaRPr lang="en-US" dirty="0">
                  <a:latin typeface="Constantia" panose="02030602050306030303" pitchFamily="18" charset="0"/>
                </a:endParaRP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Key findings: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Best </a:t>
                </a:r>
                <a:r>
                  <a:rPr lang="en-US" i="1" dirty="0">
                    <a:latin typeface="Constantia" panose="02030602050306030303" pitchFamily="18" charset="0"/>
                  </a:rPr>
                  <a:t>overall</a:t>
                </a:r>
                <a:r>
                  <a:rPr lang="en-US" dirty="0">
                    <a:latin typeface="Constantia" panose="02030602050306030303" pitchFamily="18" charset="0"/>
                  </a:rPr>
                  <a:t>: FLAIC-L</a:t>
                </a:r>
              </a:p>
              <a:p>
                <a:pPr marL="1200150" lvl="2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Earlier horizons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 </a:t>
                </a:r>
                <a:r>
                  <a:rPr lang="en-US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dirty="0">
                    <a:latin typeface="Constantia" panose="02030602050306030303" pitchFamily="18" charset="0"/>
                  </a:rPr>
                  <a:t>, unscaled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0" dirty="0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dirty="0" smtClean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</a:t>
                </a:r>
              </a:p>
              <a:p>
                <a:pPr marL="1200150" lvl="2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Later horizons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 </a:t>
                </a:r>
                <a:r>
                  <a:rPr lang="en-US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dirty="0">
                    <a:latin typeface="Constantia" panose="02030602050306030303" pitchFamily="18" charset="0"/>
                  </a:rPr>
                  <a:t>, scaled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Best FLAIC-S has similar PCA specification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as FLAIC-L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dirty="0">
                    <a:latin typeface="Constantia" panose="02030602050306030303" pitchFamily="18" charset="0"/>
                  </a:rPr>
                  <a:t>Does not necessarily indicate component augmentation more effective under lasso</a:t>
                </a:r>
              </a:p>
              <a:p>
                <a:pPr marL="742950" lvl="1" indent="-285750">
                  <a:lnSpc>
                    <a:spcPts val="26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lnSpc>
                    <a:spcPts val="2600"/>
                  </a:lnSpc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PRIAL for long-term period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=1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-</m:t>
                    </m:r>
                    <m:r>
                      <a:rPr lang="en-US" dirty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):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2DBD6F-904F-DC86-DA71-AF17E5B573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865" y="701052"/>
                <a:ext cx="10899130" cy="4732001"/>
              </a:xfrm>
              <a:prstGeom prst="rect">
                <a:avLst/>
              </a:prstGeom>
              <a:blipFill>
                <a:blip r:embed="rId2"/>
                <a:stretch>
                  <a:fillRect l="-466" t="-536" b="-1340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A3DF883-3676-DFB8-6AFE-8DCE28B686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08121"/>
              </p:ext>
            </p:extLst>
          </p:nvPr>
        </p:nvGraphicFramePr>
        <p:xfrm>
          <a:off x="4633799" y="4945000"/>
          <a:ext cx="6480000" cy="14833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92000">
                  <a:extLst>
                    <a:ext uri="{9D8B030D-6E8A-4147-A177-3AD203B41FA5}">
                      <a16:colId xmlns:a16="http://schemas.microsoft.com/office/drawing/2014/main" val="3050927870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788274634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704480951"/>
                    </a:ext>
                  </a:extLst>
                </a:gridCol>
                <a:gridCol w="1296000">
                  <a:extLst>
                    <a:ext uri="{9D8B030D-6E8A-4147-A177-3AD203B41FA5}">
                      <a16:colId xmlns:a16="http://schemas.microsoft.com/office/drawing/2014/main" val="194778292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400" b="1" i="0" dirty="0">
                          <a:latin typeface="Constantia" panose="02030602050306030303" pitchFamily="18" charset="0"/>
                        </a:rPr>
                        <a:t>Regularisation/Method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IComb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FLAIC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76631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Ridge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-4.65%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-5.82%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1.17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22888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Lasso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-6.25%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-6.67%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0.42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795834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Difference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1.6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i="0" dirty="0">
                          <a:latin typeface="Constantia" panose="02030602050306030303" pitchFamily="18" charset="0"/>
                        </a:rPr>
                        <a:t>0.85 pp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400" b="0" i="0" dirty="0">
                        <a:latin typeface="Constantia" panose="02030602050306030303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43622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F56127DF-8D5D-25C2-29B8-D8D4C8058676}"/>
              </a:ext>
            </a:extLst>
          </p:cNvPr>
          <p:cNvSpPr txBox="1"/>
          <p:nvPr/>
        </p:nvSpPr>
        <p:spPr>
          <a:xfrm>
            <a:off x="763569" y="5512258"/>
            <a:ext cx="3412505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 dirty="0">
                <a:latin typeface="Constantia" panose="02030602050306030303" pitchFamily="18" charset="0"/>
              </a:rPr>
              <a:t>- Best</a:t>
            </a:r>
            <a:r>
              <a:rPr lang="en-US" sz="1400" b="1" i="1" dirty="0">
                <a:latin typeface="Constantia" panose="02030602050306030303" pitchFamily="18" charset="0"/>
              </a:rPr>
              <a:t> </a:t>
            </a:r>
            <a:r>
              <a:rPr lang="en-US" sz="1400" i="1" dirty="0">
                <a:latin typeface="Constantia" panose="02030602050306030303" pitchFamily="18" charset="0"/>
              </a:rPr>
              <a:t>FLAIC-L:</a:t>
            </a:r>
            <a:r>
              <a:rPr lang="en-US" sz="1400" dirty="0">
                <a:latin typeface="Constantia" panose="02030602050306030303" pitchFamily="18" charset="0"/>
              </a:rPr>
              <a:t> </a:t>
            </a:r>
            <a:r>
              <a:rPr lang="en-US" sz="1400" dirty="0" err="1">
                <a:latin typeface="Constantia" panose="02030602050306030303" pitchFamily="18" charset="0"/>
              </a:rPr>
              <a:t>centred</a:t>
            </a:r>
            <a:r>
              <a:rPr lang="en-US" sz="1400" dirty="0">
                <a:latin typeface="Constantia" panose="02030602050306030303" pitchFamily="18" charset="0"/>
              </a:rPr>
              <a:t>, unscaled, p=5</a:t>
            </a:r>
            <a:r>
              <a:rPr lang="en-US" sz="1400" i="1" dirty="0">
                <a:latin typeface="Constantia" panose="02030602050306030303" pitchFamily="18" charset="0"/>
              </a:rPr>
              <a:t> </a:t>
            </a:r>
          </a:p>
          <a:p>
            <a:r>
              <a:rPr lang="en-US" sz="1400" i="1" dirty="0">
                <a:latin typeface="Constantia" panose="02030602050306030303" pitchFamily="18" charset="0"/>
              </a:rPr>
              <a:t>- Best FLAIC-S: </a:t>
            </a:r>
            <a:r>
              <a:rPr lang="en-US" sz="1400" dirty="0" err="1">
                <a:latin typeface="Constantia" panose="02030602050306030303" pitchFamily="18" charset="0"/>
              </a:rPr>
              <a:t>centred</a:t>
            </a:r>
            <a:r>
              <a:rPr lang="en-US" sz="1400" dirty="0">
                <a:latin typeface="Constantia" panose="02030602050306030303" pitchFamily="18" charset="0"/>
              </a:rPr>
              <a:t>, scaled, p=10</a:t>
            </a:r>
            <a:endParaRPr lang="en-US" sz="1400" i="1" dirty="0">
              <a:latin typeface="Constantia" panose="02030602050306030303" pitchFamily="18" charset="0"/>
            </a:endParaRPr>
          </a:p>
          <a:p>
            <a:endParaRPr lang="en-US" sz="1100" i="1" dirty="0">
              <a:latin typeface="Constantia" panose="020306020503060303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ADDDFBC-419D-08C2-FE81-6E67967C20B7}"/>
              </a:ext>
            </a:extLst>
          </p:cNvPr>
          <p:cNvSpPr txBox="1"/>
          <p:nvPr/>
        </p:nvSpPr>
        <p:spPr>
          <a:xfrm>
            <a:off x="92337" y="6487606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latin typeface="Constantia" panose="02030602050306030303" pitchFamily="18" charset="0"/>
              </a:rPr>
              <a:t>* Note: We also computed MSFE using scaled errors; results in Appendix slides.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250417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2CD6D-618A-CE9D-96D1-C81AA691C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4623203-A310-048A-81CD-F3DFE4A3F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6109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2.4.2 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 smtClean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04623203-A310-048A-81CD-F3DFE4A3F7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610930"/>
              </a:xfrm>
              <a:prstGeom prst="rect">
                <a:avLst/>
              </a:prstGeom>
              <a:blipFill>
                <a:blip r:embed="rId2"/>
                <a:stretch>
                  <a:fillRect l="-1197" b="-2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E697008E-5C9A-EFD8-3314-3B9EA99E5438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12/20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33A7009-2C89-A8CA-E614-154745487328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41308-5CA8-F789-6EC8-F9881CBEEBE2}"/>
                  </a:ext>
                </a:extLst>
              </p:cNvPr>
              <p:cNvSpPr txBox="1"/>
              <p:nvPr/>
            </p:nvSpPr>
            <p:spPr>
              <a:xfrm>
                <a:off x="8201323" y="879969"/>
                <a:ext cx="3783286" cy="4828438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When does component augmentation improve upon IComb?</a:t>
                </a:r>
              </a:p>
              <a:p>
                <a:pPr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400" dirty="0" smtClean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IComb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PRIAL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FLAIC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i="1" dirty="0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en-US" sz="1400" i="1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400" b="0" i="0" dirty="0">
                  <a:latin typeface="Cambria Math" panose="02040503050406030204" pitchFamily="18" charset="0"/>
                </a:endParaRP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               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IComb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FLAIC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base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1400" b="0" i="0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100</m:t>
                      </m:r>
                    </m:oMath>
                  </m:oMathPara>
                </a14:m>
                <a:endParaRPr lang="en-US" sz="1600" dirty="0">
                  <a:latin typeface="Cambria Math" panose="02040503050406030204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000" dirty="0">
                  <a:latin typeface="Cambria Math" panose="02040503050406030204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600" b="0" i="0" dirty="0" smtClean="0">
                        <a:latin typeface="Cambria Math" panose="02040503050406030204" pitchFamily="18" charset="0"/>
                      </a:rPr>
                      <m:t>&gt;0 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⟹ </m:t>
                    </m:r>
                    <m:r>
                      <m:rPr>
                        <m:sty m:val="p"/>
                      </m:rPr>
                      <a:rPr lang="en-US" sz="1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FLAIC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better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Findings: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Effects of component augmentation depends on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sz="1400" dirty="0">
                  <a:latin typeface="Constantia" panose="02030602050306030303" pitchFamily="18" charset="0"/>
                </a:endParaRP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Component augmentation generally more effective for ridge than lasso* </a:t>
                </a:r>
              </a:p>
              <a:p>
                <a:pPr marL="493713" lvl="1" indent="-223838">
                  <a:lnSpc>
                    <a:spcPts val="2660"/>
                  </a:lnSpc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sz="1400" dirty="0">
                    <a:latin typeface="Constantia" panose="02030602050306030303" pitchFamily="18" charset="0"/>
                  </a:rPr>
                  <a:t>Direction of relative performance often maintained across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endParaRPr lang="en-US" sz="14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E841308-5CA8-F789-6EC8-F9881CBEEB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879969"/>
                <a:ext cx="3783286" cy="4828438"/>
              </a:xfrm>
              <a:prstGeom prst="rect">
                <a:avLst/>
              </a:prstGeom>
              <a:blipFill>
                <a:blip r:embed="rId3"/>
                <a:stretch>
                  <a:fillRect l="-669" t="-525" r="-2007" b="-52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91C4BE75-FBD9-D36F-5F1F-D473299E19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982" y="839050"/>
            <a:ext cx="7956223" cy="517989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D19063-791F-AFA4-A5D3-E7EFBF2F516B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825875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IComb: Average across 112 hierarchy series. FLAIC-S and FLAIC-L are compared against matching IComb-S and IComb-L.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5D19063-791F-AFA4-A5D3-E7EFBF2F5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825875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2A47233E-A871-231E-E034-77697978EE21}"/>
              </a:ext>
            </a:extLst>
          </p:cNvPr>
          <p:cNvSpPr txBox="1"/>
          <p:nvPr/>
        </p:nvSpPr>
        <p:spPr>
          <a:xfrm>
            <a:off x="8274643" y="5871205"/>
            <a:ext cx="36990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latin typeface="Constantia" panose="02030602050306030303" pitchFamily="18" charset="0"/>
              </a:rPr>
              <a:t>* </a:t>
            </a:r>
            <a:r>
              <a:rPr lang="en-US" sz="1050" dirty="0">
                <a:latin typeface="Constantia" panose="02030602050306030303" pitchFamily="18" charset="0"/>
              </a:rPr>
              <a:t>Generally, FLAIC-L retains many higher order component forecasts, without reducing the number of retained hierarchy base forecasts retained by IComb-L.</a:t>
            </a:r>
            <a:endParaRPr lang="en-US" sz="1050" i="1" dirty="0">
              <a:latin typeface="Constantia" panose="02030602050306030303" pitchFamily="18" charset="0"/>
            </a:endParaRPr>
          </a:p>
          <a:p>
            <a:r>
              <a:rPr lang="en-US" sz="1050" i="1" dirty="0">
                <a:latin typeface="Constantia" panose="02030602050306030303" pitchFamily="18" charset="0"/>
              </a:rPr>
              <a:t>Diagnostics available in Appendix slides.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42873784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4FAB6-510D-AD1D-59DC-7320001A6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2987D1E-A571-E04C-8C44-1F568F1EA9F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733" y="215330"/>
                <a:ext cx="11667350" cy="6109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2.4.2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</a:t>
                </a:r>
                <a:r>
                  <a:rPr lang="en-US" sz="20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(decomposed)</a:t>
                </a:r>
                <a:endParaRPr lang="en-US" sz="2800" i="1" dirty="0">
                  <a:solidFill>
                    <a:srgbClr val="0134FF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2987D1E-A571-E04C-8C44-1F568F1EA9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733" y="215330"/>
                <a:ext cx="11667350" cy="610930"/>
              </a:xfrm>
              <a:prstGeom prst="rect">
                <a:avLst/>
              </a:prstGeom>
              <a:blipFill>
                <a:blip r:embed="rId3"/>
                <a:stretch>
                  <a:fillRect l="-1197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C8DF3EA-B290-4838-5D75-FD9DD5295C08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13/20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2.4.2.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BD2F108-08E4-90AD-8FB1-C0CD6C6842F5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grpSp>
        <p:nvGrpSpPr>
          <p:cNvPr id="29" name="Group 28">
            <a:extLst>
              <a:ext uri="{FF2B5EF4-FFF2-40B4-BE49-F238E27FC236}">
                <a16:creationId xmlns:a16="http://schemas.microsoft.com/office/drawing/2014/main" id="{3F8375CA-5B07-5D3E-A69F-B3DE0541C71E}"/>
              </a:ext>
            </a:extLst>
          </p:cNvPr>
          <p:cNvGrpSpPr/>
          <p:nvPr/>
        </p:nvGrpSpPr>
        <p:grpSpPr>
          <a:xfrm>
            <a:off x="299418" y="889485"/>
            <a:ext cx="11593164" cy="5537542"/>
            <a:chOff x="444865" y="719714"/>
            <a:chExt cx="11593164" cy="5537542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3A97103A-8B25-273F-A967-51B1FACBFE47}"/>
                </a:ext>
              </a:extLst>
            </p:cNvPr>
            <p:cNvGrpSpPr/>
            <p:nvPr/>
          </p:nvGrpSpPr>
          <p:grpSpPr>
            <a:xfrm>
              <a:off x="444865" y="719714"/>
              <a:ext cx="11593164" cy="5537542"/>
              <a:chOff x="444865" y="719714"/>
              <a:chExt cx="11593164" cy="5537542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AA383B8-E88B-027C-57A4-B9C69DABD854}"/>
                      </a:ext>
                    </a:extLst>
                  </p:cNvPr>
                  <p:cNvSpPr txBox="1"/>
                  <p:nvPr/>
                </p:nvSpPr>
                <p:spPr>
                  <a:xfrm>
                    <a:off x="444865" y="719714"/>
                    <a:ext cx="10899130" cy="5537542"/>
                  </a:xfrm>
                  <a:prstGeom prst="rect">
                    <a:avLst/>
                  </a:prstGeom>
                  <a:noFill/>
                  <a:ln w="12700">
                    <a:noFill/>
                  </a:ln>
                </p:spPr>
                <p:txBody>
                  <a:bodyPr wrap="square" rtlCol="0">
                    <a:spAutoFit/>
                  </a:bodyPr>
                  <a:lstStyle/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PRIAL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a14:m>
                    <a:r>
                      <a:rPr lang="en-US" dirty="0">
                        <a:latin typeface="Constantia" panose="02030602050306030303" pitchFamily="18" charset="0"/>
                      </a:rPr>
                      <a:t>depends on </a:t>
                    </a:r>
                    <a14:m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MSFE</m:t>
                        </m:r>
                      </m:oMath>
                    </a14:m>
                    <a:r>
                      <a:rPr lang="en-US" dirty="0">
                        <a:latin typeface="Constantia" panose="02030602050306030303" pitchFamily="18" charset="0"/>
                      </a:rPr>
                      <a:t>.</a:t>
                    </a:r>
                  </a:p>
                  <a:p>
                    <a:pPr>
                      <a:buClr>
                        <a:srgbClr val="0134FF"/>
                      </a:buCl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MSFE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  <m:sup/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˜"/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𝒪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sub>
                            <m:sup/>
                            <m:e>
                              <m:sSubSup>
                                <m:sSubSup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𝑚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nary>
                        </m:oMath>
                      </m:oMathPara>
                    </a14:m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r>
                      <a:rPr lang="en-US" dirty="0">
                        <a:latin typeface="Constantia" panose="02030602050306030303" pitchFamily="18" charset="0"/>
                      </a:rPr>
                      <a:t>Therefore:</a:t>
                    </a:r>
                  </a:p>
                  <a:p>
                    <a:pPr>
                      <a:buClr>
                        <a:srgbClr val="0134FF"/>
                      </a:buClr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 panose="02040503050406030204" pitchFamily="18" charset="0"/>
                                </a:rPr>
                                <m:t>PRIAL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MSFE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IComb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MSFE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FLAIC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MSFE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base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 × 100</m:t>
                          </m:r>
                        </m:oMath>
                      </m:oMathPara>
                    </a14:m>
                    <a:endParaRPr lang="en-US" dirty="0">
                      <a:latin typeface="Cambria Math" panose="02040503050406030204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:endParaRPr lang="en-US" dirty="0">
                      <a:latin typeface="Cambria Math" panose="02040503050406030204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0" dirty="0" smtClean="0">
                              <a:latin typeface="Cambria Math" panose="02040503050406030204" pitchFamily="18" charset="0"/>
                            </a:rPr>
                            <m:t>                     =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 </m:t>
                          </m:r>
                          <m:f>
                            <m:f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𝜏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𝒪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</m:sub>
                                  </m:sSub>
                                </m:sub>
                                <m:sup/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100</m:t>
                                  </m:r>
                                  <m:d>
                                    <m:dPr>
                                      <m:ctrlPr>
                                        <a:rPr lang="en-US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IComb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e>
                                        <m:sub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𝜏</m:t>
                                          </m:r>
                                          <m:r>
                                            <a:rPr lang="en-US" dirty="0">
                                              <a:latin typeface="Cambria Math" panose="02040503050406030204" pitchFamily="18" charset="0"/>
                                            </a:rPr>
                                            <m:t>,</m:t>
                                          </m:r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  <m:sup>
                                          <m:d>
                                            <m:d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b="0" i="1" dirty="0" smtClean="0">
                                                  <a:latin typeface="Cambria Math" panose="02040503050406030204" pitchFamily="18" charset="0"/>
                                                </a:rPr>
                                                <m:t>FLAIC</m:t>
                                              </m:r>
                                            </m:e>
                                          </m:d>
                                        </m:sup>
                                      </m:sSubSup>
                                    </m:e>
                                  </m:d>
                                </m:e>
                              </m:nary>
                            </m:num>
                            <m:den>
                              <m:sSub>
                                <m:sSub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MSFE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base</m:t>
                                  </m:r>
                                  <m:r>
                                    <a:rPr lang="en-US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den>
                          </m:f>
                        </m:oMath>
                      </m:oMathPara>
                    </a14:m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>
                      <a:buClr>
                        <a:srgbClr val="0134FF"/>
                      </a:buClr>
                    </a:pPr>
                    <a:endParaRPr lang="en-US" dirty="0">
                      <a:latin typeface="Constantia" panose="02030602050306030303" pitchFamily="18" charset="0"/>
                    </a:endParaRP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r>
                      <a:rPr lang="en-US" dirty="0">
                        <a:latin typeface="Constantia" panose="02030602050306030303" pitchFamily="18" charset="0"/>
                      </a:rPr>
                      <a:t>Alternatively, average squared errors across rolling window origins and compare for series by levels </a:t>
                    </a:r>
                    <a:r>
                      <a:rPr lang="en-US" i="1" dirty="0">
                        <a:solidFill>
                          <a:srgbClr val="0134FF"/>
                        </a:solidFill>
                        <a:latin typeface="Constantia" panose="02030602050306030303" pitchFamily="18" charset="0"/>
                      </a:rPr>
                      <a:t>(2.4.5)</a:t>
                    </a: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endParaRPr lang="en-US" i="1" dirty="0">
                      <a:solidFill>
                        <a:srgbClr val="0134FF"/>
                      </a:solidFill>
                      <a:latin typeface="Constantia" panose="02030602050306030303" pitchFamily="18" charset="0"/>
                    </a:endParaRPr>
                  </a:p>
                  <a:p>
                    <a:pPr marL="285750" indent="-285750">
                      <a:buClr>
                        <a:srgbClr val="0134FF"/>
                      </a:buClr>
                      <a:buFont typeface="Wingdings" pitchFamily="2" charset="2"/>
                      <a:buChar char="§"/>
                    </a:pPr>
                    <a:r>
                      <a:rPr lang="en-US" dirty="0">
                        <a:latin typeface="Constantia" panose="02030602050306030303" pitchFamily="18" charset="0"/>
                      </a:rPr>
                      <a:t>Statistically significant forecast accuracy gains? </a:t>
                    </a:r>
                    <a:r>
                      <a:rPr lang="en-US" i="1" dirty="0">
                        <a:solidFill>
                          <a:srgbClr val="0134FF"/>
                        </a:solidFill>
                        <a:latin typeface="Constantia" panose="02030602050306030303" pitchFamily="18" charset="0"/>
                      </a:rPr>
                      <a:t>(2.4.6)</a:t>
                    </a:r>
                  </a:p>
                </p:txBody>
              </p:sp>
            </mc:Choice>
            <mc:Fallback>
              <p:sp>
                <p:nvSpPr>
                  <p:cNvPr id="9" name="TextBox 8">
                    <a:extLst>
                      <a:ext uri="{FF2B5EF4-FFF2-40B4-BE49-F238E27FC236}">
                        <a16:creationId xmlns:a16="http://schemas.microsoft.com/office/drawing/2014/main" id="{DAA383B8-E88B-027C-57A4-B9C69DABD85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4865" y="719714"/>
                    <a:ext cx="10899130" cy="553754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349" t="-10550" b="-917"/>
                    </a:stretch>
                  </a:blipFill>
                  <a:ln w="12700">
                    <a:noFill/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324B74C-7CCF-28C7-1D07-4B9CFBEE7568}"/>
                  </a:ext>
                </a:extLst>
              </p:cNvPr>
              <p:cNvGrpSpPr/>
              <p:nvPr/>
            </p:nvGrpSpPr>
            <p:grpSpPr>
              <a:xfrm>
                <a:off x="864877" y="3175328"/>
                <a:ext cx="11173152" cy="1674949"/>
                <a:chOff x="848005" y="2614248"/>
                <a:chExt cx="11173152" cy="1674949"/>
              </a:xfrm>
            </p:grpSpPr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4E9A925-114A-444D-12F6-6729844D4918}"/>
                    </a:ext>
                  </a:extLst>
                </p:cNvPr>
                <p:cNvSpPr/>
                <p:nvPr/>
              </p:nvSpPr>
              <p:spPr>
                <a:xfrm>
                  <a:off x="5799260" y="3142476"/>
                  <a:ext cx="2557600" cy="86443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Freeform 14">
                  <a:extLst>
                    <a:ext uri="{FF2B5EF4-FFF2-40B4-BE49-F238E27FC236}">
                      <a16:creationId xmlns:a16="http://schemas.microsoft.com/office/drawing/2014/main" id="{15672B84-6246-4300-5E5E-D115A56897F7}"/>
                    </a:ext>
                  </a:extLst>
                </p:cNvPr>
                <p:cNvSpPr/>
                <p:nvPr/>
              </p:nvSpPr>
              <p:spPr>
                <a:xfrm>
                  <a:off x="3648173" y="3817857"/>
                  <a:ext cx="2083324" cy="471340"/>
                </a:xfrm>
                <a:custGeom>
                  <a:avLst/>
                  <a:gdLst>
                    <a:gd name="csX0" fmla="*/ 1630837 w 1630837"/>
                    <a:gd name="csY0" fmla="*/ 226243 h 785673"/>
                    <a:gd name="csX1" fmla="*/ 1140643 w 1630837"/>
                    <a:gd name="csY1" fmla="*/ 782424 h 785673"/>
                    <a:gd name="csX2" fmla="*/ 0 w 1630837"/>
                    <a:gd name="csY2" fmla="*/ 0 h 7856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630837" h="785673">
                      <a:moveTo>
                        <a:pt x="1630837" y="226243"/>
                      </a:moveTo>
                      <a:cubicBezTo>
                        <a:pt x="1521643" y="523187"/>
                        <a:pt x="1412449" y="820131"/>
                        <a:pt x="1140643" y="782424"/>
                      </a:cubicBezTo>
                      <a:cubicBezTo>
                        <a:pt x="868837" y="744717"/>
                        <a:pt x="434418" y="37235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24827F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4724896F-61A0-C943-51E2-46BE95E2A70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48005" y="3276917"/>
                      <a:ext cx="3091990" cy="872547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US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</m:oMath>
                      </a14:m>
                      <a:r>
                        <a:rPr lang="en-US" sz="1600" dirty="0"/>
                        <a:t> 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origin-level contributions to </a:t>
                      </a:r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sz="1600" dirty="0">
                              <a:latin typeface="Cambria Math" panose="02040503050406030204" pitchFamily="18" charset="0"/>
                            </a:rPr>
                            <m:t>Δ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600" dirty="0">
                                  <a:latin typeface="Cambria Math" panose="02040503050406030204" pitchFamily="18" charset="0"/>
                                </a:rPr>
                                <m:t>PRIAL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oMath>
                      </a14:m>
                      <a:endParaRPr lang="en-US" sz="1600" dirty="0">
                        <a:latin typeface="Constantia" panose="02030602050306030303" pitchFamily="18" charset="0"/>
                      </a:endParaRPr>
                    </a:p>
                    <a:p>
                      <a:pPr/>
                      <a:r>
                        <a:rPr lang="en-US" sz="1500" dirty="0">
                          <a:latin typeface="Constantia" panose="02030602050306030303" pitchFamily="18" charset="0"/>
                        </a:rPr>
                        <a:t>(magnitudes across origins)</a:t>
                      </a:r>
                      <a:r>
                        <a:rPr lang="en-US" sz="1600" dirty="0">
                          <a:latin typeface="Constantia" panose="02030602050306030303" pitchFamily="18" charset="0"/>
                        </a:rPr>
                        <a:t> </a:t>
                      </a:r>
                    </a:p>
                  </p:txBody>
                </p:sp>
              </mc:Choice>
              <mc:Fallback>
                <p:sp>
                  <p:nvSpPr>
                    <p:cNvPr id="17" name="TextBox 16">
                      <a:extLst>
                        <a:ext uri="{FF2B5EF4-FFF2-40B4-BE49-F238E27FC236}">
                          <a16:creationId xmlns:a16="http://schemas.microsoft.com/office/drawing/2014/main" id="{4724896F-61A0-C943-51E2-46BE95E2A70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48005" y="3276917"/>
                      <a:ext cx="3091990" cy="872547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820" t="-1429" b="-285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A18A3219-0F0B-539F-B85A-7572D37893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882032" y="2614248"/>
                      <a:ext cx="3139125" cy="129266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:r>
                        <a:rPr lang="en-US" sz="1600" dirty="0">
                          <a:latin typeface="Constantia" panose="02030602050306030303" pitchFamily="18" charset="0"/>
                        </a:rPr>
                        <a:t>Origin-level loss difference </a:t>
                      </a:r>
                      <a14:m>
                        <m:oMath xmlns:m="http://schemas.openxmlformats.org/officeDocument/2006/math">
                          <m:r>
                            <a:rPr lang="en-US" sz="1600" dirty="0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600" i="0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a14:m>
                      <a:endParaRPr lang="en-US" sz="1600" dirty="0">
                        <a:latin typeface="Constantia" panose="02030602050306030303" pitchFamily="18" charset="0"/>
                      </a:endParaRPr>
                    </a:p>
                    <a:p>
                      <a:pPr/>
                      <a14:m>
                        <m:oMath xmlns:m="http://schemas.openxmlformats.org/officeDocument/2006/math">
                          <m:r>
                            <a:rPr lang="en-US" sz="16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</m:oMath>
                      </a14:m>
                      <a:r>
                        <a:rPr lang="en-US" sz="1600" dirty="0">
                          <a:latin typeface="Constantia" panose="02030602050306030303" pitchFamily="18" charset="0"/>
                        </a:rPr>
                        <a:t> FLAIC better for that origin</a:t>
                      </a:r>
                    </a:p>
                    <a:p>
                      <a:pPr/>
                      <a:endParaRPr lang="en-US" sz="1600" dirty="0">
                        <a:latin typeface="Constantia" panose="02030602050306030303" pitchFamily="18" charset="0"/>
                      </a:endParaRPr>
                    </a:p>
                    <a:p>
                      <a:pPr/>
                      <a:r>
                        <a:rPr lang="en-US" sz="1500" i="1" dirty="0">
                          <a:latin typeface="Constantia" panose="02030602050306030303" pitchFamily="18" charset="0"/>
                        </a:rPr>
                        <a:t>Statistic:</a:t>
                      </a:r>
                      <a:r>
                        <a:rPr lang="en-US" sz="1500" dirty="0">
                          <a:latin typeface="Constantia" panose="02030602050306030303" pitchFamily="18" charset="0"/>
                        </a:rPr>
                        <a:t> % origins FLAIC better</a:t>
                      </a:r>
                    </a:p>
                    <a:p>
                      <a:pPr/>
                      <a:r>
                        <a:rPr lang="en-US" sz="1500" dirty="0">
                          <a:latin typeface="Constantia" panose="02030602050306030303" pitchFamily="18" charset="0"/>
                        </a:rPr>
                        <a:t>&gt;50% </a:t>
                      </a:r>
                      <a14:m>
                        <m:oMath xmlns:m="http://schemas.openxmlformats.org/officeDocument/2006/math">
                          <m:r>
                            <a:rPr lang="en-US" sz="15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⟹</m:t>
                          </m:r>
                        </m:oMath>
                      </a14:m>
                      <a:r>
                        <a:rPr lang="en-US" sz="1500" dirty="0">
                          <a:latin typeface="Constantia" panose="02030602050306030303" pitchFamily="18" charset="0"/>
                        </a:rPr>
                        <a:t> FLAIC better more origins</a:t>
                      </a:r>
                    </a:p>
                  </p:txBody>
                </p:sp>
              </mc:Choice>
              <mc:Fallback>
                <p:sp>
                  <p:nvSpPr>
                    <p:cNvPr id="20" name="TextBox 19">
                      <a:extLst>
                        <a:ext uri="{FF2B5EF4-FFF2-40B4-BE49-F238E27FC236}">
                          <a16:creationId xmlns:a16="http://schemas.microsoft.com/office/drawing/2014/main" id="{A18A3219-0F0B-539F-B85A-7572D378932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82032" y="2614248"/>
                      <a:ext cx="3139125" cy="129266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210" t="-971" b="-4854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Freeform 21">
                  <a:extLst>
                    <a:ext uri="{FF2B5EF4-FFF2-40B4-BE49-F238E27FC236}">
                      <a16:creationId xmlns:a16="http://schemas.microsoft.com/office/drawing/2014/main" id="{9D8998E4-ED65-557B-3154-7DF1C93C4283}"/>
                    </a:ext>
                  </a:extLst>
                </p:cNvPr>
                <p:cNvSpPr/>
                <p:nvPr/>
              </p:nvSpPr>
              <p:spPr>
                <a:xfrm rot="9794420">
                  <a:off x="7280556" y="2886410"/>
                  <a:ext cx="1664736" cy="243103"/>
                </a:xfrm>
                <a:custGeom>
                  <a:avLst/>
                  <a:gdLst>
                    <a:gd name="csX0" fmla="*/ 1630837 w 1630837"/>
                    <a:gd name="csY0" fmla="*/ 226243 h 785673"/>
                    <a:gd name="csX1" fmla="*/ 1140643 w 1630837"/>
                    <a:gd name="csY1" fmla="*/ 782424 h 785673"/>
                    <a:gd name="csX2" fmla="*/ 0 w 1630837"/>
                    <a:gd name="csY2" fmla="*/ 0 h 78567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</a:cxnLst>
                  <a:rect l="l" t="t" r="r" b="b"/>
                  <a:pathLst>
                    <a:path w="1630837" h="785673">
                      <a:moveTo>
                        <a:pt x="1630837" y="226243"/>
                      </a:moveTo>
                      <a:cubicBezTo>
                        <a:pt x="1521643" y="523187"/>
                        <a:pt x="1412449" y="820131"/>
                        <a:pt x="1140643" y="782424"/>
                      </a:cubicBezTo>
                      <a:cubicBezTo>
                        <a:pt x="868837" y="744717"/>
                        <a:pt x="434418" y="372358"/>
                        <a:pt x="0" y="0"/>
                      </a:cubicBezTo>
                    </a:path>
                  </a:pathLst>
                </a:custGeom>
                <a:noFill/>
                <a:ln w="28575">
                  <a:solidFill>
                    <a:srgbClr val="24827F"/>
                  </a:solidFill>
                  <a:headEnd type="none" w="med" len="med"/>
                  <a:tailEnd type="arrow" w="med" len="med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CFA99F4-2CCD-9AD1-2AB1-B3DF5BCADF5D}"/>
                </a:ext>
              </a:extLst>
            </p:cNvPr>
            <p:cNvSpPr txBox="1"/>
            <p:nvPr/>
          </p:nvSpPr>
          <p:spPr>
            <a:xfrm>
              <a:off x="8584180" y="2888343"/>
              <a:ext cx="86147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134FF"/>
                  </a:solidFill>
                  <a:latin typeface="Constantia" panose="02030602050306030303" pitchFamily="18" charset="0"/>
                </a:rPr>
                <a:t>(2.4.3)</a:t>
              </a:r>
              <a:endParaRPr lang="en-US" dirty="0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752055B2-9EE4-1C16-A973-ABC4EC7295C0}"/>
                </a:ext>
              </a:extLst>
            </p:cNvPr>
            <p:cNvSpPr txBox="1"/>
            <p:nvPr/>
          </p:nvSpPr>
          <p:spPr>
            <a:xfrm>
              <a:off x="453319" y="3593493"/>
              <a:ext cx="9077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i="1" dirty="0">
                  <a:solidFill>
                    <a:srgbClr val="0134FF"/>
                  </a:solidFill>
                  <a:latin typeface="Constantia" panose="02030602050306030303" pitchFamily="18" charset="0"/>
                </a:rPr>
                <a:t>(2.4.4)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126491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98340F-1C50-8173-13BB-13ED2DDC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4DBCCE8C-2A5A-CBAD-45CA-7A040DB64F6C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2.4.3  Rolling forecast origin</a:t>
            </a:r>
          </a:p>
          <a:p>
            <a:r>
              <a:rPr lang="en-US" sz="2800" i="1" dirty="0">
                <a:solidFill>
                  <a:srgbClr val="0134FF"/>
                </a:solidFill>
                <a:latin typeface="Constantia" panose="02030602050306030303" pitchFamily="18" charset="0"/>
              </a:rPr>
              <a:t>          wins (FLAIC v IComb)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418FFF-3DA4-124F-02E6-A555F7AFB2A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14/20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2.4.3.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69F91C4-E7A2-0584-A367-2EFB881F50BB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4F8A7D-0514-99E5-D3EE-9886E76D34B4}"/>
                  </a:ext>
                </a:extLst>
              </p:cNvPr>
              <p:cNvSpPr txBox="1"/>
              <p:nvPr/>
            </p:nvSpPr>
            <p:spPr>
              <a:xfrm>
                <a:off x="8192665" y="1682401"/>
                <a:ext cx="3924045" cy="3526735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138113" indent="-138113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Agrees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600" dirty="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dirty="0">
                            <a:latin typeface="Cambria Math" panose="02040503050406030204" pitchFamily="18" charset="0"/>
                          </a:rPr>
                          <m:t>PRIAL</m:t>
                        </m:r>
                      </m:e>
                      <m:sub>
                        <m:r>
                          <a:rPr lang="en-US" sz="1600" i="1" dirty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findings</a:t>
                </a:r>
              </a:p>
              <a:p>
                <a:pPr marL="138113" indent="-138113"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 marL="138113" indent="-138113"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 marL="138113" indent="-138113">
                  <a:buClr>
                    <a:srgbClr val="0134FF"/>
                  </a:buClr>
                </a:pPr>
                <a:endParaRPr lang="en-US" sz="1400" dirty="0">
                  <a:latin typeface="Cambria Math" panose="02040503050406030204" pitchFamily="18" charset="0"/>
                </a:endParaRPr>
              </a:p>
              <a:p>
                <a:pPr marL="138113" indent="-138113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000" dirty="0">
                  <a:latin typeface="Cambria Math" panose="02040503050406030204" pitchFamily="18" charset="0"/>
                </a:endParaRPr>
              </a:p>
              <a:p>
                <a:pPr marL="138113" indent="-138113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Cell-wise comparison for both heatmaps</a:t>
                </a:r>
              </a:p>
              <a:p>
                <a:pPr marL="138113" indent="-138113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360363" lvl="1" indent="-20320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ΔPRIAL</m:t>
                    </m:r>
                  </m:oMath>
                </a14:m>
                <a:r>
                  <a:rPr lang="en-US" sz="1500" dirty="0">
                    <a:latin typeface="Constantia" panose="02030602050306030303" pitchFamily="18" charset="0"/>
                  </a:rPr>
                  <a:t> and FLAIC wins match 74.2% (FLAIC-S) and 66.9% (FLAIC-L)</a:t>
                </a:r>
              </a:p>
              <a:p>
                <a:pPr marL="360363" lvl="1" indent="-20320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endParaRPr lang="en-US" sz="1500" dirty="0">
                  <a:latin typeface="Constantia" panose="02030602050306030303" pitchFamily="18" charset="0"/>
                </a:endParaRPr>
              </a:p>
              <a:p>
                <a:pPr marL="360363" lvl="1" indent="-203200">
                  <a:lnSpc>
                    <a:spcPts val="266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1500" dirty="0">
                    <a:latin typeface="Constantia" panose="02030602050306030303" pitchFamily="18" charset="0"/>
                  </a:rPr>
                  <a:t>Most differences arise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500" dirty="0">
                        <a:latin typeface="Cambria Math" panose="02040503050406030204" pitchFamily="18" charset="0"/>
                      </a:rPr>
                      <m:t>ΔPRIAL</m:t>
                    </m:r>
                    <m:r>
                      <a:rPr lang="en-US" sz="1500" b="0" i="0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500" dirty="0">
                    <a:latin typeface="Constantia" panose="02030602050306030303" pitchFamily="18" charset="0"/>
                  </a:rPr>
                  <a:t>, but FLAIC wins &gt; 50%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44F8A7D-0514-99E5-D3EE-9886E76D3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665" y="1682401"/>
                <a:ext cx="3924045" cy="3526735"/>
              </a:xfrm>
              <a:prstGeom prst="rect">
                <a:avLst/>
              </a:prstGeom>
              <a:blipFill>
                <a:blip r:embed="rId2"/>
                <a:stretch>
                  <a:fillRect l="-645" t="-358" r="-645" b="-107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45948FC4-CB25-3764-E3E2-7A250A146479}"/>
              </a:ext>
            </a:extLst>
          </p:cNvPr>
          <p:cNvSpPr txBox="1"/>
          <p:nvPr/>
        </p:nvSpPr>
        <p:spPr>
          <a:xfrm>
            <a:off x="257370" y="6121947"/>
            <a:ext cx="782587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Percentage of rolling forecast origins at which FLAIC has a lower average squared-error loss than matched IComb, averaged across the 112 hierarchy series. FLAIC-S and FLAIC-L are compared with IComb-S and IComb-L, respectively. Percentages are rounded to integers.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2EC9B2D-B7DF-CDC7-12DB-6E0C050A16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290" y="839050"/>
            <a:ext cx="8114426" cy="52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4150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3CAE39-BCEF-B43F-E582-389E6FB9F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CE42E2B-D489-CE55-4370-F34864BCE7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92961" y="444064"/>
                <a:ext cx="11667350" cy="468630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rmAutofit lnSpcReduction="100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Origin–level contributions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8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CE42E2B-D489-CE55-4370-F34864BCE7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961" y="444064"/>
                <a:ext cx="11667350" cy="468630"/>
              </a:xfrm>
              <a:prstGeom prst="rect">
                <a:avLst/>
              </a:prstGeom>
              <a:blipFill>
                <a:blip r:embed="rId3"/>
                <a:stretch>
                  <a:fillRect l="-1087" t="-27027" b="-35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71BC496-F1D9-A79F-C2B4-A837B89FD6C0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15/20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2.4.4.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532789-2C1E-82BF-4A88-0E2E6F91554D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DE5300-8893-26FF-4F23-F76D605568F6}"/>
                  </a:ext>
                </a:extLst>
              </p:cNvPr>
              <p:cNvSpPr txBox="1"/>
              <p:nvPr/>
            </p:nvSpPr>
            <p:spPr>
              <a:xfrm>
                <a:off x="1409990" y="6255056"/>
                <a:ext cx="8881676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2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200" dirty="0">
                    <a:latin typeface="Constantia" panose="02030602050306030303" pitchFamily="18" charset="0"/>
                  </a:rPr>
                  <a:t> Distributions of origin-level contributions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200" i="1" dirty="0">
                    <a:solidFill>
                      <a:schemeClr val="tx1"/>
                    </a:solidFill>
                    <a:latin typeface="Constantia" panose="02030602050306030303" pitchFamily="18" charset="0"/>
                  </a:rPr>
                  <a:t> PRIAL</a:t>
                </a:r>
                <a:r>
                  <a:rPr lang="en-US" sz="1200" dirty="0">
                    <a:latin typeface="Constantia" panose="02030602050306030303" pitchFamily="18" charset="0"/>
                  </a:rPr>
                  <a:t>, after squared error loss is averaged across the 112 hierarchy series. Positive values </a:t>
                </a:r>
                <a:r>
                  <a:rPr lang="en-US" sz="12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200" dirty="0">
                    <a:latin typeface="Constantia" panose="02030602050306030303" pitchFamily="18" charset="0"/>
                  </a:rPr>
                  <a:t> FLAIC. Average of origin-level contributions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i="1" dirty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200" i="1" dirty="0">
                    <a:latin typeface="Constantia" panose="02030602050306030303" pitchFamily="18" charset="0"/>
                  </a:rPr>
                  <a:t> PRIAL</a:t>
                </a:r>
                <a:r>
                  <a:rPr lang="en-US" sz="12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4DE5300-8893-26FF-4F23-F76D605568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9990" y="6255056"/>
                <a:ext cx="8881676" cy="461665"/>
              </a:xfrm>
              <a:prstGeom prst="rect">
                <a:avLst/>
              </a:prstGeom>
              <a:blipFill>
                <a:blip r:embed="rId4"/>
                <a:stretch>
                  <a:fillRect b="-108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2D0E5748-D0FB-40E3-EE25-4342176ECE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60700" y="1038045"/>
            <a:ext cx="9030966" cy="503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42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D7911-EE17-2EE2-9A53-E8AE1739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78266CFF-663B-1BCD-53E8-B05F1D2AC5E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2.4.5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78266CFF-663B-1BCD-53E8-B05F1D2AC5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5B0FCD0B-182A-865B-DC23-D8A29FDBB65D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16/20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2.4.5.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E88428B-EE54-EBAE-2D92-E15C37EC91EF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2AC2A-080B-04B7-F39F-C4FA05B70C28}"/>
                  </a:ext>
                </a:extLst>
              </p:cNvPr>
              <p:cNvSpPr txBox="1"/>
              <p:nvPr/>
            </p:nvSpPr>
            <p:spPr>
              <a:xfrm>
                <a:off x="8257308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D2AC2A-080B-04B7-F39F-C4FA05B70C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7308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Graphic 13">
            <a:extLst>
              <a:ext uri="{FF2B5EF4-FFF2-40B4-BE49-F238E27FC236}">
                <a16:creationId xmlns:a16="http://schemas.microsoft.com/office/drawing/2014/main" id="{5405A0A2-69CD-2620-D62D-2EBA6A7692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4478" y="879969"/>
            <a:ext cx="7982992" cy="519732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5EBA6-A5E1-9410-CEDC-922320E93228}"/>
                  </a:ext>
                </a:extLst>
              </p:cNvPr>
              <p:cNvSpPr txBox="1"/>
              <p:nvPr/>
            </p:nvSpPr>
            <p:spPr>
              <a:xfrm>
                <a:off x="274315" y="6228012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(using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unscaled PCA),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8135EBA6-A5E1-9410-CEDC-922320E93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15" y="6228012"/>
                <a:ext cx="7982993" cy="430887"/>
              </a:xfrm>
              <a:prstGeom prst="rect">
                <a:avLst/>
              </a:prstGeom>
              <a:blipFill>
                <a:blip r:embed="rId5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01795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C552-8BD6-8A7B-6ED0-B895C0A3C6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965E22B-754D-4E59-1002-871B2027BD1E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2.4.6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EA337-9FAA-2461-E125-691E675CD98A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17/20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2.4.6.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BF5ACBB-E2C8-D6C0-CE01-DD49BB8EBEB1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AA48F-FE75-6800-0685-D50D24B9BEB0}"/>
                  </a:ext>
                </a:extLst>
              </p:cNvPr>
              <p:cNvSpPr txBox="1"/>
              <p:nvPr/>
            </p:nvSpPr>
            <p:spPr>
              <a:xfrm>
                <a:off x="8148403" y="898888"/>
                <a:ext cx="3783286" cy="513986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Arial" panose="020B0604020202020204" pitchFamily="34" charset="0"/>
                  <a:buChar char="•"/>
                </a:pPr>
                <a:r>
                  <a:rPr lang="en-US" sz="1600" dirty="0">
                    <a:latin typeface="Constantia" panose="02030602050306030303" pitchFamily="18" charset="0"/>
                  </a:rPr>
                  <a:t>Rank each series across methods to get a distribution of ranks for each method. Each method is </a:t>
                </a:r>
                <a:r>
                  <a:rPr lang="en-US" sz="1600" dirty="0" err="1">
                    <a:latin typeface="Constantia" panose="02030602050306030303" pitchFamily="18" charset="0"/>
                  </a:rPr>
                  <a:t>summarised</a:t>
                </a:r>
                <a:r>
                  <a:rPr lang="en-US" sz="1600" dirty="0">
                    <a:latin typeface="Constantia" panose="02030602050306030303" pitchFamily="18" charset="0"/>
                  </a:rPr>
                  <a:t> by its average rank across series.</a:t>
                </a:r>
              </a:p>
              <a:p>
                <a:pPr marL="269875" indent="-269875">
                  <a:buClr>
                    <a:srgbClr val="0134FF"/>
                  </a:buClr>
                </a:pPr>
                <a:r>
                  <a:rPr lang="en-US" sz="1200" dirty="0">
                    <a:latin typeface="Constantia" panose="02030602050306030303" pitchFamily="18" charset="0"/>
                  </a:rPr>
                  <a:t>      (Friedman 1937, 1939; </a:t>
                </a:r>
                <a:r>
                  <a:rPr lang="en-US" sz="1200" dirty="0" err="1">
                    <a:latin typeface="Constantia" panose="02030602050306030303" pitchFamily="18" charset="0"/>
                  </a:rPr>
                  <a:t>Nemenyi</a:t>
                </a:r>
                <a:r>
                  <a:rPr lang="en-US" sz="1200" dirty="0">
                    <a:latin typeface="Constantia" panose="02030602050306030303" pitchFamily="18" charset="0"/>
                  </a:rPr>
                  <a:t> 1963; Hollander et al. 2013; Koning et al. 2005)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Considering all </a:t>
                </a:r>
                <a14:m>
                  <m:oMath xmlns:m="http://schemas.openxmlformats.org/officeDocument/2006/math">
                    <m:r>
                      <a:rPr lang="en-US" sz="1600" dirty="0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 PCA specifications: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Best-ranked method generally has low component augmentation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Limited evidence that improvement in forecast accuracy under FLAIC is statistically significant (especially lasso)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High-dimensional component augmentation is typically statistically significantly worse (especially ridge)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73AA48F-FE75-6800-0685-D50D24B9B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8403" y="898888"/>
                <a:ext cx="3783286" cy="5139869"/>
              </a:xfrm>
              <a:prstGeom prst="rect">
                <a:avLst/>
              </a:prstGeom>
              <a:blipFill>
                <a:blip r:embed="rId2"/>
                <a:stretch>
                  <a:fillRect l="-1003" t="-246" b="-493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phic 5">
            <a:extLst>
              <a:ext uri="{FF2B5EF4-FFF2-40B4-BE49-F238E27FC236}">
                <a16:creationId xmlns:a16="http://schemas.microsoft.com/office/drawing/2014/main" id="{97316759-0652-926B-1DB6-DDCD53A635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402" y="898888"/>
            <a:ext cx="8007001" cy="521295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E59C62-643E-0C34-32EA-D22FF74E8486}"/>
                  </a:ext>
                </a:extLst>
              </p:cNvPr>
              <p:cNvSpPr txBox="1"/>
              <p:nvPr/>
            </p:nvSpPr>
            <p:spPr>
              <a:xfrm>
                <a:off x="273378" y="6171684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100" dirty="0">
                    <a:latin typeface="Constantia" panose="02030602050306030303" pitchFamily="18" charset="0"/>
                  </a:rPr>
                  <a:t>, unscaled PCA specification.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EE59C62-643E-0C34-32EA-D22FF74E8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378" y="6171684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0285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B7A61C-7007-0667-F214-EE09C9FED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9358B57-903B-C28E-8806-3B07C16A8D60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2.4.7  Hierarchy-adapted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FLAP benchmark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3D231A-B702-575F-E788-D4AAEE254E3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18/20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2.4.7.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6FA7C09-8BC4-8B11-2A4C-092C7C2F2C9F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8DE21614-5501-1460-FAD7-64F5D08F6901}"/>
              </a:ext>
            </a:extLst>
          </p:cNvPr>
          <p:cNvGrpSpPr/>
          <p:nvPr/>
        </p:nvGrpSpPr>
        <p:grpSpPr>
          <a:xfrm>
            <a:off x="420750" y="1199132"/>
            <a:ext cx="11350499" cy="815701"/>
            <a:chOff x="451860" y="989384"/>
            <a:chExt cx="11350499" cy="8157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B384223-9A71-7C09-50D0-70FDBFA48FEB}"/>
                </a:ext>
              </a:extLst>
            </p:cNvPr>
            <p:cNvSpPr txBox="1"/>
            <p:nvPr/>
          </p:nvSpPr>
          <p:spPr>
            <a:xfrm>
              <a:off x="451860" y="1012239"/>
              <a:ext cx="2759329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Same base + component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9BAD063-6D85-B22F-B6D3-3346D6C9EEC5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Hierarchy adapted FLAP benchmark*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Covariance-based oblique projection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24C2468-DE59-9C9F-C424-DCD83C33F83E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806A1BE-40A9-7BBF-7C75-1A968732B6E0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97A22E-CE8D-0BC3-9727-E07302D0A575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Coherent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76B7396-F989-0B7F-46F8-82EAC2A1C9E8}"/>
              </a:ext>
            </a:extLst>
          </p:cNvPr>
          <p:cNvSpPr txBox="1"/>
          <p:nvPr/>
        </p:nvSpPr>
        <p:spPr>
          <a:xfrm>
            <a:off x="92337" y="6487606"/>
            <a:ext cx="609755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i="1" dirty="0">
                <a:latin typeface="Constantia" panose="02030602050306030303" pitchFamily="18" charset="0"/>
              </a:rPr>
              <a:t>* More details in appendix slides</a:t>
            </a:r>
            <a:endParaRPr lang="en-US" sz="1100" i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DFC427-1628-CF2F-BA3A-D423D0EA1FA5}"/>
                  </a:ext>
                </a:extLst>
              </p:cNvPr>
              <p:cNvSpPr txBox="1"/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Enforces hierarchy aggregation constraints and uses same component relationships.</a:t>
                </a:r>
              </a:p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0" dirty="0" smtClean="0">
                        <a:latin typeface="Cambria Math" panose="02040503050406030204" pitchFamily="18" charset="0"/>
                      </a:rPr>
                      <m:t>MinT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2DFC427-1628-CF2F-BA3A-D423D0EA1F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blipFill>
                <a:blip r:embed="rId2"/>
                <a:stretch>
                  <a:fillRect l="-311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 22">
            <a:extLst>
              <a:ext uri="{FF2B5EF4-FFF2-40B4-BE49-F238E27FC236}">
                <a16:creationId xmlns:a16="http://schemas.microsoft.com/office/drawing/2014/main" id="{F2C226CF-B358-3F12-56FB-5C9C1422D2EE}"/>
              </a:ext>
            </a:extLst>
          </p:cNvPr>
          <p:cNvSpPr/>
          <p:nvPr/>
        </p:nvSpPr>
        <p:spPr>
          <a:xfrm>
            <a:off x="3816630" y="1805417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F46EB-BA66-0F34-6406-9C68C29D23D3}"/>
                  </a:ext>
                </a:extLst>
              </p:cNvPr>
              <p:cNvSpPr txBox="1"/>
              <p:nvPr/>
            </p:nvSpPr>
            <p:spPr>
              <a:xfrm>
                <a:off x="7783084" y="2902149"/>
                <a:ext cx="3783286" cy="3293209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>
                  <a:buClr>
                    <a:srgbClr val="0134FF"/>
                  </a:buClr>
                </a:pPr>
                <a:r>
                  <a:rPr lang="en-US" sz="1600" dirty="0">
                    <a:latin typeface="Constantia" panose="02030602050306030303" pitchFamily="18" charset="0"/>
                  </a:rPr>
                  <a:t>Findings: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Component augmentation through FLAP consistently has better accuracy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 i="1">
                            <a:latin typeface="Cambria Math" panose="02040503050406030204" pitchFamily="18" charset="0"/>
                          </a:rPr>
                          <m:t>MinT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𝑠h𝑟</m:t>
                        </m:r>
                      </m:sub>
                    </m:sSub>
                  </m:oMath>
                </a14:m>
                <a:endParaRPr lang="en-US" sz="1600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FLAIC achieves better absolute accuracy than FLAP in the reported matched comparisons.</a:t>
                </a:r>
              </a:p>
              <a:p>
                <a:pPr>
                  <a:buClr>
                    <a:srgbClr val="0134FF"/>
                  </a:buClr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The benefits of component augmentation depend on the reconciliation method.</a:t>
                </a:r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EF46EB-BA66-0F34-6406-9C68C29D2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3084" y="2902149"/>
                <a:ext cx="3783286" cy="3293209"/>
              </a:xfrm>
              <a:prstGeom prst="rect">
                <a:avLst/>
              </a:prstGeom>
              <a:blipFill>
                <a:blip r:embed="rId3"/>
                <a:stretch>
                  <a:fillRect l="-669" t="-385" r="-1338" b="-153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A224E5-F1D9-DAAA-73B2-B991B97575D9}"/>
                  </a:ext>
                </a:extLst>
              </p:cNvPr>
              <p:cNvSpPr txBox="1"/>
              <p:nvPr/>
            </p:nvSpPr>
            <p:spPr>
              <a:xfrm>
                <a:off x="310866" y="3363283"/>
                <a:ext cx="736233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 i="1" dirty="0">
                    <a:latin typeface="Constantia" panose="02030602050306030303" pitchFamily="18" charset="0"/>
                  </a:rPr>
                  <a:t>Table: </a:t>
                </a:r>
                <a:r>
                  <a:rPr lang="en-US" sz="1600" dirty="0">
                    <a:latin typeface="Constantia" panose="02030602050306030303" pitchFamily="18" charset="0"/>
                  </a:rPr>
                  <a:t>component augmentation across reconciliation methods (selected)</a:t>
                </a:r>
              </a:p>
              <a:p>
                <a:r>
                  <a:rPr lang="en-US" sz="1400" i="1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400" i="1" dirty="0">
                    <a:latin typeface="Constantia" panose="02030602050306030303" pitchFamily="18" charset="0"/>
                  </a:rPr>
                  <a:t>, Scaled PCA | PRIAL (%) |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i="1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2A224E5-F1D9-DAAA-73B2-B991B975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866" y="3363283"/>
                <a:ext cx="7362334" cy="553998"/>
              </a:xfrm>
              <a:prstGeom prst="rect">
                <a:avLst/>
              </a:prstGeom>
              <a:blipFill>
                <a:blip r:embed="rId4"/>
                <a:stretch>
                  <a:fillRect l="-344" t="-2222" b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5BCB8BE-B4F1-41AF-E941-BF8DE82CA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47649"/>
                  </p:ext>
                </p:extLst>
              </p:nvPr>
            </p:nvGraphicFramePr>
            <p:xfrm>
              <a:off x="177691" y="4030210"/>
              <a:ext cx="7128001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75909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2343970111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25186696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37565889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627565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No PCs*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𝟏𝟎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𝟐𝟎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𝟒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n-GB" sz="1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1400" b="1" i="1" dirty="0" smtClean="0">
                                    <a:latin typeface="Cambria Math" panose="02040503050406030204" pitchFamily="18" charset="0"/>
                                  </a:rPr>
                                  <m:t>𝟕𝟕</m:t>
                                </m:r>
                              </m:oMath>
                            </m:oMathPara>
                          </a14:m>
                          <a:endParaRPr lang="en-GB" sz="1400" b="1" i="1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1400" i="1">
                                        <a:latin typeface="Cambria Math" panose="02040503050406030204" pitchFamily="18" charset="0"/>
                                      </a:rPr>
                                      <m:t>MinT</m:t>
                                    </m:r>
                                  </m:e>
                                  <m:sub>
                                    <m:r>
                                      <a:rPr lang="en-US" sz="1400" b="0" i="1" smtClean="0">
                                        <a:latin typeface="Cambria Math" panose="02040503050406030204" pitchFamily="18" charset="0"/>
                                      </a:rPr>
                                      <m:t>𝑠h𝑟</m:t>
                                    </m:r>
                                  </m:sub>
                                </m:s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FLAP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1.16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-0.08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IComb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S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IC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S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−5.26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−2.45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IComb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+mn-ea"/>
                                  </a:rPr>
                                  <m:t>L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→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FLAIC</m:t>
                                </m:r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</m:t>
                                </m:r>
                              </m:oMath>
                            </m:oMathPara>
                          </a14:m>
                          <a:endParaRPr lang="en-GB" sz="1400" b="1" i="0" dirty="0">
                            <a:latin typeface="Constantia" panose="02030602050306030303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−7.49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−6.87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−4.81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−3.52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−1.56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7" name="Table 26">
                <a:extLst>
                  <a:ext uri="{FF2B5EF4-FFF2-40B4-BE49-F238E27FC236}">
                    <a16:creationId xmlns:a16="http://schemas.microsoft.com/office/drawing/2014/main" id="{25BCB8BE-B4F1-41AF-E941-BF8DE82CA90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7847649"/>
                  </p:ext>
                </p:extLst>
              </p:nvPr>
            </p:nvGraphicFramePr>
            <p:xfrm>
              <a:off x="177691" y="4030210"/>
              <a:ext cx="7128001" cy="148336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1975909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2343970111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25186696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37565889"/>
                        </a:ext>
                      </a:extLst>
                    </a:gridCol>
                    <a:gridCol w="858682">
                      <a:extLst>
                        <a:ext uri="{9D8B030D-6E8A-4147-A177-3AD203B41FA5}">
                          <a16:colId xmlns:a16="http://schemas.microsoft.com/office/drawing/2014/main" val="5627565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Method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No PCs*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29412" t="-3333" r="-4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29412" t="-3333" r="-300000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37313" t="-3333" r="-204478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27941" t="-3333" r="-10147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27941" t="-3333" r="-1471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06897" r="-261538" b="-21034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5.00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1.16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0.35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-0.29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-0.55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-0.08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200000" r="-261538" b="-10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−4.98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−4.85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−5.97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−5.26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−4.15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−2.45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310345" r="-261538" b="-6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−7.49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−6.25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−6.87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−4.81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>
                              <a:latin typeface="Constantia" panose="02030602050306030303" pitchFamily="18" charset="0"/>
                            </a:rPr>
                            <a:t>−3.52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−1.56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C7212C-1744-5294-19C0-F35D185035E4}"/>
                  </a:ext>
                </a:extLst>
              </p:cNvPr>
              <p:cNvSpPr txBox="1"/>
              <p:nvPr/>
            </p:nvSpPr>
            <p:spPr>
              <a:xfrm>
                <a:off x="209552" y="5636013"/>
                <a:ext cx="7055127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GB" sz="1200" i="1" dirty="0">
                    <a:latin typeface="Constantia" panose="02030602050306030303" pitchFamily="18" charset="0"/>
                  </a:rPr>
                  <a:t>Notes:</a:t>
                </a:r>
                <a:r>
                  <a:rPr lang="en-GB" sz="1200" dirty="0">
                    <a:latin typeface="Constantia" panose="02030602050306030303" pitchFamily="18" charset="0"/>
                  </a:rPr>
                  <a:t> *No PCs means </a:t>
                </a:r>
                <a14:m>
                  <m:oMath xmlns:m="http://schemas.openxmlformats.org/officeDocument/2006/math">
                    <m:r>
                      <a:rPr lang="en-GB" sz="12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20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 dirty="0">
                    <a:latin typeface="Constantia" panose="02030602050306030303" pitchFamily="18" charset="0"/>
                  </a:rPr>
                  <a:t> and identifies the corresponding MinT or IComb benchmark.</a:t>
                </a:r>
              </a:p>
              <a:p>
                <a:r>
                  <a:rPr lang="en-GB" sz="1200" dirty="0">
                    <a:latin typeface="Constantia" panose="02030602050306030303" pitchFamily="18" charset="0"/>
                  </a:rPr>
                  <a:t>            Lower PRIAL = better forecast accuracy. </a:t>
                </a:r>
                <a:endParaRPr lang="en-US" sz="1200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AC7212C-1744-5294-19C0-F35D185035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552" y="5636013"/>
                <a:ext cx="7055127" cy="461665"/>
              </a:xfrm>
              <a:prstGeom prst="rect">
                <a:avLst/>
              </a:prstGeom>
              <a:blipFill>
                <a:blip r:embed="rId6"/>
                <a:stretch>
                  <a:fillRect t="-2703" b="-81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62849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75886-D810-77D2-1A6B-EF25F9F6C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0078EDE-AE07-F960-71E5-0B52DFDF0854}"/>
              </a:ext>
            </a:extLst>
          </p:cNvPr>
          <p:cNvSpPr txBox="1"/>
          <p:nvPr/>
        </p:nvSpPr>
        <p:spPr>
          <a:xfrm>
            <a:off x="476944" y="998145"/>
            <a:ext cx="1116765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F2F92"/>
                </a:solidFill>
                <a:latin typeface="Constantia" panose="02030602050306030303" pitchFamily="18" charset="0"/>
              </a:rPr>
              <a:t>Research question:</a:t>
            </a:r>
            <a:r>
              <a:rPr lang="en-US" dirty="0">
                <a:latin typeface="Constantia" panose="02030602050306030303" pitchFamily="18" charset="0"/>
              </a:rPr>
              <a:t> </a:t>
            </a:r>
            <a:r>
              <a:rPr lang="en-US" i="1" dirty="0">
                <a:latin typeface="Constantia" panose="02030602050306030303" pitchFamily="18" charset="0"/>
              </a:rPr>
              <a:t>To what extent</a:t>
            </a:r>
            <a:r>
              <a:rPr lang="en-US" dirty="0">
                <a:latin typeface="Constantia" panose="02030602050306030303" pitchFamily="18" charset="0"/>
              </a:rPr>
              <a:t> can forecasts based on constructed linear components improve the accuracy of hierarchical forecasts when incorporated into the Information Combination framework?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F2F92"/>
                </a:solidFill>
                <a:latin typeface="Constantia" panose="02030602050306030303" pitchFamily="18" charset="0"/>
              </a:rPr>
              <a:t>Answer:</a:t>
            </a:r>
            <a:r>
              <a:rPr lang="en-US" dirty="0">
                <a:latin typeface="Constantia" panose="02030602050306030303" pitchFamily="18" charset="0"/>
              </a:rPr>
              <a:t> It can, under selected specifications — but improvements in forecast accuracy are not consistently statistically significant.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latin typeface="Constantia" panose="02030602050306030303" pitchFamily="18" charset="0"/>
              </a:rPr>
              <a:t>Our </a:t>
            </a:r>
            <a:r>
              <a:rPr lang="en-US" dirty="0">
                <a:solidFill>
                  <a:srgbClr val="FF2F92"/>
                </a:solidFill>
                <a:latin typeface="Constantia" panose="02030602050306030303" pitchFamily="18" charset="0"/>
              </a:rPr>
              <a:t>contribution</a:t>
            </a:r>
            <a:r>
              <a:rPr lang="en-US" dirty="0">
                <a:latin typeface="Constantia" panose="02030602050306030303" pitchFamily="18" charset="0"/>
              </a:rPr>
              <a:t> is mainly methodological: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Propose FLAIC: incorporates separately forecast principal components into IComb framework, while maintaining coherence and without requiring additional underlying data.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Develop a hierarchy-adapted FLAP benchmark, incorporating both component and aggregation constraints.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endParaRPr lang="en-US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dirty="0">
                <a:solidFill>
                  <a:srgbClr val="FF2F92"/>
                </a:solidFill>
                <a:latin typeface="Constantia" panose="02030602050306030303" pitchFamily="18" charset="0"/>
              </a:rPr>
              <a:t>Implications</a:t>
            </a:r>
            <a:r>
              <a:rPr lang="en-US" dirty="0">
                <a:latin typeface="Constantia" panose="02030602050306030303" pitchFamily="18" charset="0"/>
              </a:rPr>
              <a:t> – established via empirical investigation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Low/moderate augmentation can improve accuracy of FLAIC relative to IComb, particularly under ridge; very high augmentation generally deteriorates FLAIC’s relative forecast performance.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r>
              <a:rPr lang="en-US" dirty="0">
                <a:latin typeface="Constantia" panose="02030602050306030303" pitchFamily="18" charset="0"/>
              </a:rPr>
              <a:t>Benefits of component augmentation depend on PCA specification, </a:t>
            </a:r>
            <a:r>
              <a:rPr lang="en-US" dirty="0" err="1">
                <a:latin typeface="Constantia" panose="02030602050306030303" pitchFamily="18" charset="0"/>
              </a:rPr>
              <a:t>regularisation</a:t>
            </a:r>
            <a:r>
              <a:rPr lang="en-US" dirty="0">
                <a:latin typeface="Constantia" panose="02030602050306030303" pitchFamily="18" charset="0"/>
              </a:rPr>
              <a:t>, and reconciliation method.</a:t>
            </a:r>
          </a:p>
          <a:p>
            <a:pPr marL="742950" lvl="1" indent="-285750">
              <a:buClr>
                <a:srgbClr val="0134FF"/>
              </a:buClr>
              <a:buFont typeface="Courier New" panose="02070309020205020404" pitchFamily="49" charset="0"/>
              <a:buChar char="o"/>
            </a:pPr>
            <a:endParaRPr lang="en-US" dirty="0">
              <a:latin typeface="Constantia" panose="02030602050306030303" pitchFamily="18" charset="0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320C657-05CA-D996-E212-7463FF366F32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Concluding remarks:</a:t>
            </a:r>
            <a:endParaRPr lang="en-US" sz="3000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781900-AEE7-70E4-167A-1A6A9901A14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19/20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Conclusion.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764673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976C3-013C-DEB8-726F-695A4F5BB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DAC7EEC-2211-4E6B-B8BC-892BB5852E9F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Limitations and future research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D85D4D-13EE-A3C0-EAB0-854070FBF353}"/>
              </a:ext>
            </a:extLst>
          </p:cNvPr>
          <p:cNvSpPr txBox="1"/>
          <p:nvPr/>
        </p:nvSpPr>
        <p:spPr>
          <a:xfrm>
            <a:off x="470859" y="1333148"/>
            <a:ext cx="4458813" cy="3539430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b="1" dirty="0">
                <a:latin typeface="Constantia" panose="02030602050306030303" pitchFamily="18" charset="0"/>
              </a:rPr>
              <a:t>Limitations of our research: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One empirical dataset (Australian domestic tourism) and ETS forecasts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Unclear when component forecasts offer genuinely useful complementary information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Predefined PCA specifications, component augmentation dimensions and one IComb implementation.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B0E15F6-8806-E6AA-4024-45DB94570208}"/>
              </a:ext>
            </a:extLst>
          </p:cNvPr>
          <p:cNvCxnSpPr>
            <a:cxnSpLocks/>
          </p:cNvCxnSpPr>
          <p:nvPr/>
        </p:nvCxnSpPr>
        <p:spPr>
          <a:xfrm>
            <a:off x="4577668" y="1521103"/>
            <a:ext cx="1151327" cy="0"/>
          </a:xfrm>
          <a:prstGeom prst="straightConnector1">
            <a:avLst/>
          </a:prstGeom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E5F4308-8D61-2AA1-ED63-99F4C5849CF7}"/>
              </a:ext>
            </a:extLst>
          </p:cNvPr>
          <p:cNvSpPr txBox="1"/>
          <p:nvPr/>
        </p:nvSpPr>
        <p:spPr>
          <a:xfrm>
            <a:off x="6594851" y="1209043"/>
            <a:ext cx="5126290" cy="4524315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b="1" dirty="0">
                <a:latin typeface="Constantia" panose="02030602050306030303" pitchFamily="18" charset="0"/>
              </a:rPr>
              <a:t>Identifying the conditions under which component augmentation provides a reliable improvement in forecast accuracy relative to IComb is an important direction for future research: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Monte Carlo simulations varying hierarchy structure, base forecasting models, common signals, forecast error correlation and dimensionality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Use different IComb framework variants</a:t>
            </a: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     (example, without </a:t>
            </a:r>
            <a:r>
              <a:rPr lang="en-US" sz="1600" dirty="0" err="1">
                <a:latin typeface="Constantia" panose="02030602050306030303" pitchFamily="18" charset="0"/>
              </a:rPr>
              <a:t>standardisation</a:t>
            </a:r>
            <a:r>
              <a:rPr lang="en-US" sz="1600" dirty="0">
                <a:latin typeface="Constantia" panose="02030602050306030303" pitchFamily="18" charset="0"/>
              </a:rPr>
              <a:t>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If best FLAIC variant is an empirical question, then may need data-driven selection for PCA specification and augmentation dimension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46D1A-46D6-C111-7486-7AC4193540BD}"/>
              </a:ext>
            </a:extLst>
          </p:cNvPr>
          <p:cNvSpPr txBox="1"/>
          <p:nvPr/>
        </p:nvSpPr>
        <p:spPr>
          <a:xfrm>
            <a:off x="10254343" y="6532055"/>
            <a:ext cx="18245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20/20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Future-Research.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7252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A60699E-EE2D-F1BF-042A-8146B6FF21A0}"/>
              </a:ext>
            </a:extLst>
          </p:cNvPr>
          <p:cNvSpPr txBox="1"/>
          <p:nvPr/>
        </p:nvSpPr>
        <p:spPr>
          <a:xfrm>
            <a:off x="2277498" y="1953417"/>
            <a:ext cx="7863055" cy="837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GB" sz="3600" b="1" i="1" dirty="0">
                <a:solidFill>
                  <a:srgbClr val="0046FF"/>
                </a:solidFill>
                <a:effectLst/>
                <a:latin typeface="Constantia" panose="02030602050306030303" pitchFamily="18" charset="0"/>
              </a:rPr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37533383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00AF4-02F2-F914-58D4-B142A77B1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815B757-36B8-293E-E618-FC59B6F8463E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650685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Lasso diagnostics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88410BF-C24B-1E4F-5BE1-1322EDEB5F0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0692E66-FA74-DAAD-8349-5A188FC245BD}"/>
              </a:ext>
            </a:extLst>
          </p:cNvPr>
          <p:cNvSpPr txBox="1"/>
          <p:nvPr/>
        </p:nvSpPr>
        <p:spPr>
          <a:xfrm>
            <a:off x="8215269" y="1109213"/>
            <a:ext cx="3783286" cy="3785652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Findings for component forecast retention: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PC1 and PC2 rarely retained while</a:t>
            </a: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     higher order PCs frequently kept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Component forecast retention is not accompanied by a comparable reduction in hierarchy base forecasts.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Retention does not consistently translate into accuracy gains.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B7FEEA-5C4C-3674-1F03-C2DDEE45ED6D}"/>
              </a:ext>
            </a:extLst>
          </p:cNvPr>
          <p:cNvSpPr txBox="1"/>
          <p:nvPr/>
        </p:nvSpPr>
        <p:spPr>
          <a:xfrm>
            <a:off x="424207" y="3394629"/>
            <a:ext cx="73623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i="1" dirty="0">
                <a:latin typeface="Constantia" panose="02030602050306030303" pitchFamily="18" charset="0"/>
              </a:rPr>
              <a:t>Figure: </a:t>
            </a:r>
            <a:r>
              <a:rPr lang="en-US" sz="1200" dirty="0">
                <a:latin typeface="Constantia" panose="02030602050306030303" pitchFamily="18" charset="0"/>
              </a:rPr>
              <a:t>Cells report the percentage of 144 rolling forecast origins at which each PC forecast is retained by FLAIC-L. Retention means at least one non-zero coefficient across the 112 response equations.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7C7F58F6-B74A-928B-EAE0-667F166DC55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4590" b="15551"/>
          <a:stretch>
            <a:fillRect/>
          </a:stretch>
        </p:blipFill>
        <p:spPr>
          <a:xfrm>
            <a:off x="99958" y="1037088"/>
            <a:ext cx="7772400" cy="22718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45DF1D-DC2D-A03C-C28E-37F531487451}"/>
                  </a:ext>
                </a:extLst>
              </p:cNvPr>
              <p:cNvSpPr txBox="1"/>
              <p:nvPr/>
            </p:nvSpPr>
            <p:spPr>
              <a:xfrm>
                <a:off x="403973" y="5667023"/>
                <a:ext cx="7362334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400" b="1" i="1" dirty="0">
                    <a:latin typeface="Constantia" panose="02030602050306030303" pitchFamily="18" charset="0"/>
                  </a:rPr>
                  <a:t>Example: </a:t>
                </a:r>
                <a:r>
                  <a:rPr lang="en-US" sz="1400" dirty="0">
                    <a:latin typeface="Constantia" panose="02030602050306030303" pitchFamily="18" charset="0"/>
                  </a:rPr>
                  <a:t>At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1400" i="0" dirty="0" smtClean="0">
                        <a:latin typeface="Cambria Math" panose="02040503050406030204" pitchFamily="18" charset="0"/>
                      </a:rPr>
                      <m:t>=20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, </a:t>
                </a:r>
                <a:r>
                  <a:rPr lang="en-US" sz="1400" dirty="0" err="1">
                    <a:latin typeface="Constantia" panose="02030602050306030303" pitchFamily="18" charset="0"/>
                  </a:rPr>
                  <a:t>centred</a:t>
                </a:r>
                <a:r>
                  <a:rPr lang="en-US" sz="1400" dirty="0">
                    <a:latin typeface="Constantia" panose="02030602050306030303" pitchFamily="18" charset="0"/>
                  </a:rPr>
                  <a:t> and unscaled PCA</a:t>
                </a:r>
              </a:p>
              <a:p>
                <a:endParaRPr lang="en-US" sz="1400" dirty="0">
                  <a:latin typeface="Constantia" panose="02030602050306030303" pitchFamily="18" charset="0"/>
                </a:endParaRPr>
              </a:p>
              <a:p>
                <a:r>
                  <a:rPr lang="en-US" sz="1300" dirty="0">
                    <a:latin typeface="Constantia" panose="02030602050306030303" pitchFamily="18" charset="0"/>
                  </a:rPr>
                  <a:t>*Note: IComb-L retained a median of 52 of 112 hierarchy base forecasts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545DF1D-DC2D-A03C-C28E-37F5314874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73" y="5667023"/>
                <a:ext cx="7362334" cy="738664"/>
              </a:xfrm>
              <a:prstGeom prst="rect">
                <a:avLst/>
              </a:prstGeom>
              <a:blipFill>
                <a:blip r:embed="rId3"/>
                <a:stretch>
                  <a:fillRect l="-172" t="-1695" b="-33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52AEA-B9D0-3D07-ABF3-981790D4CE2C}"/>
                  </a:ext>
                </a:extLst>
              </p:cNvPr>
              <p:cNvSpPr txBox="1"/>
              <p:nvPr/>
            </p:nvSpPr>
            <p:spPr>
              <a:xfrm>
                <a:off x="4156435" y="4305675"/>
                <a:ext cx="1939565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400" dirty="0" smtClean="0"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1400" dirty="0">
                    <a:latin typeface="Constantia" panose="02030602050306030303" pitchFamily="18" charset="0"/>
                  </a:rPr>
                  <a:t> hierarchy base forecasts retained relative to IComb-L median:</a:t>
                </a:r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B152AEA-B9D0-3D07-ABF3-981790D4CE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6435" y="4305675"/>
                <a:ext cx="1939565" cy="954107"/>
              </a:xfrm>
              <a:prstGeom prst="rect">
                <a:avLst/>
              </a:prstGeom>
              <a:blipFill>
                <a:blip r:embed="rId4"/>
                <a:stretch>
                  <a:fillRect l="-1299" t="-1299" b="-64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2F766CA-FB48-38D1-0DB2-99F1D87181C5}"/>
              </a:ext>
            </a:extLst>
          </p:cNvPr>
          <p:cNvSpPr txBox="1"/>
          <p:nvPr/>
        </p:nvSpPr>
        <p:spPr>
          <a:xfrm>
            <a:off x="292231" y="4305675"/>
            <a:ext cx="193956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latin typeface="Constantia" panose="02030602050306030303" pitchFamily="18" charset="0"/>
              </a:rPr>
              <a:t>Component forecasts retained (median) by FLAIC-L:</a:t>
            </a:r>
          </a:p>
          <a:p>
            <a:r>
              <a:rPr lang="en-US" sz="1400" dirty="0">
                <a:latin typeface="Constantia" panose="02030602050306030303" pitchFamily="18" charset="0"/>
              </a:rPr>
              <a:t>(number, %)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809CB4B-AA98-6490-5C00-F78D0C8D4C17}"/>
              </a:ext>
            </a:extLst>
          </p:cNvPr>
          <p:cNvSpPr txBox="1"/>
          <p:nvPr/>
        </p:nvSpPr>
        <p:spPr>
          <a:xfrm>
            <a:off x="2657585" y="4469271"/>
            <a:ext cx="8849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16 / 20</a:t>
            </a:r>
          </a:p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(80%)</a:t>
            </a:r>
            <a:endParaRPr lang="en-US" b="1" dirty="0">
              <a:solidFill>
                <a:srgbClr val="24827F"/>
              </a:solidFill>
              <a:latin typeface="Constantia" panose="02030602050306030303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1B8F24-8CDA-B1B8-3B3D-17CF6E685BB5}"/>
              </a:ext>
            </a:extLst>
          </p:cNvPr>
          <p:cNvSpPr txBox="1"/>
          <p:nvPr/>
        </p:nvSpPr>
        <p:spPr>
          <a:xfrm>
            <a:off x="6438911" y="4515437"/>
            <a:ext cx="8849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b="1" dirty="0">
                <a:solidFill>
                  <a:srgbClr val="24827F"/>
                </a:solidFill>
                <a:latin typeface="Constantia" panose="02030602050306030303" pitchFamily="18" charset="0"/>
              </a:rPr>
              <a:t>– 2</a:t>
            </a:r>
            <a:endParaRPr lang="en-US" b="1" dirty="0">
              <a:solidFill>
                <a:srgbClr val="24827F"/>
              </a:solidFill>
              <a:latin typeface="Constantia" panose="02030602050306030303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E96F28-C58F-8B7D-1B03-26622F3B458A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6344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99472-70E4-E38D-C729-C446B6D59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5EF02AD-F348-BF5E-BD3F-95C8F1C777A0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7A0558-C22B-9B8E-3A90-3AA90499049F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20/22 </a:t>
            </a:r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Constantia" panose="02030602050306030303" pitchFamily="18" charset="0"/>
              </a:rPr>
              <a:t>| Part 2.4.9.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19CAC8C-C760-2C0C-D896-389E2901F3D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518DB-0307-B69D-B365-9EFD5D673DC7}"/>
                  </a:ext>
                </a:extLst>
              </p:cNvPr>
              <p:cNvSpPr txBox="1"/>
              <p:nvPr/>
            </p:nvSpPr>
            <p:spPr>
              <a:xfrm>
                <a:off x="525511" y="1011245"/>
                <a:ext cx="11413059" cy="337284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Series at hierarchy levels differ substantially in scale.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dirty="0">
                    <a:latin typeface="Constantia" panose="02030602050306030303" pitchFamily="18" charset="0"/>
                  </a:rPr>
                  <a:t>Compute mean squared </a:t>
                </a:r>
                <a:r>
                  <a:rPr lang="en-US" i="1" dirty="0">
                    <a:latin typeface="Constantia" panose="02030602050306030303" pitchFamily="18" charset="0"/>
                  </a:rPr>
                  <a:t>scaled</a:t>
                </a:r>
                <a:r>
                  <a:rPr lang="en-US" dirty="0">
                    <a:latin typeface="Constantia" panose="02030602050306030303" pitchFamily="18" charset="0"/>
                  </a:rPr>
                  <a:t> forecast error (MSSFE):</a:t>
                </a:r>
              </a:p>
              <a:p>
                <a:pPr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dirty="0">
                              <a:latin typeface="Cambria Math" panose="02040503050406030204" pitchFamily="18" charset="0"/>
                            </a:rPr>
                            <m:t>MSSFE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en-US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f>
                                <m:f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Sup>
                                            <m:sSubSupPr>
                                              <m:ctrlP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SupPr>
                                            <m:e>
                                              <m:acc>
                                                <m:accPr>
                                                  <m:chr m:val="˜"/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acc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𝑒</m:t>
                                                  </m:r>
                                                </m:e>
                                              </m:acc>
                                            </m:e>
                                            <m:sub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h</m:t>
                                              </m:r>
                                              <m:r>
                                                <a:rPr lang="en-US" dirty="0">
                                                  <a:latin typeface="Cambria Math" panose="02040503050406030204" pitchFamily="18" charset="0"/>
                                                </a:rPr>
                                                <m:t>,</m:t>
                                              </m:r>
                                              <m:r>
                                                <a:rPr lang="en-US" i="1" dirty="0"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  <m:sup>
                                              <m:d>
                                                <m:dPr>
                                                  <m:ctrlP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</m:ctrlPr>
                                                </m:dPr>
                                                <m:e>
                                                  <m:r>
                                                    <a:rPr lang="en-US" i="1" dirty="0">
                                                      <a:latin typeface="Cambria Math" panose="02040503050406030204" pitchFamily="18" charset="0"/>
                                                    </a:rPr>
                                                    <m:t>𝑚</m:t>
                                                  </m:r>
                                                </m:e>
                                              </m:d>
                                            </m:sup>
                                          </m:sSubSup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𝑑</m:t>
                                      </m:r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nary>
                        </m:e>
                      </m:nary>
                    </m:oMath>
                  </m:oMathPara>
                </a14:m>
                <a:endParaRPr lang="en-US" dirty="0"/>
              </a:p>
              <a:p>
                <a:pPr>
                  <a:buClr>
                    <a:srgbClr val="0134FF"/>
                  </a:buClr>
                </a:pPr>
                <a:endParaRPr lang="en-US" dirty="0">
                  <a:latin typeface="Constantia" panose="02030602050306030303" pitchFamily="18" charset="0"/>
                </a:endParaRPr>
              </a:p>
              <a:p>
                <a:pPr>
                  <a:buClr>
                    <a:srgbClr val="0134FF"/>
                  </a:buClr>
                </a:pPr>
                <a:r>
                  <a:rPr lang="en-US" dirty="0">
                    <a:latin typeface="Constantia" panose="02030602050306030303" pitchFamily="18" charset="0"/>
                  </a:rPr>
                  <a:t>      using two scaling denominators from 120-month training window:</a:t>
                </a:r>
              </a:p>
              <a:p>
                <a:pPr>
                  <a:buClr>
                    <a:srgbClr val="0134FF"/>
                  </a:buClr>
                </a:pPr>
                <a:endParaRPr lang="en-US" sz="1100" dirty="0">
                  <a:latin typeface="Constantia" panose="02030602050306030303" pitchFamily="18" charset="0"/>
                </a:endParaRPr>
              </a:p>
              <a:p>
                <a:pPr marL="1257300" lvl="2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Seasonal naïve forecast: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𝑆𝑁</m:t>
                            </m:r>
                          </m:e>
                        </m:d>
                      </m:sup>
                    </m:sSubSup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108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−107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−12,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dirty="0">
                    <a:latin typeface="Constantia" panose="02030602050306030303" pitchFamily="18" charset="0"/>
                  </a:rPr>
                  <a:t>  </a:t>
                </a:r>
              </a:p>
              <a:p>
                <a:pPr marL="1257300" lvl="2" indent="-342900">
                  <a:buClr>
                    <a:srgbClr val="0134FF"/>
                  </a:buClr>
                  <a:buFont typeface="+mj-lt"/>
                  <a:buAutoNum type="arabicPeriod"/>
                </a:pPr>
                <a:r>
                  <a:rPr lang="en-US" dirty="0">
                    <a:latin typeface="Constantia" panose="02030602050306030303" pitchFamily="18" charset="0"/>
                  </a:rPr>
                  <a:t>Variance </a:t>
                </a:r>
                <a:r>
                  <a:rPr lang="en-US" dirty="0" err="1">
                    <a:latin typeface="Constantia" panose="02030602050306030303" pitchFamily="18" charset="0"/>
                  </a:rPr>
                  <a:t>standardised</a:t>
                </a:r>
                <a:r>
                  <a:rPr lang="en-US" dirty="0">
                    <a:latin typeface="Constantia" panose="02030602050306030303" pitchFamily="18" charset="0"/>
                  </a:rPr>
                  <a:t>:  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sup>
                    </m:sSub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120</m:t>
                        </m:r>
                      </m:den>
                    </m:f>
                    <m:nary>
                      <m:naryPr>
                        <m:chr m:val="∑"/>
                        <m:limLoc m:val="undOvr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i="0" dirty="0">
                            <a:latin typeface="Cambria Math" panose="02040503050406030204" pitchFamily="18" charset="0"/>
                          </a:rPr>
                          <m:t>−119</m:t>
                        </m:r>
                      </m:sub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i="0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̅"/>
                                        <m:ctrlP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i="1" dirty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0" dirty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i="0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dirty="0">
                  <a:latin typeface="Constantia" panose="02030602050306030303" pitchFamily="18" charset="0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F0518DB-0307-B69D-B365-9EFD5D673D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511" y="1011245"/>
                <a:ext cx="11413059" cy="3372846"/>
              </a:xfrm>
              <a:prstGeom prst="rect">
                <a:avLst/>
              </a:prstGeom>
              <a:blipFill>
                <a:blip r:embed="rId2"/>
                <a:stretch>
                  <a:fillRect l="-334" t="-749" b="-16105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A076C5A-3295-3986-DB80-70F8AE7DE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1150439"/>
                  </p:ext>
                </p:extLst>
              </p:nvPr>
            </p:nvGraphicFramePr>
            <p:xfrm>
              <a:off x="613666" y="4642733"/>
              <a:ext cx="10515600" cy="1630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958334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3041780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3515486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Finding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Raw error 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Both scaled-errors measures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Low/moderate augmentation can help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 </a:t>
                          </a:r>
                        </a:p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(but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l-GR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oMath>
                          </a14:m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PRIAL smaller magnitude)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High augmentation generally hurts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Best-performing FLAIC variant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Lasso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Ridge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Table 8">
                <a:extLst>
                  <a:ext uri="{FF2B5EF4-FFF2-40B4-BE49-F238E27FC236}">
                    <a16:creationId xmlns:a16="http://schemas.microsoft.com/office/drawing/2014/main" id="{3A076C5A-3295-3986-DB80-70F8AE7DE75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21150439"/>
                  </p:ext>
                </p:extLst>
              </p:nvPr>
            </p:nvGraphicFramePr>
            <p:xfrm>
              <a:off x="613666" y="4642733"/>
              <a:ext cx="10515600" cy="1630680"/>
            </p:xfrm>
            <a:graphic>
              <a:graphicData uri="http://schemas.openxmlformats.org/drawingml/2006/table">
                <a:tbl>
                  <a:tblPr firstRow="1" bandRow="1">
                    <a:tableStyleId>{2D5ABB26-0587-4C30-8999-92F81FD0307C}</a:tableStyleId>
                  </a:tblPr>
                  <a:tblGrid>
                    <a:gridCol w="3958334">
                      <a:extLst>
                        <a:ext uri="{9D8B030D-6E8A-4147-A177-3AD203B41FA5}">
                          <a16:colId xmlns:a16="http://schemas.microsoft.com/office/drawing/2014/main" val="3050927870"/>
                        </a:ext>
                      </a:extLst>
                    </a:gridCol>
                    <a:gridCol w="3041780">
                      <a:extLst>
                        <a:ext uri="{9D8B030D-6E8A-4147-A177-3AD203B41FA5}">
                          <a16:colId xmlns:a16="http://schemas.microsoft.com/office/drawing/2014/main" val="788274634"/>
                        </a:ext>
                      </a:extLst>
                    </a:gridCol>
                    <a:gridCol w="3515486">
                      <a:extLst>
                        <a:ext uri="{9D8B030D-6E8A-4147-A177-3AD203B41FA5}">
                          <a16:colId xmlns:a16="http://schemas.microsoft.com/office/drawing/2014/main" val="170448095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Finding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Raw error measure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Both scaled-errors measures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766311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Low/moderate augmentation can help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99639" t="-73171" r="-361" b="-15122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0228887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High augmentation generally hurts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Yes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6795834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400" b="1" i="0" dirty="0">
                              <a:latin typeface="Constantia" panose="02030602050306030303" pitchFamily="18" charset="0"/>
                            </a:rPr>
                            <a:t>Best-performing FLAIC variant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Lasso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GB" sz="1400" b="0" i="0" dirty="0">
                              <a:latin typeface="Constantia" panose="02030602050306030303" pitchFamily="18" charset="0"/>
                            </a:rPr>
                            <a:t>Ridge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436223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61577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D8A5F-E902-DF6A-43D9-329248A80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305F28D1-4870-1BE3-4167-FB9D00EC8001}"/>
              </a:ext>
            </a:extLst>
          </p:cNvPr>
          <p:cNvSpPr txBox="1">
            <a:spLocks/>
          </p:cNvSpPr>
          <p:nvPr/>
        </p:nvSpPr>
        <p:spPr>
          <a:xfrm>
            <a:off x="153862" y="187445"/>
            <a:ext cx="11667350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>
                <a:solidFill>
                  <a:srgbClr val="0134FF"/>
                </a:solidFill>
                <a:latin typeface="Constantia" panose="02030602050306030303" pitchFamily="18" charset="0"/>
              </a:rPr>
              <a:t>2.0 Empirical Investigation</a:t>
            </a:r>
            <a:endParaRPr lang="en-US" sz="2800" i="1" dirty="0">
              <a:solidFill>
                <a:srgbClr val="0134FF"/>
              </a:solidFill>
              <a:latin typeface="Constantia" panose="02030602050306030303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850CE2-FDD9-0A3F-BDD0-A07E569CF12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8BDECD-A2A2-EED1-FF94-58A851533CFA}"/>
              </a:ext>
            </a:extLst>
          </p:cNvPr>
          <p:cNvGraphicFramePr>
            <a:graphicFrameLocks noGrp="1"/>
          </p:cNvGraphicFramePr>
          <p:nvPr/>
        </p:nvGraphicFramePr>
        <p:xfrm>
          <a:off x="4567810" y="300958"/>
          <a:ext cx="751106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2.1 Data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Constantia" panose="02030602050306030303" pitchFamily="18" charset="0"/>
                        </a:rPr>
                        <a:t>Evaluation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56E9A3F5-1299-208A-8A4D-BFE9BA9F37CF}"/>
              </a:ext>
            </a:extLst>
          </p:cNvPr>
          <p:cNvSpPr txBox="1"/>
          <p:nvPr/>
        </p:nvSpPr>
        <p:spPr>
          <a:xfrm>
            <a:off x="10998368" y="5020056"/>
            <a:ext cx="942680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Figure.</a:t>
            </a:r>
            <a:r>
              <a:rPr lang="en-US" sz="1100" i="1" dirty="0">
                <a:latin typeface="Constantia" panose="02030602050306030303" pitchFamily="18" charset="0"/>
              </a:rPr>
              <a:t> Australian domestic tourism series and seasonal profiles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EF00F99-89F7-7B28-B7DF-86F69DB1D2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0952" y="747603"/>
            <a:ext cx="5300656" cy="587778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3E6603AD-AB7A-02D3-5080-1C3AE9FE73A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93571" y="747603"/>
            <a:ext cx="5300656" cy="5877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9703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525DB-BA9B-B780-1ABC-4A84479F9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8671C53-7D3A-C05B-AEB6-473F9BEEBFC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68671C53-7D3A-C05B-AEB6-473F9BEEBF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4D7A557-48A5-8CF0-74E8-1F16A60D33A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500D82-D35A-18BC-FC2B-AA0BB32C0277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7500D82-D35A-18BC-FC2B-AA0BB32C02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19FC90-6E48-698B-BD1B-C116EFA8D359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using </a:t>
                </a:r>
                <a:r>
                  <a:rPr lang="en-US" sz="1100" b="1" dirty="0" err="1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centred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, scaled PCA</a:t>
                </a:r>
                <a:r>
                  <a:rPr lang="en-US" sz="1100" dirty="0">
                    <a:latin typeface="Constantia" panose="02030602050306030303" pitchFamily="18" charset="0"/>
                  </a:rPr>
                  <a:t>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619FC90-6E48-698B-BD1B-C116EFA8D3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4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Graphic 6">
            <a:extLst>
              <a:ext uri="{FF2B5EF4-FFF2-40B4-BE49-F238E27FC236}">
                <a16:creationId xmlns:a16="http://schemas.microsoft.com/office/drawing/2014/main" id="{FD69ACE9-F079-DB3A-3199-A4A5543D9B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18330" y="898889"/>
            <a:ext cx="7772400" cy="50602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3F605D-F23F-1DC0-11AC-D477AE0B78F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5245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AB4AF-56CE-D794-7FC3-5BE0C1ED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E6E4579-904F-B55B-AD9B-2D112939F38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FE6E4579-904F-B55B-AD9B-2D112939F3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5ACB36-6312-4D47-0B9F-26FAB33FFBB0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F8A96B-0551-C5D6-EB79-B2AE0C76BA01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CF8A96B-0551-C5D6-EB79-B2AE0C76BA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025CC4C1-650C-0687-D723-ACC939BC1052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7F47705C-7782-E2AB-5DCF-D463BF5216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8330" y="898888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ADDFC-421E-7ED5-91D9-565DF1D1E6AD}"/>
                  </a:ext>
                </a:extLst>
              </p:cNvPr>
              <p:cNvSpPr txBox="1"/>
              <p:nvPr/>
            </p:nvSpPr>
            <p:spPr>
              <a:xfrm>
                <a:off x="218329" y="6018949"/>
                <a:ext cx="830051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using uncentred, unscaled PCA</a:t>
                </a:r>
                <a:r>
                  <a:rPr lang="en-US" sz="1100" dirty="0">
                    <a:latin typeface="Constantia" panose="02030602050306030303" pitchFamily="18" charset="0"/>
                  </a:rPr>
                  <a:t>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81ADDFC-421E-7ED5-91D9-565DF1D1E6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29" y="6018949"/>
                <a:ext cx="8300519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332163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467E56-09CD-67F6-900D-C75F7895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DD369DE-05C9-CC8C-6A04-E4E8B9F5464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</p:spPr>
            <p:txBody>
              <a:bodyPr vert="horz" wrap="square" lIns="91440" tIns="45720" rIns="91440" bIns="45720" rtlCol="0" anchor="b" anchorCtr="0">
                <a:noAutofit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2.4.4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600" i="1" dirty="0">
                        <a:solidFill>
                          <a:srgbClr val="0134FF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 PRIAL and PRIAL </a:t>
                </a:r>
              </a:p>
              <a:p>
                <a:r>
                  <a:rPr lang="en-US" sz="2600" i="1" dirty="0">
                    <a:solidFill>
                      <a:srgbClr val="0134FF"/>
                    </a:solidFill>
                    <a:latin typeface="Constantia" panose="02030602050306030303" pitchFamily="18" charset="0"/>
                  </a:rPr>
                  <a:t>by hierarchy level</a:t>
                </a:r>
              </a:p>
            </p:txBody>
          </p:sp>
        </mc:Choice>
        <mc:Fallback>
          <p:sp>
            <p:nvSpPr>
              <p:cNvPr id="3" name="Title 1">
                <a:extLst>
                  <a:ext uri="{FF2B5EF4-FFF2-40B4-BE49-F238E27FC236}">
                    <a16:creationId xmlns:a16="http://schemas.microsoft.com/office/drawing/2014/main" id="{1DD369DE-05C9-CC8C-6A04-E4E8B9F54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402" y="48946"/>
                <a:ext cx="11667350" cy="790104"/>
              </a:xfrm>
              <a:prstGeom prst="rect">
                <a:avLst/>
              </a:prstGeom>
              <a:blipFill>
                <a:blip r:embed="rId2"/>
                <a:stretch>
                  <a:fillRect l="-979" t="-12500" b="-1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E7092438-09FA-464E-4E6A-340FEB0AFA72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5F034B-7297-3308-894D-44823C239679}"/>
                  </a:ext>
                </a:extLst>
              </p:cNvPr>
              <p:cNvSpPr txBox="1"/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noFill/>
              <a:ln w="12700"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Heterogeneous effects across hierarchy levels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ü"/>
                </a:pPr>
                <a:r>
                  <a:rPr lang="en-US" sz="1600" dirty="0">
                    <a:latin typeface="Cambria Math" panose="02040503050406030204" pitchFamily="18" charset="0"/>
                  </a:rPr>
                  <a:t>States tend to benefit more</a:t>
                </a: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Higher dimensional component augmentation mostly deteriorates relative forecast performance</a:t>
                </a: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endParaRPr lang="en-US" sz="1600" dirty="0">
                  <a:latin typeface="Constantia" panose="02030602050306030303" pitchFamily="18" charset="0"/>
                </a:endParaRPr>
              </a:p>
              <a:p>
                <a:pPr marL="285750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Relative to base forecast (PRIAL):</a:t>
                </a:r>
              </a:p>
              <a:p>
                <a:pPr marL="742950" lvl="1" indent="-285750">
                  <a:lnSpc>
                    <a:spcPts val="266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US" sz="1600" dirty="0">
                    <a:latin typeface="Constantia" panose="02030602050306030303" pitchFamily="18" charset="0"/>
                  </a:rPr>
                  <a:t>Best PCA specification,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1600" dirty="0">
                    <a:latin typeface="Constantia" panose="02030602050306030303" pitchFamily="18" charset="0"/>
                  </a:rPr>
                  <a:t>, ridge/lasso vary by level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A5F034B-7297-3308-894D-44823C2396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23" y="1162773"/>
                <a:ext cx="3783286" cy="4161076"/>
              </a:xfrm>
              <a:prstGeom prst="rect">
                <a:avLst/>
              </a:prstGeom>
              <a:blipFill>
                <a:blip r:embed="rId3"/>
                <a:stretch>
                  <a:fillRect l="-669" t="-304" b="-608"/>
                </a:stretch>
              </a:blipFill>
              <a:ln w="1270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39744241-A15B-89F6-E70B-B5B15AA14749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E81561F-C3E8-4314-22A0-8EBECFB3D7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031" y="839050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1079E-AC64-42E4-B803-FD2E89100A73}"/>
                  </a:ext>
                </a:extLst>
              </p:cNvPr>
              <p:cNvSpPr txBox="1"/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</a:t>
                </a:r>
                <a:r>
                  <a:rPr lang="en-US" sz="1100" dirty="0">
                    <a:latin typeface="Constantia" panose="0203060205030603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100" dirty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𝑃𝑅𝐼𝐴𝐿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: FLAIC relative to matched IComb (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using uncentred, scaled PCA</a:t>
                </a:r>
                <a:r>
                  <a:rPr lang="en-US" sz="1100" dirty="0">
                    <a:latin typeface="Constantia" panose="02030602050306030303" pitchFamily="18" charset="0"/>
                  </a:rPr>
                  <a:t>), computed for each hierarchy level. FLAIC-S and FLAIC-L are compared against matching IComb-S and IComb-L, and positive values </a:t>
                </a:r>
                <a:r>
                  <a:rPr lang="en-US" sz="1100" dirty="0" err="1">
                    <a:latin typeface="Constantia" panose="02030602050306030303" pitchFamily="18" charset="0"/>
                  </a:rPr>
                  <a:t>favour</a:t>
                </a:r>
                <a:r>
                  <a:rPr lang="en-US" sz="1100" dirty="0">
                    <a:latin typeface="Constantia" panose="02030602050306030303" pitchFamily="18" charset="0"/>
                  </a:rPr>
                  <a:t> FLAIC over matched IComb.</a:t>
                </a: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AE1079E-AC64-42E4-B803-FD2E89100A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30" y="6018949"/>
                <a:ext cx="7982993" cy="430887"/>
              </a:xfrm>
              <a:prstGeom prst="rect">
                <a:avLst/>
              </a:prstGeom>
              <a:blipFill>
                <a:blip r:embed="rId5"/>
                <a:stretch>
                  <a:fillRect b="-1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1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370C-45CC-3C1C-7332-058249301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EB4424-F691-6CA2-6FEF-71F7E4E3F701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A45A43E-D876-63B2-8C6C-52BE69D8FD2C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7FC3EEC8-D2DF-5EC2-60A6-AE1CDC44E512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37BD7C-E833-A8E6-5715-2A7424D64BA6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37BD7C-E833-A8E6-5715-2A7424D64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Graphic 7">
            <a:extLst>
              <a:ext uri="{FF2B5EF4-FFF2-40B4-BE49-F238E27FC236}">
                <a16:creationId xmlns:a16="http://schemas.microsoft.com/office/drawing/2014/main" id="{E9D04B68-A467-733F-F560-81878E4C140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339" y="975256"/>
            <a:ext cx="7772400" cy="50602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0F6A4F-6E17-5A60-ED5D-5AE5C14AD20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BA29B-6C2C-A6A8-9A11-C2EB0E71A7C9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b="1" dirty="0" err="1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centred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, scaled PCA specification</a:t>
                </a:r>
                <a:r>
                  <a:rPr lang="en-US" sz="11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4EBA29B-6C2C-A6A8-9A11-C2EB0E71A7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95077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976E-34BF-FB59-4719-C51A15A8E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AEBBE99-A6EA-09CB-BFAD-D02183B7B8E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7BC8BB4-DDFD-F3E2-A973-52CB13ABBDB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36A6B649-7061-F06D-9F5A-0E4BF7E524FD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5123A6-1A59-A7CC-3243-CDBA03AA29A5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55123A6-1A59-A7CC-3243-CDBA03AA2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0DBC28C4-0A9C-28E8-AC79-EFC21A87102E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C51B2ED-6D11-4AD4-3432-E2FC63A61C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88" y="913698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741B0-8ACB-4CB9-3EFE-AA8174F675D9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uncentred, unscaled PCA specification</a:t>
                </a:r>
                <a:r>
                  <a:rPr lang="en-US" sz="11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21741B0-8ACB-4CB9-3EFE-AA8174F675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36786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F5A29A-DCC8-3565-390C-E55B6FCF4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48E0547-EA34-344C-E2FB-3349C0CDE42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790104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2.4.5  Statistical significance</a:t>
            </a:r>
          </a:p>
          <a:p>
            <a:r>
              <a:rPr lang="en-US" sz="2600" i="1" dirty="0" err="1">
                <a:solidFill>
                  <a:srgbClr val="0134FF"/>
                </a:solidFill>
                <a:latin typeface="Constantia" panose="02030602050306030303" pitchFamily="18" charset="0"/>
              </a:rPr>
              <a:t>visualised</a:t>
            </a:r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 via MCB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220D61C-9440-4E9A-14B0-621AFAD05D75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A99C5F6D-C166-2906-02A9-E765B0E9966C}"/>
              </a:ext>
            </a:extLst>
          </p:cNvPr>
          <p:cNvSpPr txBox="1"/>
          <p:nvPr/>
        </p:nvSpPr>
        <p:spPr>
          <a:xfrm>
            <a:off x="8205843" y="1439151"/>
            <a:ext cx="3783286" cy="4893647"/>
          </a:xfrm>
          <a:prstGeom prst="rect">
            <a:avLst/>
          </a:prstGeom>
          <a:noFill/>
          <a:ln w="12700">
            <a:noFill/>
          </a:ln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0134FF"/>
              </a:buClr>
              <a:buFont typeface="Arial" panose="020B0604020202020204" pitchFamily="34" charset="0"/>
              <a:buChar char="•"/>
            </a:pPr>
            <a:r>
              <a:rPr lang="en-US" sz="1600" dirty="0">
                <a:latin typeface="Constantia" panose="02030602050306030303" pitchFamily="18" charset="0"/>
              </a:rPr>
              <a:t>Rank each series across methods to get a distribution of ranks for each method. Each method is </a:t>
            </a:r>
            <a:r>
              <a:rPr lang="en-US" sz="1600" dirty="0" err="1">
                <a:latin typeface="Constantia" panose="02030602050306030303" pitchFamily="18" charset="0"/>
              </a:rPr>
              <a:t>summarised</a:t>
            </a:r>
            <a:r>
              <a:rPr lang="en-US" sz="1600" dirty="0">
                <a:latin typeface="Constantia" panose="02030602050306030303" pitchFamily="18" charset="0"/>
              </a:rPr>
              <a:t> by its average rank across series.</a:t>
            </a:r>
          </a:p>
          <a:p>
            <a:pPr marL="269875" indent="-269875">
              <a:buClr>
                <a:srgbClr val="0134FF"/>
              </a:buClr>
            </a:pPr>
            <a:r>
              <a:rPr lang="en-US" sz="1200" dirty="0">
                <a:latin typeface="Constantia" panose="02030602050306030303" pitchFamily="18" charset="0"/>
              </a:rPr>
              <a:t>      (Friedman 1937, 1939; </a:t>
            </a:r>
            <a:r>
              <a:rPr lang="en-US" sz="1200" dirty="0" err="1">
                <a:latin typeface="Constantia" panose="02030602050306030303" pitchFamily="18" charset="0"/>
              </a:rPr>
              <a:t>Nemenyi</a:t>
            </a:r>
            <a:r>
              <a:rPr lang="en-US" sz="1200" dirty="0">
                <a:latin typeface="Constantia" panose="02030602050306030303" pitchFamily="18" charset="0"/>
              </a:rPr>
              <a:t> 1963; Hollander et al. 2013; Koning et al. 2005)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>
              <a:buClr>
                <a:srgbClr val="0134FF"/>
              </a:buClr>
            </a:pPr>
            <a:r>
              <a:rPr lang="en-US" sz="1600" dirty="0">
                <a:latin typeface="Constantia" panose="02030602050306030303" pitchFamily="18" charset="0"/>
              </a:rPr>
              <a:t>Considering other 3 PCA specs too:</a:t>
            </a:r>
          </a:p>
          <a:p>
            <a:pPr>
              <a:buClr>
                <a:srgbClr val="0134FF"/>
              </a:buClr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Best-ranked method tends to be low augmentation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Limited evidence that improvement in forecast accuracy under FLAIC is statistically significant (especially lasso)</a:t>
            </a: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endParaRPr lang="en-US" sz="1600" dirty="0">
              <a:latin typeface="Constantia" panose="02030602050306030303" pitchFamily="18" charset="0"/>
            </a:endParaRPr>
          </a:p>
          <a:p>
            <a:pPr marL="285750" indent="-285750">
              <a:buClr>
                <a:srgbClr val="0134FF"/>
              </a:buClr>
              <a:buFont typeface="Wingdings" pitchFamily="2" charset="2"/>
              <a:buChar char="§"/>
            </a:pPr>
            <a:r>
              <a:rPr lang="en-US" sz="1600" dirty="0">
                <a:latin typeface="Constantia" panose="02030602050306030303" pitchFamily="18" charset="0"/>
              </a:rPr>
              <a:t>High-dimensional component augmentation typically statistically significantly worse (especially ridge)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15B340-31B6-A690-CD7C-BCD329AEC2BA}"/>
                  </a:ext>
                </a:extLst>
              </p:cNvPr>
              <p:cNvSpPr txBox="1"/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1800" dirty="0">
                              <a:latin typeface="Cambria Math" panose="02040503050406030204" pitchFamily="18" charset="0"/>
                            </a:rPr>
                            <m:t>MSFE</m:t>
                          </m:r>
                        </m:e>
                        <m:sub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sz="180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800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𝜏</m:t>
                          </m:r>
                          <m:r>
                            <a:rPr lang="en-US" dirty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𝒪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sub>
                        <m:sup/>
                        <m:e>
                          <m:sSup>
                            <m:sSup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˜"/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𝑒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US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i="1" dirty="0">
                                              <a:latin typeface="Cambria Math" panose="02040503050406030204" pitchFamily="18" charset="0"/>
                                            </a:rPr>
                                            <m:t>𝑚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  <m:sup>
                              <m:r>
                                <a:rPr lang="en-US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F15B340-31B6-A690-CD7C-BCD329AEC2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7312" y="555511"/>
                <a:ext cx="3660349" cy="799642"/>
              </a:xfrm>
              <a:prstGeom prst="rect">
                <a:avLst/>
              </a:prstGeom>
              <a:blipFill>
                <a:blip r:embed="rId2"/>
                <a:stretch>
                  <a:fillRect t="-115625" b="-157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AA3B3A2C-9BF8-C6E3-450D-735CB1938BBE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5D5DE39-0928-B43F-2322-95929369AFA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6688" y="975256"/>
            <a:ext cx="7772400" cy="506022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161CAA-02B3-21D4-B8AA-BAC78F07B237}"/>
                  </a:ext>
                </a:extLst>
              </p:cNvPr>
              <p:cNvSpPr txBox="1"/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100" b="1" i="1" dirty="0">
                    <a:latin typeface="Constantia" panose="02030602050306030303" pitchFamily="18" charset="0"/>
                  </a:rPr>
                  <a:t>Figure: </a:t>
                </a:r>
                <a:r>
                  <a:rPr lang="en-US" sz="1100" dirty="0">
                    <a:latin typeface="Constantia" panose="02030602050306030303" pitchFamily="18" charset="0"/>
                  </a:rPr>
                  <a:t>Multiple comparison with best (MCB): comparison of average ranks against best-rank method. Uses average MSFE ranks across 112 hierarchy series at </a:t>
                </a:r>
                <a14:m>
                  <m:oMath xmlns:m="http://schemas.openxmlformats.org/officeDocument/2006/math"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1100" i="1" dirty="0" smtClean="0">
                        <a:latin typeface="Cambria Math" panose="02040503050406030204" pitchFamily="18" charset="0"/>
                      </a:rPr>
                      <m:t>=1,6,12</m:t>
                    </m:r>
                  </m:oMath>
                </a14:m>
                <a:r>
                  <a:rPr lang="en-US" sz="1100" dirty="0">
                    <a:latin typeface="Constantia" panose="02030602050306030303" pitchFamily="18" charset="0"/>
                  </a:rPr>
                  <a:t> for </a:t>
                </a:r>
                <a:r>
                  <a:rPr lang="en-US" sz="1100" b="1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uncentred, scaled PCA specification</a:t>
                </a:r>
                <a:r>
                  <a:rPr lang="en-US" sz="11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E161CAA-02B3-21D4-B8AA-BAC78F07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71" y="6101168"/>
                <a:ext cx="7362334" cy="430887"/>
              </a:xfrm>
              <a:prstGeom prst="rect">
                <a:avLst/>
              </a:prstGeom>
              <a:blipFill>
                <a:blip r:embed="rId4"/>
                <a:stretch>
                  <a:fillRect b="-85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75316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E32F84-8CAB-A324-DBE2-7F3F45AE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3CA63AC-C04F-4632-FA24-86A81B7F35B9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2.4.7  Hierarchy-adapted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FLAP benchmark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A68EA78-1EDD-2541-EAAC-A7C7DD165ED4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grpSp>
        <p:nvGrpSpPr>
          <p:cNvPr id="2" name="Group 1">
            <a:extLst>
              <a:ext uri="{FF2B5EF4-FFF2-40B4-BE49-F238E27FC236}">
                <a16:creationId xmlns:a16="http://schemas.microsoft.com/office/drawing/2014/main" id="{057089BB-BEF2-5B13-029A-3FDF21185EEB}"/>
              </a:ext>
            </a:extLst>
          </p:cNvPr>
          <p:cNvGrpSpPr/>
          <p:nvPr/>
        </p:nvGrpSpPr>
        <p:grpSpPr>
          <a:xfrm>
            <a:off x="420750" y="1199132"/>
            <a:ext cx="11350499" cy="815701"/>
            <a:chOff x="451860" y="989384"/>
            <a:chExt cx="11350499" cy="815701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0D1BF-126D-CD28-9CEA-29CCCD9E2A2D}"/>
                </a:ext>
              </a:extLst>
            </p:cNvPr>
            <p:cNvSpPr txBox="1"/>
            <p:nvPr/>
          </p:nvSpPr>
          <p:spPr>
            <a:xfrm>
              <a:off x="451860" y="1012239"/>
              <a:ext cx="2759329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Same base + component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C7FAF79-77F6-5524-4E84-CD7BBC645B71}"/>
                </a:ext>
              </a:extLst>
            </p:cNvPr>
            <p:cNvSpPr txBox="1"/>
            <p:nvPr/>
          </p:nvSpPr>
          <p:spPr>
            <a:xfrm>
              <a:off x="4247533" y="989384"/>
              <a:ext cx="3946936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Hierarchy adapted FLAP benchmark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Covariance-based oblique projection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F4E0C5F-D1CB-6028-5096-A902098E7B6C}"/>
                </a:ext>
              </a:extLst>
            </p:cNvPr>
            <p:cNvCxnSpPr>
              <a:cxnSpLocks/>
            </p:cNvCxnSpPr>
            <p:nvPr/>
          </p:nvCxnSpPr>
          <p:spPr>
            <a:xfrm>
              <a:off x="3261675" y="140821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501A5962-CE32-D766-1C4F-C38BD4BE36DF}"/>
                </a:ext>
              </a:extLst>
            </p:cNvPr>
            <p:cNvCxnSpPr>
              <a:cxnSpLocks/>
            </p:cNvCxnSpPr>
            <p:nvPr/>
          </p:nvCxnSpPr>
          <p:spPr>
            <a:xfrm>
              <a:off x="8295440" y="1427737"/>
              <a:ext cx="9360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65CD4E-DF91-8869-1123-C0607C01D345}"/>
                </a:ext>
              </a:extLst>
            </p:cNvPr>
            <p:cNvSpPr txBox="1"/>
            <p:nvPr/>
          </p:nvSpPr>
          <p:spPr>
            <a:xfrm>
              <a:off x="9332411" y="1012239"/>
              <a:ext cx="2469948" cy="79284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Coherent</a:t>
              </a:r>
            </a:p>
            <a:p>
              <a:pPr algn="ctr">
                <a:lnSpc>
                  <a:spcPct val="150000"/>
                </a:lnSpc>
              </a:pPr>
              <a:r>
                <a:rPr lang="en-US" sz="1600" dirty="0">
                  <a:latin typeface="Constantia" panose="02030602050306030303" pitchFamily="18" charset="0"/>
                </a:rPr>
                <a:t>forecasts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BAD735-1055-4C54-9799-EA27B689C0A7}"/>
                  </a:ext>
                </a:extLst>
              </p:cNvPr>
              <p:cNvSpPr txBox="1"/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Enforces hierarchy aggregation constraints and uses same component relationships.</a:t>
                </a:r>
              </a:p>
              <a:p>
                <a:pPr marL="342900" lvl="0" indent="-342900">
                  <a:buClr>
                    <a:srgbClr val="0046FF"/>
                  </a:buClr>
                  <a:buFont typeface="Wingdings" pitchFamily="2" charset="2"/>
                  <a:buChar char="v"/>
                </a:pPr>
                <a:r>
                  <a:rPr lang="en-GB" sz="1400" dirty="0">
                    <a:latin typeface="Constantia" panose="02030602050306030303" pitchFamily="18" charset="0"/>
                  </a:rPr>
                  <a:t>Reduces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sz="1400" i="0" dirty="0" smtClean="0">
                        <a:latin typeface="Cambria Math" panose="02040503050406030204" pitchFamily="18" charset="0"/>
                      </a:rPr>
                      <m:t>MinT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 when </a:t>
                </a:r>
                <a14:m>
                  <m:oMath xmlns:m="http://schemas.openxmlformats.org/officeDocument/2006/math">
                    <m:r>
                      <a:rPr lang="en-GB" sz="14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GB" sz="1400" i="0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>
                    <a:latin typeface="Constantia" panose="02030602050306030303" pitchFamily="18" charset="0"/>
                  </a:rPr>
                  <a:t>.</a:t>
                </a:r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EBAD735-1055-4C54-9799-EA27B689C0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6423" y="2089127"/>
                <a:ext cx="4089140" cy="738664"/>
              </a:xfrm>
              <a:prstGeom prst="rect">
                <a:avLst/>
              </a:prstGeom>
              <a:blipFill>
                <a:blip r:embed="rId2"/>
                <a:stretch>
                  <a:fillRect l="-311" t="-169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Freeform 22">
            <a:extLst>
              <a:ext uri="{FF2B5EF4-FFF2-40B4-BE49-F238E27FC236}">
                <a16:creationId xmlns:a16="http://schemas.microsoft.com/office/drawing/2014/main" id="{6C98D09A-1E12-CA9B-806A-3B9326CAF679}"/>
              </a:ext>
            </a:extLst>
          </p:cNvPr>
          <p:cNvSpPr/>
          <p:nvPr/>
        </p:nvSpPr>
        <p:spPr>
          <a:xfrm>
            <a:off x="3816630" y="1805417"/>
            <a:ext cx="350807" cy="853119"/>
          </a:xfrm>
          <a:custGeom>
            <a:avLst/>
            <a:gdLst>
              <a:gd name="csX0" fmla="*/ 340000 w 415415"/>
              <a:gd name="csY0" fmla="*/ 0 h 1366887"/>
              <a:gd name="csX1" fmla="*/ 635 w 415415"/>
              <a:gd name="csY1" fmla="*/ 414779 h 1366887"/>
              <a:gd name="csX2" fmla="*/ 415415 w 415415"/>
              <a:gd name="csY2" fmla="*/ 1366887 h 1366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5415" h="1366887">
                <a:moveTo>
                  <a:pt x="340000" y="0"/>
                </a:moveTo>
                <a:cubicBezTo>
                  <a:pt x="164033" y="93482"/>
                  <a:pt x="-11934" y="186965"/>
                  <a:pt x="635" y="414779"/>
                </a:cubicBezTo>
                <a:cubicBezTo>
                  <a:pt x="13204" y="642594"/>
                  <a:pt x="214309" y="1004740"/>
                  <a:pt x="415415" y="1366887"/>
                </a:cubicBezTo>
              </a:path>
            </a:pathLst>
          </a:custGeom>
          <a:noFill/>
          <a:ln w="28575">
            <a:solidFill>
              <a:srgbClr val="24827F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7F2877-FB0B-D3C5-7A42-D397D46C1EFD}"/>
                  </a:ext>
                </a:extLst>
              </p:cNvPr>
              <p:cNvSpPr txBox="1"/>
              <p:nvPr/>
            </p:nvSpPr>
            <p:spPr>
              <a:xfrm>
                <a:off x="181788" y="2965373"/>
                <a:ext cx="6097554" cy="356668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(1) Write our component augmented vector as:</a:t>
                </a:r>
              </a:p>
              <a:p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𝐜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𝐂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𝐒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𝑪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sub>
                                    </m:sSub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sub>
                                    </m:sSub>
                                  </m:sup>
                                </m:sSubSup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𝛿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</m:acc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𝐲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𝐭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𝒑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𝑪</m:t>
                                            </m:r>
                                          </m:sub>
                                        </m:s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𝜹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i="1">
                                                <a:latin typeface="Cambria Math" panose="02040503050406030204" pitchFamily="18" charset="0"/>
                                              </a:rPr>
                                              <m:t>𝑺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𝐂</m:t>
                                        </m:r>
                                      </m:sub>
                                    </m:s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i="1">
                                            <a:latin typeface="Cambria Math" panose="02040503050406030204" pitchFamily="18" charset="0"/>
                                          </a:rPr>
                                          <m:t>𝐒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i="1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𝐭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>
                    <a:latin typeface="Constantia" panose="02030602050306030303" pitchFamily="18" charset="0"/>
                  </a:rPr>
                  <a:t>(2) We therefore have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dirty="0">
                              <a:latin typeface="Cambria Math" panose="02040503050406030204" pitchFamily="18" charset="0"/>
                            </a:rPr>
                            <m:t>𝐳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𝐯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𝐚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𝐛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𝚽</m:t>
                                    </m:r>
                                  </m:e>
                                  <m:sub>
                                    <m: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sub>
                                  <m:sup>
                                    <m:d>
                                      <m:d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𝐶</m:t>
                                            </m:r>
                                          </m:sub>
                                        </m:sSub>
                                        <m:r>
                                          <a:rPr lang="en-US" sz="1600" b="0" i="0" dirty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sSub>
                                          <m:sSubPr>
                                            <m:ctrlP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𝛿</m:t>
                                            </m:r>
                                          </m:e>
                                          <m:sub>
                                            <m:r>
                                              <a:rPr lang="en-US" sz="1600" b="0" i="1" dirty="0">
                                                <a:latin typeface="Cambria Math" panose="02040503050406030204" pitchFamily="18" charset="0"/>
                                              </a:rPr>
                                              <m:t>𝑆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sup>
                                </m:sSubSup>
                                <m:sSubSup>
                                  <m:sSubSupPr>
                                    <m:ctrlPr>
                                      <a:rPr lang="en-US" sz="1600" b="0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𝐃</m:t>
                                    </m:r>
                                  </m:e>
                                  <m:sub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US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sub>
                                    </m:sSub>
                                    <m:r>
                                      <a:rPr lang="en-US" sz="1600" b="1" i="1" dirty="0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sub>
                                  <m:sup>
                                    <m:r>
                                      <a:rPr lang="en-US" sz="1600" b="0" i="0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𝛿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𝑆</m:t>
                                        </m:r>
                                      </m:sub>
                                    </m:sSub>
                                  </m:sup>
                                </m:sSubSup>
                                <m:r>
                                  <a:rPr lang="en-US" sz="1600" b="1" i="0" dirty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 b="1" i="0" dirty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sz="1600" b="1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1" i="0" dirty="0">
                                        <a:latin typeface="Cambria Math" panose="02040503050406030204" pitchFamily="18" charset="0"/>
                                      </a:rPr>
                                      <m:t>𝐈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sz="1600" b="1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b>
                                        <m:r>
                                          <a:rPr lang="en-US" sz="1600" b="0" i="1" dirty="0">
                                            <a:latin typeface="Cambria Math" panose="02040503050406030204" pitchFamily="18" charset="0"/>
                                          </a:rPr>
                                          <m:t>𝑏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mr>
                          </m:m>
                        </m:e>
                      </m:d>
                      <m:sSub>
                        <m:sSub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0" dirty="0">
                              <a:latin typeface="Cambria Math" panose="02040503050406030204" pitchFamily="18" charset="0"/>
                            </a:rPr>
                            <m:t>𝐛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>
                    <a:latin typeface="Constantia" panose="02030602050306030303" pitchFamily="18" charset="0"/>
                  </a:rPr>
                  <a:t>where 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i="1" dirty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i="0" dirty="0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𝚽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𝐈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sub>
                                  </m:sSub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1600" dirty="0"/>
                  <a:t>  </a:t>
                </a:r>
                <a:r>
                  <a:rPr lang="en-US" dirty="0">
                    <a:latin typeface="Constantia" panose="02030602050306030303" pitchFamily="18" charset="0"/>
                  </a:rPr>
                  <a:t>and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600" b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1600" b="1" dirty="0">
                            <a:latin typeface="Cambria Math" panose="02040503050406030204" pitchFamily="18" charset="0"/>
                          </a:rPr>
                          <m:t>𝚽</m:t>
                        </m:r>
                      </m:e>
                      <m:sub>
                        <m:r>
                          <a:rPr lang="en-US" sz="1600" b="0" i="1" dirty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  <m:sup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bSup>
                    <m:r>
                      <a:rPr lang="en-US" sz="1600" b="0" i="0" dirty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𝚽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𝐶</m:t>
                                          </m:r>
                                        </m:sub>
                                      </m:sSub>
                                      <m:r>
                                        <a:rPr lang="en-US" sz="1600" b="0" i="0" dirty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b>
                                        <m:sSub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𝛿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sub>
                                      </m:sSub>
                                    </m:e>
                                  </m:d>
                                </m:sup>
                              </m:sSubSup>
                              <m:sSubSup>
                                <m:sSubSup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dirty="0">
                                      <a:latin typeface="Cambria Math" panose="02040503050406030204" pitchFamily="18" charset="0"/>
                                    </a:rPr>
                                    <m:t>𝐃</m:t>
                                  </m:r>
                                </m:e>
                                <m: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en-US" sz="1600" b="1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sub>
                                  </m:sSub>
                                  <m:r>
                                    <a:rPr lang="en-US" sz="1600" b="1" i="1" dirty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sub>
                                <m:sup>
                                  <m:r>
                                    <a:rPr lang="en-US" sz="1600" dirty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b>
                                      <m:r>
                                        <a:rPr lang="en-US" sz="1600" i="1" dirty="0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sub>
                                  </m:sSub>
                                </m:sup>
                              </m:sSubSup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</m:mr>
                          <m:m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𝐀</m:t>
                              </m:r>
                            </m:e>
                          </m:mr>
                        </m:m>
                      </m:e>
                    </m:d>
                    <m:r>
                      <a:rPr lang="en-US" sz="1600" b="0" i="0" dirty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1600" b="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d>
                          <m:dPr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sz="1600" b="0" i="0" dirty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sz="1600" b="0" i="1" dirty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sub>
                            </m:sSub>
                          </m:e>
                        </m:d>
                        <m:r>
                          <a:rPr lang="en-US" sz="1600" b="0" i="0" dirty="0">
                            <a:latin typeface="Cambria Math" panose="02040503050406030204" pitchFamily="18" charset="0"/>
                          </a:rPr>
                          <m:t>×</m:t>
                        </m:r>
                        <m:sSub>
                          <m:sSubPr>
                            <m:ctrlPr>
                              <a:rPr lang="en-US" sz="1600" b="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1600" b="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p>
                    </m:sSup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D7F2877-FB0B-D3C5-7A42-D397D46C1E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88" y="2965373"/>
                <a:ext cx="6097554" cy="3566682"/>
              </a:xfrm>
              <a:prstGeom prst="rect">
                <a:avLst/>
              </a:prstGeom>
              <a:blipFill>
                <a:blip r:embed="rId3"/>
                <a:stretch>
                  <a:fillRect l="-832" t="-7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20C4B6-A532-AC1C-9460-5465C0DABE5C}"/>
                  </a:ext>
                </a:extLst>
              </p:cNvPr>
              <p:cNvSpPr txBox="1"/>
              <p:nvPr/>
            </p:nvSpPr>
            <p:spPr>
              <a:xfrm>
                <a:off x="6746705" y="3077907"/>
                <a:ext cx="5109191" cy="183499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dirty="0">
                    <a:latin typeface="Cambria Math" panose="02040503050406030204" pitchFamily="18" charset="0"/>
                  </a:rPr>
                  <a:t>(3) Hence, we use</a:t>
                </a:r>
              </a:p>
              <a:p>
                <a:pPr/>
                <a:endParaRPr lang="en-US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dirty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600" b="1" i="0" dirty="0">
                                          <a:latin typeface="Cambria Math" panose="02040503050406030204" pitchFamily="18" charset="0"/>
                                        </a:rPr>
                                        <m:t>𝐒</m:t>
                                      </m:r>
                                    </m:e>
                                    <m:sub>
                                      <m: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  <m:sup>
                                      <m:r>
                                        <a:rPr lang="en-US" sz="1600" b="0" i="0" dirty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bSup>
                                </m:e>
                              </m:d>
                              <m:r>
                                <a:rPr lang="en-US" sz="1600" b="0" i="0" dirty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  <m:sSup>
                                <m:s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sz="1600" b="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sz="1600" b="1" i="0" dirty="0">
                                              <a:latin typeface="Cambria Math" panose="02040503050406030204" pitchFamily="18" charset="0"/>
                                            </a:rPr>
                                            <m:t>𝐖</m:t>
                                          </m:r>
                                        </m:e>
                                        <m:sub>
                                          <m:r>
                                            <a:rPr lang="en-US" sz="1600" b="0" i="1" dirty="0">
                                              <a:latin typeface="Cambria Math" panose="02040503050406030204" pitchFamily="18" charset="0"/>
                                            </a:rPr>
                                            <m:t>h</m:t>
                                          </m:r>
                                        </m:sub>
                                        <m:sup>
                                          <m:r>
                                            <a:rPr lang="en-US" sz="1600" b="0" i="0" dirty="0">
                                              <a:latin typeface="Cambria Math" panose="02040503050406030204" pitchFamily="18" charset="0"/>
                                            </a:rPr>
                                            <m:t>∗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  <m:sub>
                              <m: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  <m:sup>
                              <m:r>
                                <a:rPr lang="en-US" sz="1600" b="0" i="0" dirty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bSup>
                        </m:e>
                      </m:d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′</m:t>
                      </m:r>
                      <m:sSup>
                        <m:sSupPr>
                          <m:ctrlPr>
                            <a:rPr lang="en-US" sz="1600" b="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600" b="1" i="0" dirty="0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sz="1600" b="0" i="1" dirty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1600" b="0" i="0" dirty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1600" dirty="0"/>
              </a:p>
              <a:p>
                <a:endParaRPr lang="en-US" dirty="0"/>
              </a:p>
              <a:p>
                <a:r>
                  <a:rPr lang="en-US" dirty="0">
                    <a:latin typeface="Constantia" panose="02030602050306030303" pitchFamily="18" charset="0"/>
                  </a:rPr>
                  <a:t>to obtain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1" dirty="0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˜"/>
                              <m:ctrlPr>
                                <a:rPr lang="en-US" sz="1600" b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dirty="0">
                                  <a:latin typeface="Cambria Math" panose="02040503050406030204" pitchFamily="18" charset="0"/>
                                </a:rPr>
                                <m:t>𝐲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dirty="0">
                              <a:latin typeface="Cambria Math" panose="02040503050406030204" pitchFamily="18" charset="0"/>
                            </a:rPr>
                            <m:t>FLAP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0" dirty="0">
                          <a:latin typeface="Cambria Math" panose="02040503050406030204" pitchFamily="18" charset="0"/>
                        </a:rPr>
                        <m:t>𝐒</m:t>
                      </m:r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˜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𝐛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1600" b="0" i="0" dirty="0">
                              <a:latin typeface="Cambria Math" panose="02040503050406030204" pitchFamily="18" charset="0"/>
                            </a:rPr>
                            <m:t>FLAP</m:t>
                          </m:r>
                        </m:sup>
                      </m:sSubSup>
                      <m:r>
                        <a:rPr lang="en-US" sz="1600" b="0" i="0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1" i="0" dirty="0">
                          <a:latin typeface="Cambria Math" panose="02040503050406030204" pitchFamily="18" charset="0"/>
                        </a:rPr>
                        <m:t>𝐒</m:t>
                      </m:r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1" i="0" dirty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sSubSup>
                        <m:sSubSupPr>
                          <m:ctrlPr>
                            <a:rPr lang="en-US" sz="1600" b="1" i="1" dirty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ˆ"/>
                              <m:ctrlPr>
                                <a:rPr lang="en-US" sz="1600" b="1" i="1" dirty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1" i="0" dirty="0"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1600" b="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>
                          <m:r>
                            <a:rPr lang="en-US" sz="1600" b="0" i="0" dirty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</m:oMath>
                  </m:oMathPara>
                </a14:m>
                <a:endParaRPr lang="en-US" sz="16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3720C4B6-A532-AC1C-9460-5465C0DABE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705" y="3077907"/>
                <a:ext cx="5109191" cy="1834990"/>
              </a:xfrm>
              <a:prstGeom prst="rect">
                <a:avLst/>
              </a:prstGeom>
              <a:blipFill>
                <a:blip r:embed="rId4"/>
                <a:stretch>
                  <a:fillRect l="-993" t="-13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B13388C5-FD6D-9539-B737-680EFF6DCF9C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29389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A23BB-5BA7-480E-36DA-0208FC28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A8D78E-A95A-EC4F-EA0C-478C242EAE02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2.4.8  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520A92-B360-55BD-C53F-8F1B2DC920A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B7281B1-5199-536F-AB19-D10FB2FFE355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8BE62442-FAB2-EA41-D74B-7D373A99B7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2365" y="1042650"/>
            <a:ext cx="9474593" cy="489081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6496AD-8112-D7D0-8615-60C90CE99AB1}"/>
              </a:ext>
            </a:extLst>
          </p:cNvPr>
          <p:cNvSpPr txBox="1"/>
          <p:nvPr/>
        </p:nvSpPr>
        <p:spPr>
          <a:xfrm>
            <a:off x="862143" y="6101168"/>
            <a:ext cx="78258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PRIAL of FLAIC relative to IComb: Average across 112 hierarchy series. FLAIC-S and FLAIC-L are compared against matching IComb-S and IComb-L. Uses </a:t>
            </a:r>
            <a:r>
              <a:rPr lang="en-US" sz="1100" b="1" dirty="0">
                <a:solidFill>
                  <a:srgbClr val="0046FF"/>
                </a:solidFill>
                <a:latin typeface="Constantia" panose="02030602050306030303" pitchFamily="18" charset="0"/>
              </a:rPr>
              <a:t>seasonal-naïve scaled errors </a:t>
            </a:r>
            <a:r>
              <a:rPr lang="en-US" sz="1100" dirty="0">
                <a:latin typeface="Constantia" panose="02030602050306030303" pitchFamily="18" charset="0"/>
              </a:rPr>
              <a:t>to compute MSSFE, the PRIAL</a:t>
            </a:r>
          </a:p>
        </p:txBody>
      </p:sp>
    </p:spTree>
    <p:extLst>
      <p:ext uri="{BB962C8B-B14F-4D97-AF65-F5344CB8AC3E}">
        <p14:creationId xmlns:p14="http://schemas.microsoft.com/office/powerpoint/2010/main" val="30005125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57B5E6-370A-9345-6BBA-01FDAEE40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C2B20D8-E66B-3CEA-E20E-01C298246D5F}"/>
              </a:ext>
            </a:extLst>
          </p:cNvPr>
          <p:cNvSpPr txBox="1">
            <a:spLocks/>
          </p:cNvSpPr>
          <p:nvPr/>
        </p:nvSpPr>
        <p:spPr>
          <a:xfrm>
            <a:off x="141402" y="48946"/>
            <a:ext cx="11667350" cy="902461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2.4.8  Robustness:</a:t>
            </a:r>
          </a:p>
          <a:p>
            <a:r>
              <a:rPr lang="en-US" sz="2600" i="1" dirty="0">
                <a:solidFill>
                  <a:srgbClr val="0134FF"/>
                </a:solidFill>
                <a:latin typeface="Constantia" panose="02030602050306030303" pitchFamily="18" charset="0"/>
              </a:rPr>
              <a:t>Using scaled errors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25ACE17-048F-A3A5-C73B-826BCDF6AE36}"/>
              </a:ext>
            </a:extLst>
          </p:cNvPr>
          <p:cNvGraphicFramePr>
            <a:graphicFrameLocks noGrp="1"/>
          </p:cNvGraphicFramePr>
          <p:nvPr/>
        </p:nvGraphicFramePr>
        <p:xfrm>
          <a:off x="4633799" y="108784"/>
          <a:ext cx="7511064" cy="335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7766">
                  <a:extLst>
                    <a:ext uri="{9D8B030D-6E8A-4147-A177-3AD203B41FA5}">
                      <a16:colId xmlns:a16="http://schemas.microsoft.com/office/drawing/2014/main" val="229481275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257908138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1655724537"/>
                    </a:ext>
                  </a:extLst>
                </a:gridCol>
                <a:gridCol w="1877766">
                  <a:extLst>
                    <a:ext uri="{9D8B030D-6E8A-4147-A177-3AD203B41FA5}">
                      <a16:colId xmlns:a16="http://schemas.microsoft.com/office/drawing/2014/main" val="3212243804"/>
                    </a:ext>
                  </a:extLst>
                </a:gridCol>
              </a:tblGrid>
              <a:tr h="286115"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Data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Components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2.3 Reconciliation</a:t>
                      </a:r>
                    </a:p>
                  </a:txBody>
                  <a:tcPr>
                    <a:solidFill>
                      <a:srgbClr val="0046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i="0" dirty="0">
                          <a:latin typeface="Constantia" panose="02030602050306030303" pitchFamily="18" charset="0"/>
                        </a:rPr>
                        <a:t>2.4 Evaluation</a:t>
                      </a:r>
                    </a:p>
                  </a:txBody>
                  <a:tcPr>
                    <a:solidFill>
                      <a:srgbClr val="24827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9721564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9B040B4-0222-A97B-3F9E-D300E79D8F46}"/>
              </a:ext>
            </a:extLst>
          </p:cNvPr>
          <p:cNvSpPr txBox="1"/>
          <p:nvPr/>
        </p:nvSpPr>
        <p:spPr>
          <a:xfrm>
            <a:off x="10384959" y="6532055"/>
            <a:ext cx="169391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Constantia" panose="02030602050306030303" pitchFamily="18" charset="0"/>
              </a:rPr>
              <a:t>Appendix</a:t>
            </a:r>
            <a:endParaRPr lang="en-US" sz="105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EB8830-5DEF-CEE1-4541-9A98F3A1C009}"/>
              </a:ext>
            </a:extLst>
          </p:cNvPr>
          <p:cNvSpPr txBox="1"/>
          <p:nvPr/>
        </p:nvSpPr>
        <p:spPr>
          <a:xfrm>
            <a:off x="862143" y="6101168"/>
            <a:ext cx="782587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b="1" i="1" dirty="0">
                <a:latin typeface="Constantia" panose="02030602050306030303" pitchFamily="18" charset="0"/>
              </a:rPr>
              <a:t>Figure:</a:t>
            </a:r>
            <a:r>
              <a:rPr lang="en-US" sz="1100" dirty="0">
                <a:latin typeface="Constantia" panose="02030602050306030303" pitchFamily="18" charset="0"/>
              </a:rPr>
              <a:t> PRIAL of FLAIC relative to IComb: Average across 112 hierarchy series. FLAIC-S and FLAIC-L are compared against matching IComb-S and IComb-L. Uses </a:t>
            </a:r>
            <a:r>
              <a:rPr lang="en-US" sz="1100" b="1" dirty="0">
                <a:solidFill>
                  <a:srgbClr val="0046FF"/>
                </a:solidFill>
                <a:latin typeface="Constantia" panose="02030602050306030303" pitchFamily="18" charset="0"/>
              </a:rPr>
              <a:t>variance </a:t>
            </a:r>
            <a:r>
              <a:rPr lang="en-US" sz="1100" b="1" dirty="0" err="1">
                <a:solidFill>
                  <a:srgbClr val="0046FF"/>
                </a:solidFill>
                <a:latin typeface="Constantia" panose="02030602050306030303" pitchFamily="18" charset="0"/>
              </a:rPr>
              <a:t>standardised</a:t>
            </a:r>
            <a:r>
              <a:rPr lang="en-US" sz="1100" b="1" dirty="0">
                <a:solidFill>
                  <a:srgbClr val="0046FF"/>
                </a:solidFill>
                <a:latin typeface="Constantia" panose="02030602050306030303" pitchFamily="18" charset="0"/>
              </a:rPr>
              <a:t> scaled errors </a:t>
            </a:r>
            <a:r>
              <a:rPr lang="en-US" sz="1100" dirty="0">
                <a:latin typeface="Constantia" panose="02030602050306030303" pitchFamily="18" charset="0"/>
              </a:rPr>
              <a:t>to compute MSSFE, the PRIAL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772D68F-41C0-6C68-DC42-0E61FD2F3C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7672" y="1070981"/>
            <a:ext cx="9364825" cy="483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3249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1E92CE-95A1-647A-8101-51D0460BCB24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solidFill>
                  <a:srgbClr val="0134FF"/>
                </a:solidFill>
                <a:latin typeface="Constantia" panose="02030602050306030303" pitchFamily="18" charset="0"/>
              </a:rPr>
              <a:t>MinT</a:t>
            </a:r>
            <a:r>
              <a:rPr lang="en-US" sz="3000" dirty="0">
                <a:solidFill>
                  <a:srgbClr val="0134FF"/>
                </a:solidFill>
                <a:latin typeface="Constantia" panose="02030602050306030303" pitchFamily="18" charset="0"/>
              </a:rPr>
              <a:t> details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2E22B-6D36-8FBD-96EE-9FACED519F7F}"/>
                  </a:ext>
                </a:extLst>
              </p:cNvPr>
              <p:cNvSpPr txBox="1"/>
              <p:nvPr/>
            </p:nvSpPr>
            <p:spPr>
              <a:xfrm>
                <a:off x="391885" y="3312792"/>
                <a:ext cx="10533414" cy="26271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Unbiasedness constraint (which is constraint needed to preserve unbiasedness of reconciled forecasts if base forecasts are unbiased):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000" dirty="0"/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US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Minimise</a:t>
                </a:r>
                <a:r>
                  <a:rPr lang="en-US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trace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̃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       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̃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MinT</m:t>
                        </m:r>
                      </m:sup>
                    </m:sSub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1" i="0">
                                    <a:latin typeface="Cambria Math" panose="02040503050406030204" pitchFamily="18" charset="0"/>
                                  </a:rPr>
                                  <m:t>𝐒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sSubSup>
                              <m:sSubSupPr>
                                <m:ctrlPr>
                                  <a:rPr lang="en-US" sz="200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000" b="1" i="0" smtClean="0">
                                    <a:latin typeface="Cambria Math" panose="02040503050406030204" pitchFamily="18" charset="0"/>
                                  </a:rPr>
                                  <m:t>𝐖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bSup>
                            <m:r>
                              <a:rPr lang="en-US" sz="2000" b="1" i="0">
                                <a:latin typeface="Cambria Math" panose="02040503050406030204" pitchFamily="18" charset="0"/>
                              </a:rPr>
                              <m:t>𝐒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bSup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</a:rPr>
                      <m:t>var</m:t>
                    </m:r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𝐞</m:t>
                                </m:r>
                              </m:e>
                            </m:acc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     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𝐞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𝐲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sz="200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𝐲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estimated from in-sample forecast errors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B22E22B-6D36-8FBD-96EE-9FACED519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885" y="3312792"/>
                <a:ext cx="10533414" cy="2627129"/>
              </a:xfrm>
              <a:prstGeom prst="rect">
                <a:avLst/>
              </a:prstGeom>
              <a:blipFill>
                <a:blip r:embed="rId2"/>
                <a:stretch>
                  <a:fillRect b="-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/>
              <p:nvPr/>
            </p:nvSpPr>
            <p:spPr>
              <a:xfrm>
                <a:off x="605641" y="959651"/>
                <a:ext cx="10735293" cy="20401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GB" sz="2000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Key benchmark: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Minimum Trace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) reconciliation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Wickramasuriya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et al., 2019).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   Under unbiasedness of base forecasts:</a:t>
                </a: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 i="0" smtClean="0">
                              <a:latin typeface="Cambria Math" panose="02040503050406030204" pitchFamily="18" charset="0"/>
                            </a:rPr>
                            <m:t>𝐆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MinT</m:t>
                          </m:r>
                        </m:sup>
                      </m:sSubSup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1" i="0">
                                      <a:latin typeface="Cambria Math" panose="02040503050406030204" pitchFamily="18" charset="0"/>
                                    </a:rPr>
                                    <m:t>𝐒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Sup>
                                <m:sSubSupPr>
                                  <m:ctrlPr>
                                    <a:rPr lang="en-US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2000" b="1" i="0" smtClean="0">
                                      <a:latin typeface="Cambria Math" panose="02040503050406030204" pitchFamily="18" charset="0"/>
                                    </a:rPr>
                                    <m:t>𝐖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p>
                              </m:sSubSup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𝐒</m:t>
                              </m:r>
                            </m:e>
                          </m:d>
                        </m:e>
                        <m:sup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𝐒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′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𝐖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bSup>
                    </m:oMath>
                  </m:oMathPara>
                </a14:m>
                <a:endParaRPr lang="en-GB" sz="2000" dirty="0">
                  <a:solidFill>
                    <a:srgbClr val="3B3B3B"/>
                  </a:solidFill>
                  <a:latin typeface="Constantia" panose="02030602050306030303" pitchFamily="18" charset="0"/>
                </a:endParaRPr>
              </a:p>
              <a:p>
                <a:pPr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  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base forecast error covariance matrix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1" y="959651"/>
                <a:ext cx="10735293" cy="2040174"/>
              </a:xfrm>
              <a:prstGeom prst="rect">
                <a:avLst/>
              </a:prstGeom>
              <a:blipFill>
                <a:blip r:embed="rId3"/>
                <a:stretch>
                  <a:fillRect l="-473" b="-43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42183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831E92CE-95A1-647A-8101-51D0460BCB24}"/>
              </a:ext>
            </a:extLst>
          </p:cNvPr>
          <p:cNvSpPr txBox="1">
            <a:spLocks/>
          </p:cNvSpPr>
          <p:nvPr/>
        </p:nvSpPr>
        <p:spPr>
          <a:xfrm>
            <a:off x="139846" y="195733"/>
            <a:ext cx="11912307" cy="560158"/>
          </a:xfrm>
          <a:prstGeom prst="rect">
            <a:avLst/>
          </a:prstGeom>
        </p:spPr>
        <p:txBody>
          <a:bodyPr vert="horz" wrap="square" lIns="91440" tIns="45720" rIns="91440" bIns="45720" rtlCol="0" anchor="b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000" dirty="0" err="1">
                <a:solidFill>
                  <a:srgbClr val="0134FF"/>
                </a:solidFill>
                <a:latin typeface="Constantia" panose="02030602050306030303" pitchFamily="18" charset="0"/>
              </a:rPr>
              <a:t>MinT</a:t>
            </a:r>
            <a:r>
              <a:rPr lang="en-US" sz="3000" dirty="0">
                <a:solidFill>
                  <a:srgbClr val="0134FF"/>
                </a:solidFill>
                <a:latin typeface="Constantia" panose="02030602050306030303" pitchFamily="18" charset="0"/>
              </a:rPr>
              <a:t> details (cont.)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/>
              <p:nvPr/>
            </p:nvSpPr>
            <p:spPr>
              <a:xfrm>
                <a:off x="605641" y="959651"/>
                <a:ext cx="10782795" cy="5133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buClr>
                    <a:srgbClr val="0134FF"/>
                  </a:buClr>
                  <a:buFont typeface="Wingdings" pitchFamily="2" charset="2"/>
                  <a:buChar char="§"/>
                </a:pPr>
                <a:r>
                  <a:rPr lang="en-GB" sz="2000" dirty="0">
                    <a:solidFill>
                      <a:srgbClr val="0046FF"/>
                    </a:solidFill>
                    <a:latin typeface="Constantia" panose="02030602050306030303" pitchFamily="18" charset="0"/>
                  </a:rPr>
                  <a:t>MinT has OLS and WLS as special cases: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base forecast error covariance matrix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𝐈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OLS case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</m:acc>
                      </m:e>
                      <m:sub>
                        <m:r>
                          <a:rPr lang="en-US" sz="200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WLS (variance scaling) case </a:t>
                </a:r>
              </a:p>
              <a:p>
                <a:pPr lvl="1">
                  <a:lnSpc>
                    <a:spcPct val="150000"/>
                  </a:lnSpc>
                  <a:buClr>
                    <a:srgbClr val="0134FF"/>
                  </a:buClr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	(Hyndman et al., 2016)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If we assume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k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𝐒𝟏</m:t>
                    </m:r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then we have WLS (structural scaling) case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Athanasopoulos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et al., 2017)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gives same answer as GLS even though different loss function being minimised (</a:t>
                </a: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Wickramasuriya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, 2021)</a:t>
                </a:r>
              </a:p>
              <a:p>
                <a:pPr marL="800100" lvl="1" indent="-342900">
                  <a:lnSpc>
                    <a:spcPct val="150000"/>
                  </a:lnSpc>
                  <a:buClr>
                    <a:srgbClr val="0134FF"/>
                  </a:buClr>
                  <a:buFont typeface="Courier New" panose="02070309020205020404" pitchFamily="49" charset="0"/>
                  <a:buChar char="o"/>
                </a:pPr>
                <a:r>
                  <a:rPr lang="en-GB" sz="2000" dirty="0" err="1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MinT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and its special cases are considered projections as 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a </a:t>
                </a:r>
                <a:r>
                  <a:rPr lang="en-GB" sz="2000" i="1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projection</a:t>
                </a:r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onto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span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𝐒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In these cases, </a:t>
                </a:r>
                <a14:m>
                  <m:oMath xmlns:m="http://schemas.openxmlformats.org/officeDocument/2006/math">
                    <m:r>
                      <a:rPr lang="en-US" sz="20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GB" sz="2000" dirty="0">
                    <a:solidFill>
                      <a:srgbClr val="3B3B3B"/>
                    </a:solidFill>
                    <a:latin typeface="Constantia" panose="02030602050306030303" pitchFamily="18" charset="0"/>
                  </a:rPr>
                  <a:t> is a projection matrix as it meets idempotence property: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2000" i="1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sz="2000" i="1">
                                <a:solidFill>
                                  <a:srgbClr val="3B3B3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1">
                                <a:latin typeface="Cambria Math" panose="02040503050406030204" pitchFamily="18" charset="0"/>
                              </a:rPr>
                              <m:t>𝐒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1">
                                    <a:latin typeface="Cambria Math" panose="02040503050406030204" pitchFamily="18" charset="0"/>
                                  </a:rPr>
                                  <m:t>𝐆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3B3B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b="0" i="1" smtClean="0">
                        <a:solidFill>
                          <a:srgbClr val="3B3B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>
                        <a:latin typeface="Cambria Math" panose="02040503050406030204" pitchFamily="18" charset="0"/>
                      </a:rPr>
                      <m:t>𝐒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𝐆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</m:oMath>
                </a14:m>
                <a:endParaRPr lang="en-GB" sz="2000" dirty="0">
                  <a:solidFill>
                    <a:srgbClr val="3B3B3B"/>
                  </a:solidFill>
                  <a:latin typeface="Constantia" panose="02030602050306030303" pitchFamily="18" charset="0"/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687D437-A4A8-ABAC-58BE-DC711EC1C8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641" y="959651"/>
                <a:ext cx="10782795" cy="5133328"/>
              </a:xfrm>
              <a:prstGeom prst="rect">
                <a:avLst/>
              </a:prstGeom>
              <a:blipFill>
                <a:blip r:embed="rId2"/>
                <a:stretch>
                  <a:fillRect l="-471" b="-9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99627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13524</TotalTime>
  <Words>3899</Words>
  <Application>Microsoft Macintosh PowerPoint</Application>
  <PresentationFormat>Widescreen</PresentationFormat>
  <Paragraphs>698</Paragraphs>
  <Slides>35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4" baseType="lpstr">
      <vt:lpstr>Arial</vt:lpstr>
      <vt:lpstr>Calibri</vt:lpstr>
      <vt:lpstr>Calibri Light</vt:lpstr>
      <vt:lpstr>Cambria</vt:lpstr>
      <vt:lpstr>Cambria Math</vt:lpstr>
      <vt:lpstr>Constantia</vt:lpstr>
      <vt:lpstr>Courier New</vt:lpstr>
      <vt:lpstr>Wingdings</vt:lpstr>
      <vt:lpstr>Office Theme</vt:lpstr>
      <vt:lpstr>PowerPoint Presentation</vt:lpstr>
      <vt:lpstr>Outline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Assessment of Fiji’s Exchange Rate</dc:title>
  <dc:creator>Branesh Prakash</dc:creator>
  <cp:lastModifiedBy>Branesh Prakash</cp:lastModifiedBy>
  <cp:revision>78</cp:revision>
  <cp:lastPrinted>2022-11-28T21:33:50Z</cp:lastPrinted>
  <dcterms:created xsi:type="dcterms:W3CDTF">2022-11-23T22:13:59Z</dcterms:created>
  <dcterms:modified xsi:type="dcterms:W3CDTF">2026-10-22T01:11:12Z</dcterms:modified>
</cp:coreProperties>
</file>